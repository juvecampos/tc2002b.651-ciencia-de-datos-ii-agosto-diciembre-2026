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20" d="100"/>
          <a:sy n="120" d="100"/>
        </p:scale>
        <p:origin x="194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4652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Adelantar que habrá dos demostraciones en vivo: la búsqueda sin generador y la respuesta completa.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Momento de tensión de la clase. Preguntar al grupo cómo distinguirían la respuesta inventada de la real si no tuvieran la fuente.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Mostrar en pantalla las primeras líneas de un archivo real. La calidad de las respuestas está acotada por la calidad del corpus.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tabla: el fragmento con la cifra queda más cerca de la pregunta de homicidios (0.310) que de la de vivienda (0.646). La proyección pierde casi toda la información (dos componentes explican 11 % de la varianza) pero muestra que los temas se agrupan.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Demostración en vivo 1: correr el paso 4 con una pregunta que proponga el grupo. Es rápido y no necesita el generador.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Demostración en vivo 2: correr el paso 5a. Mientras responde, explicar que el modelo está leyendo 7,000 caracteres y escribiendo palabra por palabra.</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Ser honesto: 100 % significa que las preguntas fueron fáciles (datos únicos, con nombres propios). Proponer como ejercicio escribir preguntas más ambiguas y ver dónde cae.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F0F0F0"/>
          </a:solidFill>
          <a:ln>
            <a:noFill/>
          </a:ln>
          <a:effectLst/>
        </p:spPr>
        <p:txBody>
          <a:bodyPr rtlCol="0" anchor="ctr"/>
          <a:lstStyle/>
          <a:p>
            <a:pPr algn="ctr"/>
            <a:endParaRPr/>
          </a:p>
        </p:txBody>
      </p:sp>
      <p:sp>
        <p:nvSpPr>
          <p:cNvPr id="4" name="Rectangle 3"/>
          <p:cNvSpPr/>
          <p:nvPr/>
        </p:nvSpPr>
        <p:spPr>
          <a:xfrm>
            <a:off x="0" y="1005840"/>
            <a:ext cx="9144000" cy="3383280"/>
          </a:xfrm>
          <a:prstGeom prst="rect">
            <a:avLst/>
          </a:prstGeom>
          <a:solidFill>
            <a:srgbClr val="DDE5ED"/>
          </a:solidFill>
          <a:ln>
            <a:noFill/>
          </a:ln>
          <a:effectLst/>
        </p:spPr>
        <p:txBody>
          <a:bodyPr rtlCol="0" anchor="ctr"/>
          <a:lstStyle/>
          <a:p>
            <a:pPr algn="ctr"/>
            <a:endParaRPr/>
          </a:p>
        </p:txBody>
      </p:sp>
      <p:sp>
        <p:nvSpPr>
          <p:cNvPr id="5" name="TextBox 4"/>
          <p:cNvSpPr txBox="1"/>
          <p:nvPr/>
        </p:nvSpPr>
        <p:spPr>
          <a:xfrm>
            <a:off x="548640" y="1371600"/>
            <a:ext cx="8046720" cy="914400"/>
          </a:xfrm>
          <a:prstGeom prst="rect">
            <a:avLst/>
          </a:prstGeom>
          <a:noFill/>
        </p:spPr>
        <p:txBody>
          <a:bodyPr wrap="square" lIns="0" tIns="0" rIns="0" bIns="0">
            <a:spAutoFit/>
          </a:bodyPr>
          <a:lstStyle/>
          <a:p>
            <a:pPr algn="l"/>
            <a:r>
              <a:rPr sz="4800" b="1" i="0">
                <a:solidFill>
                  <a:srgbClr val="1E4C7D"/>
                </a:solidFill>
                <a:latin typeface="Ubuntu"/>
              </a:rPr>
              <a:t>RAG con las mañaneras</a:t>
            </a:r>
          </a:p>
        </p:txBody>
      </p:sp>
      <p:sp>
        <p:nvSpPr>
          <p:cNvPr id="6" name="TextBox 5"/>
          <p:cNvSpPr txBox="1"/>
          <p:nvPr/>
        </p:nvSpPr>
        <p:spPr>
          <a:xfrm>
            <a:off x="548640" y="2331720"/>
            <a:ext cx="8046720" cy="640080"/>
          </a:xfrm>
          <a:prstGeom prst="rect">
            <a:avLst/>
          </a:prstGeom>
          <a:noFill/>
        </p:spPr>
        <p:txBody>
          <a:bodyPr wrap="square" lIns="0" tIns="0" rIns="0" bIns="0">
            <a:spAutoFit/>
          </a:bodyPr>
          <a:lstStyle/>
          <a:p>
            <a:pPr algn="l"/>
            <a:r>
              <a:rPr sz="2400" b="1" i="0">
                <a:solidFill>
                  <a:srgbClr val="1E4C7D"/>
                </a:solidFill>
                <a:latin typeface="Ubuntu"/>
              </a:rPr>
              <a:t>Cómo hacer que un modelo de lenguaje lea antes de responder</a:t>
            </a:r>
          </a:p>
        </p:txBody>
      </p:sp>
      <p:sp>
        <p:nvSpPr>
          <p:cNvPr id="7" name="TextBox 6"/>
          <p:cNvSpPr txBox="1"/>
          <p:nvPr/>
        </p:nvSpPr>
        <p:spPr>
          <a:xfrm>
            <a:off x="548640" y="3154680"/>
            <a:ext cx="8046720" cy="914400"/>
          </a:xfrm>
          <a:prstGeom prst="rect">
            <a:avLst/>
          </a:prstGeom>
          <a:noFill/>
        </p:spPr>
        <p:txBody>
          <a:bodyPr wrap="square" lIns="0" tIns="0" rIns="0" bIns="0">
            <a:spAutoFit/>
          </a:bodyPr>
          <a:lstStyle/>
          <a:p>
            <a:pPr algn="l">
              <a:lnSpc>
                <a:spcPct val="120000"/>
              </a:lnSpc>
            </a:pPr>
            <a:r>
              <a:rPr sz="1600" b="0" i="1">
                <a:solidFill>
                  <a:srgbClr val="1E4C7D"/>
                </a:solidFill>
                <a:latin typeface="Ubuntu"/>
              </a:rPr>
              <a:t>Recuperación, embeddings y generación con las conferencias de prensa</a:t>
            </a:r>
          </a:p>
          <a:p>
            <a:pPr algn="l">
              <a:lnSpc>
                <a:spcPct val="120000"/>
              </a:lnSpc>
            </a:pPr>
            <a:r>
              <a:rPr sz="1600" b="0" i="1">
                <a:solidFill>
                  <a:srgbClr val="1E4C7D"/>
                </a:solidFill>
                <a:latin typeface="Ubuntu"/>
              </a:rPr>
              <a:t>de la presidenta, todo en R y en tu computadora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4320"/>
            <a:ext cx="9144000" cy="868680"/>
          </a:xfrm>
          <a:prstGeom prst="rect">
            <a:avLst/>
          </a:prstGeom>
          <a:solidFill>
            <a:srgbClr val="1E4C7D"/>
          </a:solidFill>
          <a:ln>
            <a:noFill/>
          </a:ln>
          <a:effectLst/>
        </p:spPr>
        <p:txBody>
          <a:bodyPr rtlCol="0" anchor="ctr"/>
          <a:lstStyle/>
          <a:p>
            <a:pPr algn="ctr"/>
            <a:endParaRPr/>
          </a:p>
        </p:txBody>
      </p:sp>
      <p:sp>
        <p:nvSpPr>
          <p:cNvPr id="3" name="TextBox 2"/>
          <p:cNvSpPr txBox="1"/>
          <p:nvPr/>
        </p:nvSpPr>
        <p:spPr>
          <a:xfrm>
            <a:off x="320040" y="274320"/>
            <a:ext cx="8503920" cy="868680"/>
          </a:xfrm>
          <a:prstGeom prst="rect">
            <a:avLst/>
          </a:prstGeom>
          <a:noFill/>
        </p:spPr>
        <p:txBody>
          <a:bodyPr wrap="square" lIns="0" tIns="0" rIns="0" bIns="0" anchor="ctr">
            <a:spAutoFit/>
          </a:bodyPr>
          <a:lstStyle/>
          <a:p>
            <a:pPr algn="l"/>
            <a:r>
              <a:rPr sz="1800" b="1" i="0">
                <a:solidFill>
                  <a:srgbClr val="FFFFFF"/>
                </a:solidFill>
                <a:latin typeface="Ubuntu"/>
              </a:rPr>
              <a:t>La sesión recorre el flujo completo, de las mañaneras crudas a una respuesta con cita</a:t>
            </a:r>
          </a:p>
        </p:txBody>
      </p:sp>
      <p:sp>
        <p:nvSpPr>
          <p:cNvPr id="4" name="Rectangle 3"/>
          <p:cNvSpPr/>
          <p:nvPr/>
        </p:nvSpPr>
        <p:spPr>
          <a:xfrm>
            <a:off x="274320" y="1554480"/>
            <a:ext cx="4251960" cy="2103120"/>
          </a:xfrm>
          <a:prstGeom prst="rect">
            <a:avLst/>
          </a:prstGeom>
          <a:solidFill>
            <a:srgbClr val="EAF2FA"/>
          </a:solidFill>
          <a:ln>
            <a:noFill/>
          </a:ln>
          <a:effectLst/>
        </p:spPr>
        <p:txBody>
          <a:bodyPr rtlCol="0" anchor="ctr"/>
          <a:lstStyle/>
          <a:p>
            <a:pPr algn="ctr"/>
            <a:endParaRPr/>
          </a:p>
        </p:txBody>
      </p:sp>
      <p:sp>
        <p:nvSpPr>
          <p:cNvPr id="5" name="TextBox 4"/>
          <p:cNvSpPr txBox="1"/>
          <p:nvPr/>
        </p:nvSpPr>
        <p:spPr>
          <a:xfrm>
            <a:off x="384048" y="1627632"/>
            <a:ext cx="4032504" cy="365760"/>
          </a:xfrm>
          <a:prstGeom prst="rect">
            <a:avLst/>
          </a:prstGeom>
          <a:noFill/>
        </p:spPr>
        <p:txBody>
          <a:bodyPr wrap="square" lIns="0" tIns="0" rIns="0" bIns="0">
            <a:spAutoFit/>
          </a:bodyPr>
          <a:lstStyle/>
          <a:p>
            <a:pPr algn="l"/>
            <a:r>
              <a:rPr sz="2000" b="1" i="0">
                <a:solidFill>
                  <a:srgbClr val="1E4C7D"/>
                </a:solidFill>
                <a:latin typeface="Ubuntu"/>
              </a:rPr>
              <a:t>1. El problema</a:t>
            </a:r>
          </a:p>
        </p:txBody>
      </p:sp>
      <p:sp>
        <p:nvSpPr>
          <p:cNvPr id="6" name="TextBox 5"/>
          <p:cNvSpPr txBox="1"/>
          <p:nvPr/>
        </p:nvSpPr>
        <p:spPr>
          <a:xfrm>
            <a:off x="384048" y="1938528"/>
            <a:ext cx="4032504" cy="1645920"/>
          </a:xfrm>
          <a:prstGeom prst="rect">
            <a:avLst/>
          </a:prstGeom>
          <a:noFill/>
        </p:spPr>
        <p:txBody>
          <a:bodyPr wrap="square" lIns="0" tIns="0" rIns="0" bIns="0">
            <a:spAutoFit/>
          </a:bodyPr>
          <a:lstStyle/>
          <a:p>
            <a:pPr algn="l">
              <a:lnSpc>
                <a:spcPct val="145000"/>
              </a:lnSpc>
            </a:pPr>
            <a:r>
              <a:rPr sz="1700" b="0" i="0">
                <a:solidFill>
                  <a:srgbClr val="000000"/>
                </a:solidFill>
                <a:latin typeface="Ubuntu"/>
              </a:rPr>
              <a:t>Qué sabe y qué no sabe un modelo de lenguaje, y por qué inventa cuando no sabe.</a:t>
            </a:r>
          </a:p>
        </p:txBody>
      </p:sp>
      <p:sp>
        <p:nvSpPr>
          <p:cNvPr id="7" name="Rectangle 6"/>
          <p:cNvSpPr/>
          <p:nvPr/>
        </p:nvSpPr>
        <p:spPr>
          <a:xfrm>
            <a:off x="4617720" y="1554480"/>
            <a:ext cx="4251960" cy="2103120"/>
          </a:xfrm>
          <a:prstGeom prst="rect">
            <a:avLst/>
          </a:prstGeom>
          <a:solidFill>
            <a:srgbClr val="EAF2FA"/>
          </a:solidFill>
          <a:ln>
            <a:noFill/>
          </a:ln>
          <a:effectLst/>
        </p:spPr>
        <p:txBody>
          <a:bodyPr rtlCol="0" anchor="ctr"/>
          <a:lstStyle/>
          <a:p>
            <a:pPr algn="ctr"/>
            <a:endParaRPr/>
          </a:p>
        </p:txBody>
      </p:sp>
      <p:sp>
        <p:nvSpPr>
          <p:cNvPr id="8" name="TextBox 7"/>
          <p:cNvSpPr txBox="1"/>
          <p:nvPr/>
        </p:nvSpPr>
        <p:spPr>
          <a:xfrm>
            <a:off x="4727448" y="1627632"/>
            <a:ext cx="4032504" cy="365760"/>
          </a:xfrm>
          <a:prstGeom prst="rect">
            <a:avLst/>
          </a:prstGeom>
          <a:noFill/>
        </p:spPr>
        <p:txBody>
          <a:bodyPr wrap="square" lIns="0" tIns="0" rIns="0" bIns="0">
            <a:spAutoFit/>
          </a:bodyPr>
          <a:lstStyle/>
          <a:p>
            <a:pPr algn="l"/>
            <a:r>
              <a:rPr sz="2000" b="1" i="0">
                <a:solidFill>
                  <a:srgbClr val="1E4C7D"/>
                </a:solidFill>
                <a:latin typeface="Ubuntu"/>
              </a:rPr>
              <a:t>2. El corpus</a:t>
            </a:r>
          </a:p>
        </p:txBody>
      </p:sp>
      <p:sp>
        <p:nvSpPr>
          <p:cNvPr id="9" name="TextBox 8"/>
          <p:cNvSpPr txBox="1"/>
          <p:nvPr/>
        </p:nvSpPr>
        <p:spPr>
          <a:xfrm>
            <a:off x="4727448" y="1938528"/>
            <a:ext cx="4032504" cy="1645920"/>
          </a:xfrm>
          <a:prstGeom prst="rect">
            <a:avLst/>
          </a:prstGeom>
          <a:noFill/>
        </p:spPr>
        <p:txBody>
          <a:bodyPr wrap="square" lIns="0" tIns="0" rIns="0" bIns="0">
            <a:spAutoFit/>
          </a:bodyPr>
          <a:lstStyle/>
          <a:p>
            <a:pPr algn="l">
              <a:lnSpc>
                <a:spcPct val="145000"/>
              </a:lnSpc>
            </a:pPr>
            <a:r>
              <a:rPr sz="1700" b="0" i="0">
                <a:solidFill>
                  <a:srgbClr val="000000"/>
                </a:solidFill>
                <a:latin typeface="Ubuntu"/>
              </a:rPr>
              <a:t>71 mañaneras convertidas en texto plano con fecha y fuente, descargadas con R.</a:t>
            </a:r>
          </a:p>
        </p:txBody>
      </p:sp>
      <p:sp>
        <p:nvSpPr>
          <p:cNvPr id="10" name="Rectangle 9"/>
          <p:cNvSpPr/>
          <p:nvPr/>
        </p:nvSpPr>
        <p:spPr>
          <a:xfrm>
            <a:off x="274320" y="3931920"/>
            <a:ext cx="4251960" cy="2103120"/>
          </a:xfrm>
          <a:prstGeom prst="rect">
            <a:avLst/>
          </a:prstGeom>
          <a:solidFill>
            <a:srgbClr val="EAF2FA"/>
          </a:solidFill>
          <a:ln>
            <a:noFill/>
          </a:ln>
          <a:effectLst/>
        </p:spPr>
        <p:txBody>
          <a:bodyPr rtlCol="0" anchor="ctr"/>
          <a:lstStyle/>
          <a:p>
            <a:pPr algn="ctr"/>
            <a:endParaRPr/>
          </a:p>
        </p:txBody>
      </p:sp>
      <p:sp>
        <p:nvSpPr>
          <p:cNvPr id="11" name="TextBox 10"/>
          <p:cNvSpPr txBox="1"/>
          <p:nvPr/>
        </p:nvSpPr>
        <p:spPr>
          <a:xfrm>
            <a:off x="384048" y="4005072"/>
            <a:ext cx="4032504" cy="365760"/>
          </a:xfrm>
          <a:prstGeom prst="rect">
            <a:avLst/>
          </a:prstGeom>
          <a:noFill/>
        </p:spPr>
        <p:txBody>
          <a:bodyPr wrap="square" lIns="0" tIns="0" rIns="0" bIns="0">
            <a:spAutoFit/>
          </a:bodyPr>
          <a:lstStyle/>
          <a:p>
            <a:pPr algn="l"/>
            <a:r>
              <a:rPr sz="2000" b="1" i="0">
                <a:solidFill>
                  <a:srgbClr val="1E4C7D"/>
                </a:solidFill>
                <a:latin typeface="Ubuntu"/>
              </a:rPr>
              <a:t>3. El flujo de trabajo</a:t>
            </a:r>
          </a:p>
        </p:txBody>
      </p:sp>
      <p:sp>
        <p:nvSpPr>
          <p:cNvPr id="12" name="TextBox 11"/>
          <p:cNvSpPr txBox="1"/>
          <p:nvPr/>
        </p:nvSpPr>
        <p:spPr>
          <a:xfrm>
            <a:off x="384048" y="4315968"/>
            <a:ext cx="4032504" cy="1645920"/>
          </a:xfrm>
          <a:prstGeom prst="rect">
            <a:avLst/>
          </a:prstGeom>
          <a:noFill/>
        </p:spPr>
        <p:txBody>
          <a:bodyPr wrap="square" lIns="0" tIns="0" rIns="0" bIns="0">
            <a:spAutoFit/>
          </a:bodyPr>
          <a:lstStyle/>
          <a:p>
            <a:pPr algn="l">
              <a:lnSpc>
                <a:spcPct val="145000"/>
              </a:lnSpc>
            </a:pPr>
            <a:r>
              <a:rPr sz="1700" b="0" i="0">
                <a:solidFill>
                  <a:srgbClr val="000000"/>
                </a:solidFill>
                <a:latin typeface="Ubuntu"/>
              </a:rPr>
              <a:t>Fragmentar, convertir en vectores, guardar, buscar y redactar. Dos demostraciones en vivo.</a:t>
            </a:r>
          </a:p>
        </p:txBody>
      </p:sp>
      <p:sp>
        <p:nvSpPr>
          <p:cNvPr id="13" name="Rectangle 12"/>
          <p:cNvSpPr/>
          <p:nvPr/>
        </p:nvSpPr>
        <p:spPr>
          <a:xfrm>
            <a:off x="4617720" y="3931920"/>
            <a:ext cx="4251960" cy="2103120"/>
          </a:xfrm>
          <a:prstGeom prst="rect">
            <a:avLst/>
          </a:prstGeom>
          <a:solidFill>
            <a:srgbClr val="EAF2FA"/>
          </a:solidFill>
          <a:ln>
            <a:noFill/>
          </a:ln>
          <a:effectLst/>
        </p:spPr>
        <p:txBody>
          <a:bodyPr rtlCol="0" anchor="ctr"/>
          <a:lstStyle/>
          <a:p>
            <a:pPr algn="ctr"/>
            <a:endParaRPr/>
          </a:p>
        </p:txBody>
      </p:sp>
      <p:sp>
        <p:nvSpPr>
          <p:cNvPr id="14" name="TextBox 13"/>
          <p:cNvSpPr txBox="1"/>
          <p:nvPr/>
        </p:nvSpPr>
        <p:spPr>
          <a:xfrm>
            <a:off x="4727448" y="4005072"/>
            <a:ext cx="4032504" cy="365760"/>
          </a:xfrm>
          <a:prstGeom prst="rect">
            <a:avLst/>
          </a:prstGeom>
          <a:noFill/>
        </p:spPr>
        <p:txBody>
          <a:bodyPr wrap="square" lIns="0" tIns="0" rIns="0" bIns="0">
            <a:spAutoFit/>
          </a:bodyPr>
          <a:lstStyle/>
          <a:p>
            <a:pPr algn="l"/>
            <a:r>
              <a:rPr sz="2000" b="1" i="0">
                <a:solidFill>
                  <a:srgbClr val="1E4C7D"/>
                </a:solidFill>
                <a:latin typeface="Ubuntu"/>
              </a:rPr>
              <a:t>4. La evaluación</a:t>
            </a:r>
          </a:p>
        </p:txBody>
      </p:sp>
      <p:sp>
        <p:nvSpPr>
          <p:cNvPr id="15" name="TextBox 14"/>
          <p:cNvSpPr txBox="1"/>
          <p:nvPr/>
        </p:nvSpPr>
        <p:spPr>
          <a:xfrm>
            <a:off x="4727448" y="4315968"/>
            <a:ext cx="4032504" cy="1645920"/>
          </a:xfrm>
          <a:prstGeom prst="rect">
            <a:avLst/>
          </a:prstGeom>
          <a:noFill/>
        </p:spPr>
        <p:txBody>
          <a:bodyPr wrap="square" lIns="0" tIns="0" rIns="0" bIns="0">
            <a:spAutoFit/>
          </a:bodyPr>
          <a:lstStyle/>
          <a:p>
            <a:pPr algn="l">
              <a:lnSpc>
                <a:spcPct val="145000"/>
              </a:lnSpc>
            </a:pPr>
            <a:r>
              <a:rPr sz="1700" b="0" i="0">
                <a:solidFill>
                  <a:srgbClr val="000000"/>
                </a:solidFill>
                <a:latin typeface="Ubuntu"/>
              </a:rPr>
              <a:t>Cómo sabemos si funcionó, qué mide hit@5 y qué no mide, y dónde falla el sistema.</a:t>
            </a:r>
          </a:p>
        </p:txBody>
      </p:sp>
      <p:sp>
        <p:nvSpPr>
          <p:cNvPr id="16" name="TextBox 15"/>
          <p:cNvSpPr txBox="1"/>
          <p:nvPr/>
        </p:nvSpPr>
        <p:spPr>
          <a:xfrm>
            <a:off x="6766560" y="6547104"/>
            <a:ext cx="2103120" cy="274320"/>
          </a:xfrm>
          <a:prstGeom prst="rect">
            <a:avLst/>
          </a:prstGeom>
          <a:noFill/>
        </p:spPr>
        <p:txBody>
          <a:bodyPr wrap="square" lIns="0" tIns="0" rIns="0" bIns="0">
            <a:spAutoFit/>
          </a:bodyPr>
          <a:lstStyle/>
          <a:p>
            <a:pPr algn="r"/>
            <a:r>
              <a:rPr sz="900" b="0" i="1">
                <a:solidFill>
                  <a:srgbClr val="555555"/>
                </a:solidFill>
                <a:latin typeface="Ubuntu"/>
              </a:rPr>
              <a:t>RAG con las mañaneras · 2/25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4320"/>
            <a:ext cx="9144000" cy="868680"/>
          </a:xfrm>
          <a:prstGeom prst="rect">
            <a:avLst/>
          </a:prstGeom>
          <a:solidFill>
            <a:srgbClr val="1E4C7D"/>
          </a:solidFill>
          <a:ln>
            <a:noFill/>
          </a:ln>
          <a:effectLst/>
        </p:spPr>
        <p:txBody>
          <a:bodyPr rtlCol="0" anchor="ctr"/>
          <a:lstStyle/>
          <a:p>
            <a:pPr algn="ctr"/>
            <a:endParaRPr/>
          </a:p>
        </p:txBody>
      </p:sp>
      <p:sp>
        <p:nvSpPr>
          <p:cNvPr id="3" name="TextBox 2"/>
          <p:cNvSpPr txBox="1"/>
          <p:nvPr/>
        </p:nvSpPr>
        <p:spPr>
          <a:xfrm>
            <a:off x="320040" y="274320"/>
            <a:ext cx="8503920" cy="868680"/>
          </a:xfrm>
          <a:prstGeom prst="rect">
            <a:avLst/>
          </a:prstGeom>
          <a:noFill/>
        </p:spPr>
        <p:txBody>
          <a:bodyPr wrap="square" lIns="0" tIns="0" rIns="0" bIns="0" anchor="ctr">
            <a:spAutoFit/>
          </a:bodyPr>
          <a:lstStyle/>
          <a:p>
            <a:pPr algn="l"/>
            <a:r>
              <a:rPr sz="1800" b="1" i="0">
                <a:solidFill>
                  <a:srgbClr val="FFFFFF"/>
                </a:solidFill>
                <a:latin typeface="Ubuntu"/>
              </a:rPr>
              <a:t>Un modelo de lenguaje predice la siguiente palabra, y con eso redacta, resume y conversa</a:t>
            </a:r>
          </a:p>
        </p:txBody>
      </p:sp>
      <p:sp>
        <p:nvSpPr>
          <p:cNvPr id="4" name="TextBox 3"/>
          <p:cNvSpPr txBox="1"/>
          <p:nvPr/>
        </p:nvSpPr>
        <p:spPr>
          <a:xfrm>
            <a:off x="274320" y="1371600"/>
            <a:ext cx="8595360" cy="1828800"/>
          </a:xfrm>
          <a:prstGeom prst="rect">
            <a:avLst/>
          </a:prstGeom>
          <a:noFill/>
        </p:spPr>
        <p:txBody>
          <a:bodyPr wrap="square" lIns="0" tIns="0" rIns="0" bIns="0">
            <a:spAutoFit/>
          </a:bodyPr>
          <a:lstStyle/>
          <a:p>
            <a:pPr algn="ctr">
              <a:lnSpc>
                <a:spcPct val="100000"/>
              </a:lnSpc>
            </a:pPr>
            <a:r>
              <a:rPr sz="4400" b="1" i="0">
                <a:solidFill>
                  <a:srgbClr val="1E4C7D"/>
                </a:solidFill>
                <a:latin typeface="Ubuntu"/>
              </a:rPr>
              <a:t>predice la</a:t>
            </a:r>
          </a:p>
          <a:p>
            <a:pPr algn="ctr">
              <a:lnSpc>
                <a:spcPct val="100000"/>
              </a:lnSpc>
            </a:pPr>
            <a:r>
              <a:rPr sz="4400" b="1" i="0">
                <a:solidFill>
                  <a:srgbClr val="1E4C7D"/>
                </a:solidFill>
                <a:latin typeface="Ubuntu"/>
              </a:rPr>
              <a:t>siguiente palabra</a:t>
            </a:r>
          </a:p>
        </p:txBody>
      </p:sp>
      <p:sp>
        <p:nvSpPr>
          <p:cNvPr id="5" name="TextBox 4"/>
          <p:cNvSpPr txBox="1"/>
          <p:nvPr/>
        </p:nvSpPr>
        <p:spPr>
          <a:xfrm>
            <a:off x="731520" y="3246120"/>
            <a:ext cx="7680960" cy="457200"/>
          </a:xfrm>
          <a:prstGeom prst="rect">
            <a:avLst/>
          </a:prstGeom>
          <a:noFill/>
        </p:spPr>
        <p:txBody>
          <a:bodyPr wrap="square" lIns="0" tIns="0" rIns="0" bIns="0">
            <a:spAutoFit/>
          </a:bodyPr>
          <a:lstStyle/>
          <a:p>
            <a:pPr algn="ctr"/>
            <a:r>
              <a:rPr sz="1400" b="0" i="1">
                <a:solidFill>
                  <a:srgbClr val="555555"/>
                </a:solidFill>
                <a:latin typeface="Ubuntu"/>
              </a:rPr>
              <a:t>Eso es todo lo que hace. Y con eso basta para responder preguntas, resumir y redactar con fluidez.</a:t>
            </a:r>
          </a:p>
        </p:txBody>
      </p:sp>
      <p:sp>
        <p:nvSpPr>
          <p:cNvPr id="6" name="Rectangle 5"/>
          <p:cNvSpPr/>
          <p:nvPr/>
        </p:nvSpPr>
        <p:spPr>
          <a:xfrm>
            <a:off x="274320" y="3931920"/>
            <a:ext cx="2743200" cy="2377440"/>
          </a:xfrm>
          <a:prstGeom prst="rect">
            <a:avLst/>
          </a:prstGeom>
          <a:solidFill>
            <a:srgbClr val="EAF2FA"/>
          </a:solidFill>
          <a:ln>
            <a:noFill/>
          </a:ln>
          <a:effectLst/>
        </p:spPr>
        <p:txBody>
          <a:bodyPr rtlCol="0" anchor="ctr"/>
          <a:lstStyle/>
          <a:p>
            <a:pPr algn="ctr"/>
            <a:endParaRPr/>
          </a:p>
        </p:txBody>
      </p:sp>
      <p:sp>
        <p:nvSpPr>
          <p:cNvPr id="7" name="TextBox 6"/>
          <p:cNvSpPr txBox="1"/>
          <p:nvPr/>
        </p:nvSpPr>
        <p:spPr>
          <a:xfrm>
            <a:off x="384048" y="4005072"/>
            <a:ext cx="2523744" cy="365760"/>
          </a:xfrm>
          <a:prstGeom prst="rect">
            <a:avLst/>
          </a:prstGeom>
          <a:noFill/>
        </p:spPr>
        <p:txBody>
          <a:bodyPr wrap="square" lIns="0" tIns="0" rIns="0" bIns="0">
            <a:spAutoFit/>
          </a:bodyPr>
          <a:lstStyle/>
          <a:p>
            <a:pPr algn="l"/>
            <a:r>
              <a:rPr sz="1300" b="1" i="0">
                <a:solidFill>
                  <a:srgbClr val="1E4C7D"/>
                </a:solidFill>
                <a:latin typeface="Ubuntu"/>
              </a:rPr>
              <a:t>Modelo de lenguaje grande</a:t>
            </a:r>
          </a:p>
        </p:txBody>
      </p:sp>
      <p:sp>
        <p:nvSpPr>
          <p:cNvPr id="8" name="TextBox 7"/>
          <p:cNvSpPr txBox="1"/>
          <p:nvPr/>
        </p:nvSpPr>
        <p:spPr>
          <a:xfrm>
            <a:off x="384048" y="4315968"/>
            <a:ext cx="2523744" cy="1920240"/>
          </a:xfrm>
          <a:prstGeom prst="rect">
            <a:avLst/>
          </a:prstGeom>
          <a:noFill/>
        </p:spPr>
        <p:txBody>
          <a:bodyPr wrap="square" lIns="0" tIns="0" rIns="0" bIns="0">
            <a:spAutoFit/>
          </a:bodyPr>
          <a:lstStyle/>
          <a:p>
            <a:pPr algn="l">
              <a:lnSpc>
                <a:spcPct val="125000"/>
              </a:lnSpc>
            </a:pPr>
            <a:r>
              <a:rPr sz="1100" b="0" i="0">
                <a:solidFill>
                  <a:srgbClr val="000000"/>
                </a:solidFill>
                <a:latin typeface="Ubuntu"/>
              </a:rPr>
              <a:t>Un modelo estadístico entrenado con enormes cantidades de texto para predecir qué palabra sigue. Todo lo que "sabe" quedó fijado en sus parámetros durante el entrenamiento: al responder no consulta nada.</a:t>
            </a:r>
          </a:p>
        </p:txBody>
      </p:sp>
      <p:sp>
        <p:nvSpPr>
          <p:cNvPr id="9" name="Rectangle 8"/>
          <p:cNvSpPr/>
          <p:nvPr/>
        </p:nvSpPr>
        <p:spPr>
          <a:xfrm>
            <a:off x="3136392" y="3931920"/>
            <a:ext cx="2743200" cy="2377440"/>
          </a:xfrm>
          <a:prstGeom prst="rect">
            <a:avLst/>
          </a:prstGeom>
          <a:solidFill>
            <a:srgbClr val="EAF2FA"/>
          </a:solidFill>
          <a:ln>
            <a:noFill/>
          </a:ln>
          <a:effectLst/>
        </p:spPr>
        <p:txBody>
          <a:bodyPr rtlCol="0" anchor="ctr"/>
          <a:lstStyle/>
          <a:p>
            <a:pPr algn="ctr"/>
            <a:endParaRPr/>
          </a:p>
        </p:txBody>
      </p:sp>
      <p:sp>
        <p:nvSpPr>
          <p:cNvPr id="10" name="TextBox 9"/>
          <p:cNvSpPr txBox="1"/>
          <p:nvPr/>
        </p:nvSpPr>
        <p:spPr>
          <a:xfrm>
            <a:off x="3246120" y="4005072"/>
            <a:ext cx="2523744" cy="365760"/>
          </a:xfrm>
          <a:prstGeom prst="rect">
            <a:avLst/>
          </a:prstGeom>
          <a:noFill/>
        </p:spPr>
        <p:txBody>
          <a:bodyPr wrap="square" lIns="0" tIns="0" rIns="0" bIns="0">
            <a:spAutoFit/>
          </a:bodyPr>
          <a:lstStyle/>
          <a:p>
            <a:pPr algn="l"/>
            <a:r>
              <a:rPr sz="1300" b="1" i="0">
                <a:solidFill>
                  <a:srgbClr val="1E4C7D"/>
                </a:solidFill>
                <a:latin typeface="Ubuntu"/>
              </a:rPr>
              <a:t>Token</a:t>
            </a:r>
          </a:p>
        </p:txBody>
      </p:sp>
      <p:sp>
        <p:nvSpPr>
          <p:cNvPr id="11" name="TextBox 10"/>
          <p:cNvSpPr txBox="1"/>
          <p:nvPr/>
        </p:nvSpPr>
        <p:spPr>
          <a:xfrm>
            <a:off x="3246120" y="4315968"/>
            <a:ext cx="2523744" cy="1920240"/>
          </a:xfrm>
          <a:prstGeom prst="rect">
            <a:avLst/>
          </a:prstGeom>
          <a:noFill/>
        </p:spPr>
        <p:txBody>
          <a:bodyPr wrap="square" lIns="0" tIns="0" rIns="0" bIns="0">
            <a:spAutoFit/>
          </a:bodyPr>
          <a:lstStyle/>
          <a:p>
            <a:pPr algn="l">
              <a:lnSpc>
                <a:spcPct val="125000"/>
              </a:lnSpc>
            </a:pPr>
            <a:r>
              <a:rPr sz="1100" b="0" i="0">
                <a:solidFill>
                  <a:srgbClr val="000000"/>
                </a:solidFill>
                <a:latin typeface="Ubuntu"/>
              </a:rPr>
              <a:t>La unidad mínima con la que trabaja: un fragmento de palabra. En español, mil tokens son unas 600 o 700 palabras. Costos, límites y tamaños de fragmento se miden en tokens.</a:t>
            </a:r>
          </a:p>
        </p:txBody>
      </p:sp>
      <p:sp>
        <p:nvSpPr>
          <p:cNvPr id="12" name="Rectangle 11"/>
          <p:cNvSpPr/>
          <p:nvPr/>
        </p:nvSpPr>
        <p:spPr>
          <a:xfrm>
            <a:off x="6007608" y="3931920"/>
            <a:ext cx="2743200" cy="2377440"/>
          </a:xfrm>
          <a:prstGeom prst="rect">
            <a:avLst/>
          </a:prstGeom>
          <a:solidFill>
            <a:srgbClr val="EAF2FA"/>
          </a:solidFill>
          <a:ln>
            <a:noFill/>
          </a:ln>
          <a:effectLst/>
        </p:spPr>
        <p:txBody>
          <a:bodyPr rtlCol="0" anchor="ctr"/>
          <a:lstStyle/>
          <a:p>
            <a:pPr algn="ctr"/>
            <a:endParaRPr/>
          </a:p>
        </p:txBody>
      </p:sp>
      <p:sp>
        <p:nvSpPr>
          <p:cNvPr id="13" name="TextBox 12"/>
          <p:cNvSpPr txBox="1"/>
          <p:nvPr/>
        </p:nvSpPr>
        <p:spPr>
          <a:xfrm>
            <a:off x="6117336" y="4005072"/>
            <a:ext cx="2523744" cy="365760"/>
          </a:xfrm>
          <a:prstGeom prst="rect">
            <a:avLst/>
          </a:prstGeom>
          <a:noFill/>
        </p:spPr>
        <p:txBody>
          <a:bodyPr wrap="square" lIns="0" tIns="0" rIns="0" bIns="0">
            <a:spAutoFit/>
          </a:bodyPr>
          <a:lstStyle/>
          <a:p>
            <a:pPr algn="l"/>
            <a:r>
              <a:rPr sz="1300" b="1" i="0">
                <a:solidFill>
                  <a:srgbClr val="1E4C7D"/>
                </a:solidFill>
                <a:latin typeface="Ubuntu"/>
              </a:rPr>
              <a:t>Ventana de contexto</a:t>
            </a:r>
          </a:p>
        </p:txBody>
      </p:sp>
      <p:sp>
        <p:nvSpPr>
          <p:cNvPr id="14" name="TextBox 13"/>
          <p:cNvSpPr txBox="1"/>
          <p:nvPr/>
        </p:nvSpPr>
        <p:spPr>
          <a:xfrm>
            <a:off x="6117336" y="4315968"/>
            <a:ext cx="2523744" cy="1920240"/>
          </a:xfrm>
          <a:prstGeom prst="rect">
            <a:avLst/>
          </a:prstGeom>
          <a:noFill/>
        </p:spPr>
        <p:txBody>
          <a:bodyPr wrap="square" lIns="0" tIns="0" rIns="0" bIns="0">
            <a:spAutoFit/>
          </a:bodyPr>
          <a:lstStyle/>
          <a:p>
            <a:pPr algn="l">
              <a:lnSpc>
                <a:spcPct val="125000"/>
              </a:lnSpc>
            </a:pPr>
            <a:r>
              <a:rPr sz="1100" b="0" i="0">
                <a:solidFill>
                  <a:srgbClr val="000000"/>
                </a:solidFill>
                <a:latin typeface="Ubuntu"/>
              </a:rPr>
              <a:t>Cuántos tokens puede leer de una sola vez. En el modelo de la sesión son 8,192 tokens, unas 5,000 palabras. Una mañanera completa tiene unas 14,000: no cabe.</a:t>
            </a:r>
          </a:p>
        </p:txBody>
      </p:sp>
      <p:sp>
        <p:nvSpPr>
          <p:cNvPr id="15" name="TextBox 14"/>
          <p:cNvSpPr txBox="1"/>
          <p:nvPr/>
        </p:nvSpPr>
        <p:spPr>
          <a:xfrm>
            <a:off x="6766560" y="6547104"/>
            <a:ext cx="2103120" cy="274320"/>
          </a:xfrm>
          <a:prstGeom prst="rect">
            <a:avLst/>
          </a:prstGeom>
          <a:noFill/>
        </p:spPr>
        <p:txBody>
          <a:bodyPr wrap="square" lIns="0" tIns="0" rIns="0" bIns="0">
            <a:spAutoFit/>
          </a:bodyPr>
          <a:lstStyle/>
          <a:p>
            <a:pPr algn="r"/>
            <a:r>
              <a:rPr sz="900" b="0" i="1">
                <a:solidFill>
                  <a:srgbClr val="555555"/>
                </a:solidFill>
                <a:latin typeface="Ubuntu"/>
              </a:rPr>
              <a:t>RAG con las mañaneras · 3/25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4320"/>
            <a:ext cx="9144000" cy="868680"/>
          </a:xfrm>
          <a:prstGeom prst="rect">
            <a:avLst/>
          </a:prstGeom>
          <a:solidFill>
            <a:srgbClr val="1E4C7D"/>
          </a:solidFill>
          <a:ln>
            <a:noFill/>
          </a:ln>
          <a:effectLst/>
        </p:spPr>
        <p:txBody>
          <a:bodyPr rtlCol="0" anchor="ctr"/>
          <a:lstStyle/>
          <a:p>
            <a:pPr algn="ctr"/>
            <a:endParaRPr/>
          </a:p>
        </p:txBody>
      </p:sp>
      <p:sp>
        <p:nvSpPr>
          <p:cNvPr id="3" name="TextBox 2"/>
          <p:cNvSpPr txBox="1"/>
          <p:nvPr/>
        </p:nvSpPr>
        <p:spPr>
          <a:xfrm>
            <a:off x="320040" y="274320"/>
            <a:ext cx="8503920" cy="868680"/>
          </a:xfrm>
          <a:prstGeom prst="rect">
            <a:avLst/>
          </a:prstGeom>
          <a:noFill/>
        </p:spPr>
        <p:txBody>
          <a:bodyPr wrap="square" lIns="0" tIns="0" rIns="0" bIns="0" anchor="ctr">
            <a:spAutoFit/>
          </a:bodyPr>
          <a:lstStyle/>
          <a:p>
            <a:pPr algn="l"/>
            <a:r>
              <a:rPr sz="1800" b="1" i="0">
                <a:solidFill>
                  <a:srgbClr val="FFFFFF"/>
                </a:solidFill>
                <a:latin typeface="Ubuntu"/>
              </a:rPr>
              <a:t>Lo que el modelo sabe se congeló en su fecha de corte: no leyó la mañanera de ayer</a:t>
            </a:r>
          </a:p>
        </p:txBody>
      </p:sp>
      <p:pic>
        <p:nvPicPr>
          <p:cNvPr id="4" name="Picture 3" descr="fig04_linea_tiempo.png"/>
          <p:cNvPicPr>
            <a:picLocks noChangeAspect="1"/>
          </p:cNvPicPr>
          <p:nvPr/>
        </p:nvPicPr>
        <p:blipFill>
          <a:blip r:embed="rId2"/>
          <a:stretch>
            <a:fillRect/>
          </a:stretch>
        </p:blipFill>
        <p:spPr>
          <a:xfrm>
            <a:off x="274320" y="1280160"/>
            <a:ext cx="7651042" cy="3063240"/>
          </a:xfrm>
          <a:prstGeom prst="rect">
            <a:avLst/>
          </a:prstGeom>
        </p:spPr>
      </p:pic>
      <p:sp>
        <p:nvSpPr>
          <p:cNvPr id="5" name="Rectangle 4"/>
          <p:cNvSpPr/>
          <p:nvPr/>
        </p:nvSpPr>
        <p:spPr>
          <a:xfrm>
            <a:off x="274320" y="4526280"/>
            <a:ext cx="8595360" cy="1874519"/>
          </a:xfrm>
          <a:prstGeom prst="rect">
            <a:avLst/>
          </a:prstGeom>
          <a:solidFill>
            <a:srgbClr val="EAF2FA"/>
          </a:solidFill>
          <a:ln>
            <a:noFill/>
          </a:ln>
          <a:effectLst/>
        </p:spPr>
        <p:txBody>
          <a:bodyPr rtlCol="0" anchor="ctr"/>
          <a:lstStyle/>
          <a:p>
            <a:pPr algn="ctr"/>
            <a:endParaRPr/>
          </a:p>
        </p:txBody>
      </p:sp>
      <p:sp>
        <p:nvSpPr>
          <p:cNvPr id="6" name="TextBox 5"/>
          <p:cNvSpPr txBox="1"/>
          <p:nvPr/>
        </p:nvSpPr>
        <p:spPr>
          <a:xfrm>
            <a:off x="384048" y="4599432"/>
            <a:ext cx="8375904" cy="365760"/>
          </a:xfrm>
          <a:prstGeom prst="rect">
            <a:avLst/>
          </a:prstGeom>
          <a:noFill/>
        </p:spPr>
        <p:txBody>
          <a:bodyPr wrap="square" lIns="0" tIns="0" rIns="0" bIns="0">
            <a:spAutoFit/>
          </a:bodyPr>
          <a:lstStyle/>
          <a:p>
            <a:pPr algn="l"/>
            <a:r>
              <a:rPr sz="1300" b="1" i="0">
                <a:solidFill>
                  <a:srgbClr val="1E4C7D"/>
                </a:solidFill>
                <a:latin typeface="Ubuntu"/>
              </a:rPr>
              <a:t>Fecha de corte del conocimiento</a:t>
            </a:r>
          </a:p>
        </p:txBody>
      </p:sp>
      <p:sp>
        <p:nvSpPr>
          <p:cNvPr id="7" name="TextBox 6"/>
          <p:cNvSpPr txBox="1"/>
          <p:nvPr/>
        </p:nvSpPr>
        <p:spPr>
          <a:xfrm>
            <a:off x="384048" y="4910328"/>
            <a:ext cx="8375904" cy="1417319"/>
          </a:xfrm>
          <a:prstGeom prst="rect">
            <a:avLst/>
          </a:prstGeom>
          <a:noFill/>
        </p:spPr>
        <p:txBody>
          <a:bodyPr wrap="square" lIns="0" tIns="0" rIns="0" bIns="0">
            <a:spAutoFit/>
          </a:bodyPr>
          <a:lstStyle/>
          <a:p>
            <a:pPr algn="l">
              <a:lnSpc>
                <a:spcPct val="130000"/>
              </a:lnSpc>
            </a:pPr>
            <a:r>
              <a:rPr sz="1200" b="0" i="0">
                <a:solidFill>
                  <a:srgbClr val="000000"/>
                </a:solidFill>
                <a:latin typeface="Ubuntu"/>
              </a:rPr>
              <a:t>Es la fecha hasta la que llegan los datos con los que se entrenó el modelo. Todo lo posterior no existe para él. Tampoco conoce nunca lo que no estaba en internet al entrenarse: actas internas, bases propias, encuestas sin publicar.</a:t>
            </a:r>
          </a:p>
          <a:p>
            <a:pPr algn="l">
              <a:lnSpc>
                <a:spcPct val="130000"/>
              </a:lnSpc>
            </a:pPr>
            <a:r>
              <a:rPr sz="1200" b="0" i="0">
                <a:solidFill>
                  <a:srgbClr val="000000"/>
                </a:solidFill>
                <a:latin typeface="Ubuntu"/>
              </a:rPr>
              <a:t>Las mañaneras son el caso extremo: hay una nueva cada día hábil y cada una trae cifras, nombres y anuncios que no estaban en ningún lado la víspera.</a:t>
            </a:r>
          </a:p>
        </p:txBody>
      </p:sp>
      <p:sp>
        <p:nvSpPr>
          <p:cNvPr id="8" name="TextBox 7"/>
          <p:cNvSpPr txBox="1"/>
          <p:nvPr/>
        </p:nvSpPr>
        <p:spPr>
          <a:xfrm>
            <a:off x="274320" y="6547104"/>
            <a:ext cx="6400800" cy="274320"/>
          </a:xfrm>
          <a:prstGeom prst="rect">
            <a:avLst/>
          </a:prstGeom>
          <a:noFill/>
        </p:spPr>
        <p:txBody>
          <a:bodyPr wrap="square" lIns="0" tIns="0" rIns="0" bIns="0">
            <a:spAutoFit/>
          </a:bodyPr>
          <a:lstStyle/>
          <a:p>
            <a:pPr algn="l"/>
            <a:r>
              <a:rPr sz="900" b="0" i="0">
                <a:solidFill>
                  <a:srgbClr val="555555"/>
                </a:solidFill>
                <a:latin typeface="Ubuntu"/>
              </a:rPr>
              <a:t>Fuente: corpus propio de mañaneras (gob.mx). La fecha de corte varía por modelo y proveedor.</a:t>
            </a:r>
          </a:p>
        </p:txBody>
      </p:sp>
      <p:sp>
        <p:nvSpPr>
          <p:cNvPr id="9" name="TextBox 8"/>
          <p:cNvSpPr txBox="1"/>
          <p:nvPr/>
        </p:nvSpPr>
        <p:spPr>
          <a:xfrm>
            <a:off x="6766560" y="6547104"/>
            <a:ext cx="2103120" cy="274320"/>
          </a:xfrm>
          <a:prstGeom prst="rect">
            <a:avLst/>
          </a:prstGeom>
          <a:noFill/>
        </p:spPr>
        <p:txBody>
          <a:bodyPr wrap="square" lIns="0" tIns="0" rIns="0" bIns="0">
            <a:spAutoFit/>
          </a:bodyPr>
          <a:lstStyle/>
          <a:p>
            <a:pPr algn="r"/>
            <a:r>
              <a:rPr sz="900" b="0" i="1">
                <a:solidFill>
                  <a:srgbClr val="555555"/>
                </a:solidFill>
                <a:latin typeface="Ubuntu"/>
              </a:rPr>
              <a:t>RAG con las mañaneras · 4/25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4320"/>
            <a:ext cx="9144000" cy="868680"/>
          </a:xfrm>
          <a:prstGeom prst="rect">
            <a:avLst/>
          </a:prstGeom>
          <a:solidFill>
            <a:srgbClr val="1E4C7D"/>
          </a:solidFill>
          <a:ln>
            <a:noFill/>
          </a:ln>
          <a:effectLst/>
        </p:spPr>
        <p:txBody>
          <a:bodyPr rtlCol="0" anchor="ctr"/>
          <a:lstStyle/>
          <a:p>
            <a:pPr algn="ctr"/>
            <a:endParaRPr/>
          </a:p>
        </p:txBody>
      </p:sp>
      <p:sp>
        <p:nvSpPr>
          <p:cNvPr id="3" name="TextBox 2"/>
          <p:cNvSpPr txBox="1"/>
          <p:nvPr/>
        </p:nvSpPr>
        <p:spPr>
          <a:xfrm>
            <a:off x="320040" y="274320"/>
            <a:ext cx="8503920" cy="868680"/>
          </a:xfrm>
          <a:prstGeom prst="rect">
            <a:avLst/>
          </a:prstGeom>
          <a:noFill/>
        </p:spPr>
        <p:txBody>
          <a:bodyPr wrap="square" lIns="0" tIns="0" rIns="0" bIns="0" anchor="ctr">
            <a:spAutoFit/>
          </a:bodyPr>
          <a:lstStyle/>
          <a:p>
            <a:pPr algn="l"/>
            <a:r>
              <a:rPr sz="1800" b="1" i="0">
                <a:solidFill>
                  <a:srgbClr val="FFFFFF"/>
                </a:solidFill>
                <a:latin typeface="Ubuntu"/>
              </a:rPr>
              <a:t>Cuando no sabe, el modelo no se calla: afirma con seguridad cosas falsas</a:t>
            </a:r>
          </a:p>
        </p:txBody>
      </p:sp>
      <p:sp>
        <p:nvSpPr>
          <p:cNvPr id="4" name="Rectangle 3"/>
          <p:cNvSpPr/>
          <p:nvPr/>
        </p:nvSpPr>
        <p:spPr>
          <a:xfrm>
            <a:off x="274320" y="1325880"/>
            <a:ext cx="8595360" cy="685800"/>
          </a:xfrm>
          <a:prstGeom prst="rect">
            <a:avLst/>
          </a:prstGeom>
          <a:solidFill>
            <a:srgbClr val="1E4C7D"/>
          </a:solidFill>
          <a:ln>
            <a:noFill/>
          </a:ln>
          <a:effectLst/>
        </p:spPr>
        <p:txBody>
          <a:bodyPr rtlCol="0" anchor="ctr"/>
          <a:lstStyle/>
          <a:p>
            <a:pPr algn="ctr"/>
            <a:endParaRPr/>
          </a:p>
        </p:txBody>
      </p:sp>
      <p:sp>
        <p:nvSpPr>
          <p:cNvPr id="5" name="TextBox 4"/>
          <p:cNvSpPr txBox="1"/>
          <p:nvPr/>
        </p:nvSpPr>
        <p:spPr>
          <a:xfrm>
            <a:off x="411480" y="1325880"/>
            <a:ext cx="8321040" cy="685800"/>
          </a:xfrm>
          <a:prstGeom prst="rect">
            <a:avLst/>
          </a:prstGeom>
          <a:noFill/>
        </p:spPr>
        <p:txBody>
          <a:bodyPr wrap="square" lIns="0" tIns="0" rIns="0" bIns="0" anchor="ctr">
            <a:spAutoFit/>
          </a:bodyPr>
          <a:lstStyle/>
          <a:p>
            <a:pPr algn="ctr"/>
            <a:r>
              <a:rPr sz="1200" b="1" i="0">
                <a:solidFill>
                  <a:srgbClr val="FFFFFF"/>
                </a:solidFill>
                <a:latin typeface="Ubuntu"/>
              </a:rPr>
              <a:t>¿Cuál fue el promedio diario de homicidios dolosos en México en agosto de 2026,</a:t>
            </a:r>
          </a:p>
          <a:p>
            <a:pPr algn="ctr"/>
            <a:r>
              <a:rPr sz="1200" b="1" i="0">
                <a:solidFill>
                  <a:srgbClr val="FFFFFF"/>
                </a:solidFill>
                <a:latin typeface="Ubuntu"/>
              </a:rPr>
              <a:t>según lo que informó la presidenta Claudia Sheinbaum en su conferencia de prensa?</a:t>
            </a:r>
          </a:p>
        </p:txBody>
      </p:sp>
      <p:sp>
        <p:nvSpPr>
          <p:cNvPr id="6" name="Rectangle 5"/>
          <p:cNvSpPr/>
          <p:nvPr/>
        </p:nvSpPr>
        <p:spPr>
          <a:xfrm>
            <a:off x="274320" y="2148840"/>
            <a:ext cx="4251960" cy="2651760"/>
          </a:xfrm>
          <a:prstGeom prst="rect">
            <a:avLst/>
          </a:prstGeom>
          <a:solidFill>
            <a:srgbClr val="FADBD8"/>
          </a:solidFill>
          <a:ln>
            <a:noFill/>
          </a:ln>
          <a:effectLst/>
        </p:spPr>
        <p:txBody>
          <a:bodyPr rtlCol="0" anchor="ctr"/>
          <a:lstStyle/>
          <a:p>
            <a:pPr algn="ctr"/>
            <a:endParaRPr/>
          </a:p>
        </p:txBody>
      </p:sp>
      <p:sp>
        <p:nvSpPr>
          <p:cNvPr id="7" name="TextBox 6"/>
          <p:cNvSpPr txBox="1"/>
          <p:nvPr/>
        </p:nvSpPr>
        <p:spPr>
          <a:xfrm>
            <a:off x="384048" y="2221992"/>
            <a:ext cx="4032504" cy="365760"/>
          </a:xfrm>
          <a:prstGeom prst="rect">
            <a:avLst/>
          </a:prstGeom>
          <a:noFill/>
        </p:spPr>
        <p:txBody>
          <a:bodyPr wrap="square" lIns="0" tIns="0" rIns="0" bIns="0">
            <a:spAutoFit/>
          </a:bodyPr>
          <a:lstStyle/>
          <a:p>
            <a:pPr algn="l"/>
            <a:r>
              <a:rPr sz="1300" b="1" i="0">
                <a:solidFill>
                  <a:srgbClr val="C0392B"/>
                </a:solidFill>
                <a:latin typeface="Ubuntu"/>
              </a:rPr>
              <a:t>Sin documentos: qwen3.5:4b, respuesta textual</a:t>
            </a:r>
          </a:p>
        </p:txBody>
      </p:sp>
      <p:sp>
        <p:nvSpPr>
          <p:cNvPr id="8" name="TextBox 7"/>
          <p:cNvSpPr txBox="1"/>
          <p:nvPr/>
        </p:nvSpPr>
        <p:spPr>
          <a:xfrm>
            <a:off x="384048" y="2532888"/>
            <a:ext cx="4032504" cy="2194560"/>
          </a:xfrm>
          <a:prstGeom prst="rect">
            <a:avLst/>
          </a:prstGeom>
          <a:noFill/>
        </p:spPr>
        <p:txBody>
          <a:bodyPr wrap="square" lIns="0" tIns="0" rIns="0" bIns="0">
            <a:spAutoFit/>
          </a:bodyPr>
          <a:lstStyle/>
          <a:p>
            <a:pPr algn="l">
              <a:lnSpc>
                <a:spcPct val="130000"/>
              </a:lnSpc>
            </a:pPr>
            <a:r>
              <a:rPr sz="1150" b="0" i="0">
                <a:solidFill>
                  <a:srgbClr val="000000"/>
                </a:solidFill>
                <a:latin typeface="Ubuntu"/>
              </a:rPr>
              <a:t>“Es imposible proporcionar ese dato específico porque se trata de un futuro hipotético; Claudia Sheinbaum no ha sido electa ni habrá emitido tal información, dado que el mes de agosto de 2026 aún no ha ocurrido. Por lo tanto, cualquier cifra sobre el promedio diario de homicidios dolosos en esa fecha específica sería una suposición imaginaria y no reflejaría la realidad futura ni los informes oficiales existentes.”</a:t>
            </a:r>
          </a:p>
        </p:txBody>
      </p:sp>
      <p:sp>
        <p:nvSpPr>
          <p:cNvPr id="9" name="Rectangle 8"/>
          <p:cNvSpPr/>
          <p:nvPr/>
        </p:nvSpPr>
        <p:spPr>
          <a:xfrm>
            <a:off x="4617720" y="2148840"/>
            <a:ext cx="4251960" cy="2651760"/>
          </a:xfrm>
          <a:prstGeom prst="rect">
            <a:avLst/>
          </a:prstGeom>
          <a:solidFill>
            <a:srgbClr val="D5F5E3"/>
          </a:solidFill>
          <a:ln>
            <a:noFill/>
          </a:ln>
          <a:effectLst/>
        </p:spPr>
        <p:txBody>
          <a:bodyPr rtlCol="0" anchor="ctr"/>
          <a:lstStyle/>
          <a:p>
            <a:pPr algn="ctr"/>
            <a:endParaRPr/>
          </a:p>
        </p:txBody>
      </p:sp>
      <p:sp>
        <p:nvSpPr>
          <p:cNvPr id="10" name="TextBox 9"/>
          <p:cNvSpPr txBox="1"/>
          <p:nvPr/>
        </p:nvSpPr>
        <p:spPr>
          <a:xfrm>
            <a:off x="4727448" y="2221992"/>
            <a:ext cx="4032504" cy="365760"/>
          </a:xfrm>
          <a:prstGeom prst="rect">
            <a:avLst/>
          </a:prstGeom>
          <a:noFill/>
        </p:spPr>
        <p:txBody>
          <a:bodyPr wrap="square" lIns="0" tIns="0" rIns="0" bIns="0">
            <a:spAutoFit/>
          </a:bodyPr>
          <a:lstStyle/>
          <a:p>
            <a:pPr algn="l"/>
            <a:r>
              <a:rPr sz="1300" b="1" i="0">
                <a:solidFill>
                  <a:srgbClr val="1A7A3A"/>
                </a:solidFill>
                <a:latin typeface="Ubuntu"/>
              </a:rPr>
              <a:t>Lo que dijo la mañanera del 8 de septiembre</a:t>
            </a:r>
          </a:p>
        </p:txBody>
      </p:sp>
      <p:sp>
        <p:nvSpPr>
          <p:cNvPr id="11" name="TextBox 10"/>
          <p:cNvSpPr txBox="1"/>
          <p:nvPr/>
        </p:nvSpPr>
        <p:spPr>
          <a:xfrm>
            <a:off x="4727448" y="2532888"/>
            <a:ext cx="4032504" cy="2194560"/>
          </a:xfrm>
          <a:prstGeom prst="rect">
            <a:avLst/>
          </a:prstGeom>
          <a:noFill/>
        </p:spPr>
        <p:txBody>
          <a:bodyPr wrap="square" lIns="0" tIns="0" rIns="0" bIns="0">
            <a:spAutoFit/>
          </a:bodyPr>
          <a:lstStyle/>
          <a:p>
            <a:pPr algn="l">
              <a:lnSpc>
                <a:spcPct val="130000"/>
              </a:lnSpc>
            </a:pPr>
            <a:r>
              <a:rPr sz="1150" b="0" i="0">
                <a:solidFill>
                  <a:srgbClr val="000000"/>
                </a:solidFill>
                <a:latin typeface="Ubuntu"/>
              </a:rPr>
              <a:t>“…el mes que acaba de concluir que cerró en un promedio de 40.8 homicidios diarios, siendo además este agosto de 2026 el mes más bajo de estos meses analizados.”</a:t>
            </a:r>
          </a:p>
          <a:p>
            <a:pPr algn="l">
              <a:lnSpc>
                <a:spcPct val="130000"/>
              </a:lnSpc>
            </a:pPr>
            <a:endParaRPr sz="1150" b="0" i="0">
              <a:solidFill>
                <a:srgbClr val="000000"/>
              </a:solidFill>
              <a:latin typeface="Ubuntu"/>
            </a:endParaRPr>
          </a:p>
          <a:p>
            <a:pPr algn="l">
              <a:lnSpc>
                <a:spcPct val="130000"/>
              </a:lnSpc>
            </a:pPr>
            <a:r>
              <a:rPr sz="1150" b="0" i="0">
                <a:solidFill>
                  <a:srgbClr val="000000"/>
                </a:solidFill>
                <a:latin typeface="Ubuntu"/>
              </a:rPr>
              <a:t>El modelo no solo desconoce el dato: asegura que agosto de 2026 no ha ocurrido y que Sheinbaum no ha sido electa. Todo dicho con el mismo tono seguro.</a:t>
            </a:r>
          </a:p>
        </p:txBody>
      </p:sp>
      <p:sp>
        <p:nvSpPr>
          <p:cNvPr id="12" name="Rectangle 11"/>
          <p:cNvSpPr/>
          <p:nvPr/>
        </p:nvSpPr>
        <p:spPr>
          <a:xfrm>
            <a:off x="274320" y="4983480"/>
            <a:ext cx="8595360" cy="1371600"/>
          </a:xfrm>
          <a:prstGeom prst="rect">
            <a:avLst/>
          </a:prstGeom>
          <a:solidFill>
            <a:srgbClr val="F0FAF0"/>
          </a:solidFill>
          <a:ln>
            <a:noFill/>
          </a:ln>
          <a:effectLst/>
        </p:spPr>
        <p:txBody>
          <a:bodyPr rtlCol="0" anchor="ctr"/>
          <a:lstStyle/>
          <a:p>
            <a:pPr algn="ctr"/>
            <a:endParaRPr/>
          </a:p>
        </p:txBody>
      </p:sp>
      <p:sp>
        <p:nvSpPr>
          <p:cNvPr id="13" name="TextBox 12"/>
          <p:cNvSpPr txBox="1"/>
          <p:nvPr/>
        </p:nvSpPr>
        <p:spPr>
          <a:xfrm>
            <a:off x="384048" y="5056632"/>
            <a:ext cx="8375904" cy="365760"/>
          </a:xfrm>
          <a:prstGeom prst="rect">
            <a:avLst/>
          </a:prstGeom>
          <a:noFill/>
        </p:spPr>
        <p:txBody>
          <a:bodyPr wrap="square" lIns="0" tIns="0" rIns="0" bIns="0">
            <a:spAutoFit/>
          </a:bodyPr>
          <a:lstStyle/>
          <a:p>
            <a:pPr algn="l"/>
            <a:r>
              <a:rPr sz="1300" b="1" i="0">
                <a:solidFill>
                  <a:srgbClr val="1A7A3A"/>
                </a:solidFill>
                <a:latin typeface="Ubuntu"/>
              </a:rPr>
              <a:t>Alucinación</a:t>
            </a:r>
          </a:p>
        </p:txBody>
      </p:sp>
      <p:sp>
        <p:nvSpPr>
          <p:cNvPr id="14" name="TextBox 13"/>
          <p:cNvSpPr txBox="1"/>
          <p:nvPr/>
        </p:nvSpPr>
        <p:spPr>
          <a:xfrm>
            <a:off x="384048" y="5367528"/>
            <a:ext cx="8375904" cy="914400"/>
          </a:xfrm>
          <a:prstGeom prst="rect">
            <a:avLst/>
          </a:prstGeom>
          <a:noFill/>
        </p:spPr>
        <p:txBody>
          <a:bodyPr wrap="square" lIns="0" tIns="0" rIns="0" bIns="0">
            <a:spAutoFit/>
          </a:bodyPr>
          <a:lstStyle/>
          <a:p>
            <a:pPr algn="l">
              <a:lnSpc>
                <a:spcPct val="125000"/>
              </a:lnSpc>
            </a:pPr>
            <a:r>
              <a:rPr sz="1100" b="0" i="0">
                <a:solidFill>
                  <a:srgbClr val="000000"/>
                </a:solidFill>
                <a:latin typeface="Ubuntu"/>
              </a:rPr>
              <a:t>Una afirmación fluida, con el tono correcto, y falsa. Ocurre porque el modelo optimiza plausibilidad, no verdad. Sin la fuente a la mano no hay forma de distinguirla de una respuesta correcta.</a:t>
            </a:r>
          </a:p>
        </p:txBody>
      </p:sp>
      <p:sp>
        <p:nvSpPr>
          <p:cNvPr id="15" name="TextBox 14"/>
          <p:cNvSpPr txBox="1"/>
          <p:nvPr/>
        </p:nvSpPr>
        <p:spPr>
          <a:xfrm>
            <a:off x="274320" y="6547104"/>
            <a:ext cx="6400800" cy="274320"/>
          </a:xfrm>
          <a:prstGeom prst="rect">
            <a:avLst/>
          </a:prstGeom>
          <a:noFill/>
        </p:spPr>
        <p:txBody>
          <a:bodyPr wrap="square" lIns="0" tIns="0" rIns="0" bIns="0">
            <a:spAutoFit/>
          </a:bodyPr>
          <a:lstStyle/>
          <a:p>
            <a:pPr algn="l"/>
            <a:r>
              <a:rPr sz="900" b="0" i="0">
                <a:solidFill>
                  <a:srgbClr val="555555"/>
                </a:solidFill>
                <a:latin typeface="Ubuntu"/>
              </a:rPr>
              <a:t>Fuente: versión estenográfica del 8 de septiembre de 2026, Presidencia de la República; respuesta generada con qwen3.5:4b vía Ollama.</a:t>
            </a:r>
          </a:p>
        </p:txBody>
      </p:sp>
      <p:sp>
        <p:nvSpPr>
          <p:cNvPr id="16" name="TextBox 15"/>
          <p:cNvSpPr txBox="1"/>
          <p:nvPr/>
        </p:nvSpPr>
        <p:spPr>
          <a:xfrm>
            <a:off x="6766560" y="6547104"/>
            <a:ext cx="2103120" cy="274320"/>
          </a:xfrm>
          <a:prstGeom prst="rect">
            <a:avLst/>
          </a:prstGeom>
          <a:noFill/>
        </p:spPr>
        <p:txBody>
          <a:bodyPr wrap="square" lIns="0" tIns="0" rIns="0" bIns="0">
            <a:spAutoFit/>
          </a:bodyPr>
          <a:lstStyle/>
          <a:p>
            <a:pPr algn="r"/>
            <a:r>
              <a:rPr sz="900" b="0" i="1">
                <a:solidFill>
                  <a:srgbClr val="555555"/>
                </a:solidFill>
                <a:latin typeface="Ubuntu"/>
              </a:rPr>
              <a:t>RAG con las mañaneras · 5/25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4320"/>
            <a:ext cx="9144000" cy="868680"/>
          </a:xfrm>
          <a:prstGeom prst="rect">
            <a:avLst/>
          </a:prstGeom>
          <a:solidFill>
            <a:srgbClr val="1E4C7D"/>
          </a:solidFill>
          <a:ln>
            <a:noFill/>
          </a:ln>
          <a:effectLst/>
        </p:spPr>
        <p:txBody>
          <a:bodyPr rtlCol="0" anchor="ctr"/>
          <a:lstStyle/>
          <a:p>
            <a:pPr algn="ctr"/>
            <a:endParaRPr/>
          </a:p>
        </p:txBody>
      </p:sp>
      <p:sp>
        <p:nvSpPr>
          <p:cNvPr id="3" name="TextBox 2"/>
          <p:cNvSpPr txBox="1"/>
          <p:nvPr/>
        </p:nvSpPr>
        <p:spPr>
          <a:xfrm>
            <a:off x="320040" y="274320"/>
            <a:ext cx="8503920" cy="868680"/>
          </a:xfrm>
          <a:prstGeom prst="rect">
            <a:avLst/>
          </a:prstGeom>
          <a:noFill/>
        </p:spPr>
        <p:txBody>
          <a:bodyPr wrap="square" lIns="0" tIns="0" rIns="0" bIns="0" anchor="ctr">
            <a:spAutoFit/>
          </a:bodyPr>
          <a:lstStyle/>
          <a:p>
            <a:pPr algn="l"/>
            <a:r>
              <a:rPr sz="1800" b="1" i="0">
                <a:solidFill>
                  <a:srgbClr val="FFFFFF"/>
                </a:solidFill>
                <a:latin typeface="Ubuntu"/>
              </a:rPr>
              <a:t>De las tres formas de darle información nueva a un modelo, solo una escala a un corpus que cambia cada día</a:t>
            </a:r>
          </a:p>
        </p:txBody>
      </p:sp>
      <p:graphicFrame>
        <p:nvGraphicFramePr>
          <p:cNvPr id="4" name="Table 3"/>
          <p:cNvGraphicFramePr>
            <a:graphicFrameLocks noGrp="1"/>
          </p:cNvGraphicFramePr>
          <p:nvPr/>
        </p:nvGraphicFramePr>
        <p:xfrm>
          <a:off x="274320" y="1371600"/>
          <a:ext cx="8595267" cy="384048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2407889">
                  <a:extLst>
                    <a:ext uri="{9D8B030D-6E8A-4147-A177-3AD203B41FA5}">
                      <a16:colId xmlns:a16="http://schemas.microsoft.com/office/drawing/2014/main" val="20001"/>
                    </a:ext>
                  </a:extLst>
                </a:gridCol>
                <a:gridCol w="2407889">
                  <a:extLst>
                    <a:ext uri="{9D8B030D-6E8A-4147-A177-3AD203B41FA5}">
                      <a16:colId xmlns:a16="http://schemas.microsoft.com/office/drawing/2014/main" val="20002"/>
                    </a:ext>
                  </a:extLst>
                </a:gridCol>
                <a:gridCol w="2407889">
                  <a:extLst>
                    <a:ext uri="{9D8B030D-6E8A-4147-A177-3AD203B41FA5}">
                      <a16:colId xmlns:a16="http://schemas.microsoft.com/office/drawing/2014/main" val="20003"/>
                    </a:ext>
                  </a:extLst>
                </a:gridCol>
              </a:tblGrid>
              <a:tr h="640080">
                <a:tc>
                  <a:txBody>
                    <a:bodyPr/>
                    <a:lstStyle/>
                    <a:p>
                      <a:endParaRPr/>
                    </a:p>
                  </a:txBody>
                  <a:tcPr marL="73152" marR="73152" anchor="ctr">
                    <a:solidFill>
                      <a:srgbClr val="1E4C7D"/>
                    </a:solidFill>
                  </a:tcPr>
                </a:tc>
                <a:tc>
                  <a:txBody>
                    <a:bodyPr/>
                    <a:lstStyle/>
                    <a:p>
                      <a:r>
                        <a:rPr sz="1100" b="1">
                          <a:solidFill>
                            <a:srgbClr val="FFFFFF"/>
                          </a:solidFill>
                          <a:latin typeface="Ubuntu"/>
                        </a:rPr>
                        <a:t>Ajuste fino</a:t>
                      </a:r>
                    </a:p>
                  </a:txBody>
                  <a:tcPr marL="73152" marR="73152" anchor="ctr">
                    <a:solidFill>
                      <a:srgbClr val="1E4C7D"/>
                    </a:solidFill>
                  </a:tcPr>
                </a:tc>
                <a:tc>
                  <a:txBody>
                    <a:bodyPr/>
                    <a:lstStyle/>
                    <a:p>
                      <a:r>
                        <a:rPr sz="1100" b="1">
                          <a:solidFill>
                            <a:srgbClr val="FFFFFF"/>
                          </a:solidFill>
                          <a:latin typeface="Ubuntu"/>
                        </a:rPr>
                        <a:t>Contexto largo</a:t>
                      </a:r>
                    </a:p>
                  </a:txBody>
                  <a:tcPr marL="73152" marR="73152" anchor="ctr">
                    <a:solidFill>
                      <a:srgbClr val="1E4C7D"/>
                    </a:solidFill>
                  </a:tcPr>
                </a:tc>
                <a:tc>
                  <a:txBody>
                    <a:bodyPr/>
                    <a:lstStyle/>
                    <a:p>
                      <a:r>
                        <a:rPr sz="1100" b="1">
                          <a:solidFill>
                            <a:srgbClr val="FFFFFF"/>
                          </a:solidFill>
                          <a:latin typeface="Ubuntu"/>
                        </a:rPr>
                        <a:t>RAG</a:t>
                      </a:r>
                    </a:p>
                  </a:txBody>
                  <a:tcPr marL="73152" marR="73152" anchor="ctr">
                    <a:solidFill>
                      <a:srgbClr val="1E4C7D"/>
                    </a:solidFill>
                  </a:tcPr>
                </a:tc>
                <a:extLst>
                  <a:ext uri="{0D108BD9-81ED-4DB2-BD59-A6C34878D82A}">
                    <a16:rowId xmlns:a16="http://schemas.microsoft.com/office/drawing/2014/main" val="10000"/>
                  </a:ext>
                </a:extLst>
              </a:tr>
              <a:tr h="640080">
                <a:tc>
                  <a:txBody>
                    <a:bodyPr/>
                    <a:lstStyle/>
                    <a:p>
                      <a:r>
                        <a:rPr sz="1100" b="1">
                          <a:solidFill>
                            <a:srgbClr val="1E4C7D"/>
                          </a:solidFill>
                          <a:latin typeface="Ubuntu"/>
                        </a:rPr>
                        <a:t>Qué hace</a:t>
                      </a:r>
                    </a:p>
                  </a:txBody>
                  <a:tcPr marL="73152" marR="73152" anchor="ctr">
                    <a:solidFill>
                      <a:srgbClr val="DDE5ED"/>
                    </a:solidFill>
                  </a:tcPr>
                </a:tc>
                <a:tc>
                  <a:txBody>
                    <a:bodyPr/>
                    <a:lstStyle/>
                    <a:p>
                      <a:r>
                        <a:rPr sz="1100">
                          <a:solidFill>
                            <a:srgbClr val="000000"/>
                          </a:solidFill>
                          <a:latin typeface="Ubuntu"/>
                        </a:rPr>
                        <a:t>Reentrena parte del modelo con datos propios</a:t>
                      </a:r>
                    </a:p>
                  </a:txBody>
                  <a:tcPr marL="73152" marR="73152" anchor="ctr">
                    <a:solidFill>
                      <a:srgbClr val="FFFFFF"/>
                    </a:solidFill>
                  </a:tcPr>
                </a:tc>
                <a:tc>
                  <a:txBody>
                    <a:bodyPr/>
                    <a:lstStyle/>
                    <a:p>
                      <a:r>
                        <a:rPr sz="1100">
                          <a:solidFill>
                            <a:srgbClr val="000000"/>
                          </a:solidFill>
                          <a:latin typeface="Ubuntu"/>
                        </a:rPr>
                        <a:t>Pega todos los documentos en el prompt</a:t>
                      </a:r>
                    </a:p>
                  </a:txBody>
                  <a:tcPr marL="73152" marR="73152" anchor="ctr">
                    <a:solidFill>
                      <a:srgbClr val="FFFFFF"/>
                    </a:solidFill>
                  </a:tcPr>
                </a:tc>
                <a:tc>
                  <a:txBody>
                    <a:bodyPr/>
                    <a:lstStyle/>
                    <a:p>
                      <a:r>
                        <a:rPr sz="1100">
                          <a:solidFill>
                            <a:srgbClr val="000000"/>
                          </a:solidFill>
                          <a:latin typeface="Ubuntu"/>
                        </a:rPr>
                        <a:t>Busca los fragmentos relevantes y solo pega esos</a:t>
                      </a:r>
                    </a:p>
                  </a:txBody>
                  <a:tcPr marL="73152" marR="73152" anchor="ctr">
                    <a:solidFill>
                      <a:srgbClr val="D5F5E3"/>
                    </a:solidFill>
                  </a:tcPr>
                </a:tc>
                <a:extLst>
                  <a:ext uri="{0D108BD9-81ED-4DB2-BD59-A6C34878D82A}">
                    <a16:rowId xmlns:a16="http://schemas.microsoft.com/office/drawing/2014/main" val="10001"/>
                  </a:ext>
                </a:extLst>
              </a:tr>
              <a:tr h="640080">
                <a:tc>
                  <a:txBody>
                    <a:bodyPr/>
                    <a:lstStyle/>
                    <a:p>
                      <a:r>
                        <a:rPr sz="1100" b="1">
                          <a:solidFill>
                            <a:srgbClr val="1E4C7D"/>
                          </a:solidFill>
                          <a:latin typeface="Ubuntu"/>
                        </a:rPr>
                        <a:t>Costo</a:t>
                      </a:r>
                    </a:p>
                  </a:txBody>
                  <a:tcPr marL="73152" marR="73152" anchor="ctr">
                    <a:solidFill>
                      <a:srgbClr val="DDE5ED"/>
                    </a:solidFill>
                  </a:tcPr>
                </a:tc>
                <a:tc>
                  <a:txBody>
                    <a:bodyPr/>
                    <a:lstStyle/>
                    <a:p>
                      <a:r>
                        <a:rPr sz="1100">
                          <a:solidFill>
                            <a:srgbClr val="000000"/>
                          </a:solidFill>
                          <a:latin typeface="Ubuntu"/>
                        </a:rPr>
                        <a:t>Alto: horas de cómputo por versión</a:t>
                      </a:r>
                    </a:p>
                  </a:txBody>
                  <a:tcPr marL="73152" marR="73152" anchor="ctr">
                    <a:solidFill>
                      <a:srgbClr val="EAF2FA"/>
                    </a:solidFill>
                  </a:tcPr>
                </a:tc>
                <a:tc>
                  <a:txBody>
                    <a:bodyPr/>
                    <a:lstStyle/>
                    <a:p>
                      <a:r>
                        <a:rPr sz="1100">
                          <a:solidFill>
                            <a:srgbClr val="000000"/>
                          </a:solidFill>
                          <a:latin typeface="Ubuntu"/>
                        </a:rPr>
                        <a:t>Bajo por consulta, pero crece con el corpus</a:t>
                      </a:r>
                    </a:p>
                  </a:txBody>
                  <a:tcPr marL="73152" marR="73152" anchor="ctr">
                    <a:solidFill>
                      <a:srgbClr val="EAF2FA"/>
                    </a:solidFill>
                  </a:tcPr>
                </a:tc>
                <a:tc>
                  <a:txBody>
                    <a:bodyPr/>
                    <a:lstStyle/>
                    <a:p>
                      <a:r>
                        <a:rPr sz="1100">
                          <a:solidFill>
                            <a:srgbClr val="000000"/>
                          </a:solidFill>
                          <a:latin typeface="Ubuntu"/>
                        </a:rPr>
                        <a:t>Bajo: el índice se construye una vez</a:t>
                      </a:r>
                    </a:p>
                  </a:txBody>
                  <a:tcPr marL="73152" marR="73152" anchor="ctr">
                    <a:solidFill>
                      <a:srgbClr val="D5F5E3"/>
                    </a:solidFill>
                  </a:tcPr>
                </a:tc>
                <a:extLst>
                  <a:ext uri="{0D108BD9-81ED-4DB2-BD59-A6C34878D82A}">
                    <a16:rowId xmlns:a16="http://schemas.microsoft.com/office/drawing/2014/main" val="10002"/>
                  </a:ext>
                </a:extLst>
              </a:tr>
              <a:tr h="640080">
                <a:tc>
                  <a:txBody>
                    <a:bodyPr/>
                    <a:lstStyle/>
                    <a:p>
                      <a:r>
                        <a:rPr sz="1100" b="1">
                          <a:solidFill>
                            <a:srgbClr val="1E4C7D"/>
                          </a:solidFill>
                          <a:latin typeface="Ubuntu"/>
                        </a:rPr>
                        <a:t>Actualización</a:t>
                      </a:r>
                    </a:p>
                  </a:txBody>
                  <a:tcPr marL="73152" marR="73152" anchor="ctr">
                    <a:solidFill>
                      <a:srgbClr val="DDE5ED"/>
                    </a:solidFill>
                  </a:tcPr>
                </a:tc>
                <a:tc>
                  <a:txBody>
                    <a:bodyPr/>
                    <a:lstStyle/>
                    <a:p>
                      <a:r>
                        <a:rPr sz="1100">
                          <a:solidFill>
                            <a:srgbClr val="000000"/>
                          </a:solidFill>
                          <a:latin typeface="Ubuntu"/>
                        </a:rPr>
                        <a:t>Reentrenar</a:t>
                      </a:r>
                    </a:p>
                  </a:txBody>
                  <a:tcPr marL="73152" marR="73152" anchor="ctr">
                    <a:solidFill>
                      <a:srgbClr val="FFFFFF"/>
                    </a:solidFill>
                  </a:tcPr>
                </a:tc>
                <a:tc>
                  <a:txBody>
                    <a:bodyPr/>
                    <a:lstStyle/>
                    <a:p>
                      <a:r>
                        <a:rPr sz="1100">
                          <a:solidFill>
                            <a:srgbClr val="000000"/>
                          </a:solidFill>
                          <a:latin typeface="Ubuntu"/>
                        </a:rPr>
                        <a:t>Volver a pegar todo</a:t>
                      </a:r>
                    </a:p>
                  </a:txBody>
                  <a:tcPr marL="73152" marR="73152" anchor="ctr">
                    <a:solidFill>
                      <a:srgbClr val="FFFFFF"/>
                    </a:solidFill>
                  </a:tcPr>
                </a:tc>
                <a:tc>
                  <a:txBody>
                    <a:bodyPr/>
                    <a:lstStyle/>
                    <a:p>
                      <a:r>
                        <a:rPr sz="1100">
                          <a:solidFill>
                            <a:srgbClr val="000000"/>
                          </a:solidFill>
                          <a:latin typeface="Ubuntu"/>
                        </a:rPr>
                        <a:t>Agregar archivos al almacén</a:t>
                      </a:r>
                    </a:p>
                  </a:txBody>
                  <a:tcPr marL="73152" marR="73152" anchor="ctr">
                    <a:solidFill>
                      <a:srgbClr val="D5F5E3"/>
                    </a:solidFill>
                  </a:tcPr>
                </a:tc>
                <a:extLst>
                  <a:ext uri="{0D108BD9-81ED-4DB2-BD59-A6C34878D82A}">
                    <a16:rowId xmlns:a16="http://schemas.microsoft.com/office/drawing/2014/main" val="10003"/>
                  </a:ext>
                </a:extLst>
              </a:tr>
              <a:tr h="640080">
                <a:tc>
                  <a:txBody>
                    <a:bodyPr/>
                    <a:lstStyle/>
                    <a:p>
                      <a:r>
                        <a:rPr sz="1100" b="1">
                          <a:solidFill>
                            <a:srgbClr val="1E4C7D"/>
                          </a:solidFill>
                          <a:latin typeface="Ubuntu"/>
                        </a:rPr>
                        <a:t>Cita la fuente</a:t>
                      </a:r>
                    </a:p>
                  </a:txBody>
                  <a:tcPr marL="73152" marR="73152" anchor="ctr">
                    <a:solidFill>
                      <a:srgbClr val="DDE5ED"/>
                    </a:solidFill>
                  </a:tcPr>
                </a:tc>
                <a:tc>
                  <a:txBody>
                    <a:bodyPr/>
                    <a:lstStyle/>
                    <a:p>
                      <a:r>
                        <a:rPr sz="1100">
                          <a:solidFill>
                            <a:srgbClr val="000000"/>
                          </a:solidFill>
                          <a:latin typeface="Ubuntu"/>
                        </a:rPr>
                        <a:t>No</a:t>
                      </a:r>
                    </a:p>
                  </a:txBody>
                  <a:tcPr marL="73152" marR="73152" anchor="ctr">
                    <a:solidFill>
                      <a:srgbClr val="EAF2FA"/>
                    </a:solidFill>
                  </a:tcPr>
                </a:tc>
                <a:tc>
                  <a:txBody>
                    <a:bodyPr/>
                    <a:lstStyle/>
                    <a:p>
                      <a:r>
                        <a:rPr sz="1100">
                          <a:solidFill>
                            <a:srgbClr val="000000"/>
                          </a:solidFill>
                          <a:latin typeface="Ubuntu"/>
                        </a:rPr>
                        <a:t>Difícil</a:t>
                      </a:r>
                    </a:p>
                  </a:txBody>
                  <a:tcPr marL="73152" marR="73152" anchor="ctr">
                    <a:solidFill>
                      <a:srgbClr val="EAF2FA"/>
                    </a:solidFill>
                  </a:tcPr>
                </a:tc>
                <a:tc>
                  <a:txBody>
                    <a:bodyPr/>
                    <a:lstStyle/>
                    <a:p>
                      <a:r>
                        <a:rPr sz="1100">
                          <a:solidFill>
                            <a:srgbClr val="000000"/>
                          </a:solidFill>
                          <a:latin typeface="Ubuntu"/>
                        </a:rPr>
                        <a:t>Sí: es su ventaja central</a:t>
                      </a:r>
                    </a:p>
                  </a:txBody>
                  <a:tcPr marL="73152" marR="73152" anchor="ctr">
                    <a:solidFill>
                      <a:srgbClr val="D5F5E3"/>
                    </a:solidFill>
                  </a:tcPr>
                </a:tc>
                <a:extLst>
                  <a:ext uri="{0D108BD9-81ED-4DB2-BD59-A6C34878D82A}">
                    <a16:rowId xmlns:a16="http://schemas.microsoft.com/office/drawing/2014/main" val="10004"/>
                  </a:ext>
                </a:extLst>
              </a:tr>
              <a:tr h="640080">
                <a:tc>
                  <a:txBody>
                    <a:bodyPr/>
                    <a:lstStyle/>
                    <a:p>
                      <a:r>
                        <a:rPr sz="1100" b="1">
                          <a:solidFill>
                            <a:srgbClr val="1E4C7D"/>
                          </a:solidFill>
                          <a:latin typeface="Ubuntu"/>
                        </a:rPr>
                        <a:t>Límite</a:t>
                      </a:r>
                    </a:p>
                  </a:txBody>
                  <a:tcPr marL="73152" marR="73152" anchor="ctr">
                    <a:solidFill>
                      <a:srgbClr val="DDE5ED"/>
                    </a:solidFill>
                  </a:tcPr>
                </a:tc>
                <a:tc>
                  <a:txBody>
                    <a:bodyPr/>
                    <a:lstStyle/>
                    <a:p>
                      <a:r>
                        <a:rPr sz="1100">
                          <a:solidFill>
                            <a:srgbClr val="000000"/>
                          </a:solidFill>
                          <a:latin typeface="Ubuntu"/>
                        </a:rPr>
                        <a:t>Datos que cambian cada mes</a:t>
                      </a:r>
                    </a:p>
                  </a:txBody>
                  <a:tcPr marL="73152" marR="73152" anchor="ctr">
                    <a:solidFill>
                      <a:srgbClr val="FFFFFF"/>
                    </a:solidFill>
                  </a:tcPr>
                </a:tc>
                <a:tc>
                  <a:txBody>
                    <a:bodyPr/>
                    <a:lstStyle/>
                    <a:p>
                      <a:r>
                        <a:rPr sz="1100">
                          <a:solidFill>
                            <a:srgbClr val="000000"/>
                          </a:solidFill>
                          <a:latin typeface="Ubuntu"/>
                        </a:rPr>
                        <a:t>Miles de documentos no caben</a:t>
                      </a:r>
                    </a:p>
                  </a:txBody>
                  <a:tcPr marL="73152" marR="73152" anchor="ctr">
                    <a:solidFill>
                      <a:srgbClr val="FFFFFF"/>
                    </a:solidFill>
                  </a:tcPr>
                </a:tc>
                <a:tc>
                  <a:txBody>
                    <a:bodyPr/>
                    <a:lstStyle/>
                    <a:p>
                      <a:r>
                        <a:rPr sz="1100">
                          <a:solidFill>
                            <a:srgbClr val="000000"/>
                          </a:solidFill>
                          <a:latin typeface="Ubuntu"/>
                        </a:rPr>
                        <a:t>Depende de que la búsqueda acierte</a:t>
                      </a:r>
                    </a:p>
                  </a:txBody>
                  <a:tcPr marL="73152" marR="73152" anchor="ctr">
                    <a:solidFill>
                      <a:srgbClr val="D5F5E3"/>
                    </a:solidFill>
                  </a:tcPr>
                </a:tc>
                <a:extLst>
                  <a:ext uri="{0D108BD9-81ED-4DB2-BD59-A6C34878D82A}">
                    <a16:rowId xmlns:a16="http://schemas.microsoft.com/office/drawing/2014/main" val="10005"/>
                  </a:ext>
                </a:extLst>
              </a:tr>
            </a:tbl>
          </a:graphicData>
        </a:graphic>
      </p:graphicFrame>
      <p:sp>
        <p:nvSpPr>
          <p:cNvPr id="5" name="Rectangle 4"/>
          <p:cNvSpPr/>
          <p:nvPr/>
        </p:nvSpPr>
        <p:spPr>
          <a:xfrm>
            <a:off x="274320" y="5394960"/>
            <a:ext cx="8595360" cy="1005840"/>
          </a:xfrm>
          <a:prstGeom prst="rect">
            <a:avLst/>
          </a:prstGeom>
          <a:solidFill>
            <a:srgbClr val="F0FAF0"/>
          </a:solidFill>
          <a:ln>
            <a:noFill/>
          </a:ln>
          <a:effectLst/>
        </p:spPr>
        <p:txBody>
          <a:bodyPr rtlCol="0" anchor="ctr"/>
          <a:lstStyle/>
          <a:p>
            <a:pPr algn="ctr"/>
            <a:endParaRPr/>
          </a:p>
        </p:txBody>
      </p:sp>
      <p:sp>
        <p:nvSpPr>
          <p:cNvPr id="6" name="TextBox 5"/>
          <p:cNvSpPr txBox="1"/>
          <p:nvPr/>
        </p:nvSpPr>
        <p:spPr>
          <a:xfrm>
            <a:off x="384048" y="5468112"/>
            <a:ext cx="8375904" cy="365760"/>
          </a:xfrm>
          <a:prstGeom prst="rect">
            <a:avLst/>
          </a:prstGeom>
          <a:noFill/>
        </p:spPr>
        <p:txBody>
          <a:bodyPr wrap="square" lIns="0" tIns="0" rIns="0" bIns="0">
            <a:spAutoFit/>
          </a:bodyPr>
          <a:lstStyle/>
          <a:p>
            <a:pPr algn="l"/>
            <a:r>
              <a:rPr sz="1300" b="1" i="0">
                <a:solidFill>
                  <a:srgbClr val="1A7A3A"/>
                </a:solidFill>
                <a:latin typeface="Ubuntu"/>
              </a:rPr>
              <a:t>Con 71 mañaneras el contexto largo ya no alcanza</a:t>
            </a:r>
          </a:p>
        </p:txBody>
      </p:sp>
      <p:sp>
        <p:nvSpPr>
          <p:cNvPr id="7" name="TextBox 6"/>
          <p:cNvSpPr txBox="1"/>
          <p:nvPr/>
        </p:nvSpPr>
        <p:spPr>
          <a:xfrm>
            <a:off x="384048" y="5779008"/>
            <a:ext cx="8375904" cy="548640"/>
          </a:xfrm>
          <a:prstGeom prst="rect">
            <a:avLst/>
          </a:prstGeom>
          <a:noFill/>
        </p:spPr>
        <p:txBody>
          <a:bodyPr wrap="square" lIns="0" tIns="0" rIns="0" bIns="0">
            <a:spAutoFit/>
          </a:bodyPr>
          <a:lstStyle/>
          <a:p>
            <a:pPr algn="l">
              <a:lnSpc>
                <a:spcPct val="125000"/>
              </a:lnSpc>
            </a:pPr>
            <a:r>
              <a:rPr sz="1100" b="0" i="0">
                <a:solidFill>
                  <a:srgbClr val="000000"/>
                </a:solidFill>
                <a:latin typeface="Ubuntu"/>
              </a:rPr>
              <a:t>Son 6 millones de caracteres, alrededor de 1.5 millones de tokens. Ni siquiera caben completas en los modelos comerciales, y aunque cupieran, el modelo se distrae con el ruido.</a:t>
            </a:r>
          </a:p>
        </p:txBody>
      </p:sp>
      <p:sp>
        <p:nvSpPr>
          <p:cNvPr id="8" name="TextBox 7"/>
          <p:cNvSpPr txBox="1"/>
          <p:nvPr/>
        </p:nvSpPr>
        <p:spPr>
          <a:xfrm>
            <a:off x="274320" y="6547104"/>
            <a:ext cx="6400800" cy="274320"/>
          </a:xfrm>
          <a:prstGeom prst="rect">
            <a:avLst/>
          </a:prstGeom>
          <a:noFill/>
        </p:spPr>
        <p:txBody>
          <a:bodyPr wrap="square" lIns="0" tIns="0" rIns="0" bIns="0">
            <a:spAutoFit/>
          </a:bodyPr>
          <a:lstStyle/>
          <a:p>
            <a:pPr algn="l"/>
            <a:r>
              <a:rPr sz="900" b="0" i="0">
                <a:solidFill>
                  <a:srgbClr val="555555"/>
                </a:solidFill>
                <a:latin typeface="Ubuntu"/>
              </a:rPr>
              <a:t>Elaboración propia a partir de Lewis et al. (2020).</a:t>
            </a:r>
          </a:p>
        </p:txBody>
      </p:sp>
      <p:sp>
        <p:nvSpPr>
          <p:cNvPr id="9" name="TextBox 8"/>
          <p:cNvSpPr txBox="1"/>
          <p:nvPr/>
        </p:nvSpPr>
        <p:spPr>
          <a:xfrm>
            <a:off x="6766560" y="6547104"/>
            <a:ext cx="2103120" cy="274320"/>
          </a:xfrm>
          <a:prstGeom prst="rect">
            <a:avLst/>
          </a:prstGeom>
          <a:noFill/>
        </p:spPr>
        <p:txBody>
          <a:bodyPr wrap="square" lIns="0" tIns="0" rIns="0" bIns="0">
            <a:spAutoFit/>
          </a:bodyPr>
          <a:lstStyle/>
          <a:p>
            <a:pPr algn="r"/>
            <a:r>
              <a:rPr sz="900" b="0" i="1">
                <a:solidFill>
                  <a:srgbClr val="555555"/>
                </a:solidFill>
                <a:latin typeface="Ubuntu"/>
              </a:rPr>
              <a:t>RAG con las mañaneras · 6/25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4320"/>
            <a:ext cx="9144000" cy="868680"/>
          </a:xfrm>
          <a:prstGeom prst="rect">
            <a:avLst/>
          </a:prstGeom>
          <a:solidFill>
            <a:srgbClr val="1E4C7D"/>
          </a:solidFill>
          <a:ln>
            <a:noFill/>
          </a:ln>
          <a:effectLst/>
        </p:spPr>
        <p:txBody>
          <a:bodyPr rtlCol="0" anchor="ctr"/>
          <a:lstStyle/>
          <a:p>
            <a:pPr algn="ctr"/>
            <a:endParaRPr/>
          </a:p>
        </p:txBody>
      </p:sp>
      <p:sp>
        <p:nvSpPr>
          <p:cNvPr id="3" name="TextBox 2"/>
          <p:cNvSpPr txBox="1"/>
          <p:nvPr/>
        </p:nvSpPr>
        <p:spPr>
          <a:xfrm>
            <a:off x="320040" y="274320"/>
            <a:ext cx="8503920" cy="868680"/>
          </a:xfrm>
          <a:prstGeom prst="rect">
            <a:avLst/>
          </a:prstGeom>
          <a:noFill/>
        </p:spPr>
        <p:txBody>
          <a:bodyPr wrap="square" lIns="0" tIns="0" rIns="0" bIns="0" anchor="ctr">
            <a:spAutoFit/>
          </a:bodyPr>
          <a:lstStyle/>
          <a:p>
            <a:pPr algn="l"/>
            <a:r>
              <a:rPr sz="1800" b="1" i="0">
                <a:solidFill>
                  <a:srgbClr val="FFFFFF"/>
                </a:solidFill>
                <a:latin typeface="Ubuntu"/>
              </a:rPr>
              <a:t>RAG resuelve el problema con una regla simple: buscar primero, redactar después</a:t>
            </a:r>
          </a:p>
        </p:txBody>
      </p:sp>
      <p:pic>
        <p:nvPicPr>
          <p:cNvPr id="4" name="Picture 3" descr="fig07_flujo_rag.png"/>
          <p:cNvPicPr>
            <a:picLocks noChangeAspect="1"/>
          </p:cNvPicPr>
          <p:nvPr/>
        </p:nvPicPr>
        <p:blipFill>
          <a:blip r:embed="rId2"/>
          <a:stretch>
            <a:fillRect/>
          </a:stretch>
        </p:blipFill>
        <p:spPr>
          <a:xfrm>
            <a:off x="457200" y="1280160"/>
            <a:ext cx="8229600" cy="3407330"/>
          </a:xfrm>
          <a:prstGeom prst="rect">
            <a:avLst/>
          </a:prstGeom>
        </p:spPr>
      </p:pic>
      <p:sp>
        <p:nvSpPr>
          <p:cNvPr id="5" name="Rectangle 4"/>
          <p:cNvSpPr/>
          <p:nvPr/>
        </p:nvSpPr>
        <p:spPr>
          <a:xfrm>
            <a:off x="274320" y="4709160"/>
            <a:ext cx="4251960" cy="1691640"/>
          </a:xfrm>
          <a:prstGeom prst="rect">
            <a:avLst/>
          </a:prstGeom>
          <a:solidFill>
            <a:srgbClr val="EAF2FA"/>
          </a:solidFill>
          <a:ln>
            <a:noFill/>
          </a:ln>
          <a:effectLst/>
        </p:spPr>
        <p:txBody>
          <a:bodyPr rtlCol="0" anchor="ctr"/>
          <a:lstStyle/>
          <a:p>
            <a:pPr algn="ctr"/>
            <a:endParaRPr/>
          </a:p>
        </p:txBody>
      </p:sp>
      <p:sp>
        <p:nvSpPr>
          <p:cNvPr id="6" name="TextBox 5"/>
          <p:cNvSpPr txBox="1"/>
          <p:nvPr/>
        </p:nvSpPr>
        <p:spPr>
          <a:xfrm>
            <a:off x="384048" y="4782312"/>
            <a:ext cx="4032504" cy="365760"/>
          </a:xfrm>
          <a:prstGeom prst="rect">
            <a:avLst/>
          </a:prstGeom>
          <a:noFill/>
        </p:spPr>
        <p:txBody>
          <a:bodyPr wrap="square" lIns="0" tIns="0" rIns="0" bIns="0">
            <a:spAutoFit/>
          </a:bodyPr>
          <a:lstStyle/>
          <a:p>
            <a:pPr algn="l"/>
            <a:r>
              <a:rPr sz="1300" b="1" i="0">
                <a:solidFill>
                  <a:srgbClr val="1E4C7D"/>
                </a:solidFill>
                <a:latin typeface="Ubuntu"/>
              </a:rPr>
              <a:t>RAG: generación aumentada por recuperación</a:t>
            </a:r>
          </a:p>
        </p:txBody>
      </p:sp>
      <p:sp>
        <p:nvSpPr>
          <p:cNvPr id="7" name="TextBox 6"/>
          <p:cNvSpPr txBox="1"/>
          <p:nvPr/>
        </p:nvSpPr>
        <p:spPr>
          <a:xfrm>
            <a:off x="384048" y="5093208"/>
            <a:ext cx="4032504" cy="1234440"/>
          </a:xfrm>
          <a:prstGeom prst="rect">
            <a:avLst/>
          </a:prstGeom>
          <a:noFill/>
        </p:spPr>
        <p:txBody>
          <a:bodyPr wrap="square" lIns="0" tIns="0" rIns="0" bIns="0">
            <a:spAutoFit/>
          </a:bodyPr>
          <a:lstStyle/>
          <a:p>
            <a:pPr algn="l">
              <a:lnSpc>
                <a:spcPct val="125000"/>
              </a:lnSpc>
            </a:pPr>
            <a:r>
              <a:rPr sz="1100" b="0" i="0">
                <a:solidFill>
                  <a:srgbClr val="000000"/>
                </a:solidFill>
                <a:latin typeface="Ubuntu"/>
              </a:rPr>
              <a:t>Antes de responder, el sistema busca en una colección de documentos los fragmentos relevantes y se los entrega al modelo como contexto. El modelo responde a partir de ese material, no de su memoria. El término lo acuñaron Lewis et al. (2020).</a:t>
            </a:r>
          </a:p>
        </p:txBody>
      </p:sp>
      <p:sp>
        <p:nvSpPr>
          <p:cNvPr id="8" name="Rectangle 7"/>
          <p:cNvSpPr/>
          <p:nvPr/>
        </p:nvSpPr>
        <p:spPr>
          <a:xfrm>
            <a:off x="4617720" y="4709160"/>
            <a:ext cx="4251960" cy="1691640"/>
          </a:xfrm>
          <a:prstGeom prst="rect">
            <a:avLst/>
          </a:prstGeom>
          <a:solidFill>
            <a:srgbClr val="EAF2FA"/>
          </a:solidFill>
          <a:ln>
            <a:noFill/>
          </a:ln>
          <a:effectLst/>
        </p:spPr>
        <p:txBody>
          <a:bodyPr rtlCol="0" anchor="ctr"/>
          <a:lstStyle/>
          <a:p>
            <a:pPr algn="ctr"/>
            <a:endParaRPr/>
          </a:p>
        </p:txBody>
      </p:sp>
      <p:sp>
        <p:nvSpPr>
          <p:cNvPr id="9" name="TextBox 8"/>
          <p:cNvSpPr txBox="1"/>
          <p:nvPr/>
        </p:nvSpPr>
        <p:spPr>
          <a:xfrm>
            <a:off x="4727448" y="4782312"/>
            <a:ext cx="4032504" cy="365760"/>
          </a:xfrm>
          <a:prstGeom prst="rect">
            <a:avLst/>
          </a:prstGeom>
          <a:noFill/>
        </p:spPr>
        <p:txBody>
          <a:bodyPr wrap="square" lIns="0" tIns="0" rIns="0" bIns="0">
            <a:spAutoFit/>
          </a:bodyPr>
          <a:lstStyle/>
          <a:p>
            <a:pPr algn="l"/>
            <a:r>
              <a:rPr sz="1300" b="1" i="0">
                <a:solidFill>
                  <a:srgbClr val="1E4C7D"/>
                </a:solidFill>
                <a:latin typeface="Ubuntu"/>
              </a:rPr>
              <a:t>Dos modelos, dos trabajos</a:t>
            </a:r>
          </a:p>
        </p:txBody>
      </p:sp>
      <p:sp>
        <p:nvSpPr>
          <p:cNvPr id="10" name="TextBox 9"/>
          <p:cNvSpPr txBox="1"/>
          <p:nvPr/>
        </p:nvSpPr>
        <p:spPr>
          <a:xfrm>
            <a:off x="4727448" y="5093208"/>
            <a:ext cx="4032504" cy="1234440"/>
          </a:xfrm>
          <a:prstGeom prst="rect">
            <a:avLst/>
          </a:prstGeom>
          <a:noFill/>
        </p:spPr>
        <p:txBody>
          <a:bodyPr wrap="square" lIns="0" tIns="0" rIns="0" bIns="0">
            <a:spAutoFit/>
          </a:bodyPr>
          <a:lstStyle/>
          <a:p>
            <a:pPr algn="l">
              <a:lnSpc>
                <a:spcPct val="125000"/>
              </a:lnSpc>
            </a:pPr>
            <a:r>
              <a:rPr sz="1100" b="0" i="0">
                <a:solidFill>
                  <a:srgbClr val="000000"/>
                </a:solidFill>
                <a:latin typeface="Ubuntu"/>
              </a:rPr>
              <a:t>Uno busca (el modelo de embeddings) y otro redacta (el generador). Se cambian por separado: el corpus y el índice no se tocan al cambiar de generador. Y como el material viene con fecha, la respuesta puede citar de dónde salió cada dato.</a:t>
            </a:r>
          </a:p>
        </p:txBody>
      </p:sp>
      <p:sp>
        <p:nvSpPr>
          <p:cNvPr id="11" name="TextBox 10"/>
          <p:cNvSpPr txBox="1"/>
          <p:nvPr/>
        </p:nvSpPr>
        <p:spPr>
          <a:xfrm>
            <a:off x="274320" y="6547104"/>
            <a:ext cx="6400800" cy="274320"/>
          </a:xfrm>
          <a:prstGeom prst="rect">
            <a:avLst/>
          </a:prstGeom>
          <a:noFill/>
        </p:spPr>
        <p:txBody>
          <a:bodyPr wrap="square" lIns="0" tIns="0" rIns="0" bIns="0">
            <a:spAutoFit/>
          </a:bodyPr>
          <a:lstStyle/>
          <a:p>
            <a:pPr algn="l"/>
            <a:r>
              <a:rPr sz="900" b="0" i="0">
                <a:solidFill>
                  <a:srgbClr val="555555"/>
                </a:solidFill>
                <a:latin typeface="Ubuntu"/>
              </a:rPr>
              <a:t>Fuente: Lewis et al. (2020).</a:t>
            </a:r>
          </a:p>
        </p:txBody>
      </p:sp>
      <p:sp>
        <p:nvSpPr>
          <p:cNvPr id="12" name="TextBox 11"/>
          <p:cNvSpPr txBox="1"/>
          <p:nvPr/>
        </p:nvSpPr>
        <p:spPr>
          <a:xfrm>
            <a:off x="6766560" y="6547104"/>
            <a:ext cx="2103120" cy="274320"/>
          </a:xfrm>
          <a:prstGeom prst="rect">
            <a:avLst/>
          </a:prstGeom>
          <a:noFill/>
        </p:spPr>
        <p:txBody>
          <a:bodyPr wrap="square" lIns="0" tIns="0" rIns="0" bIns="0">
            <a:spAutoFit/>
          </a:bodyPr>
          <a:lstStyle/>
          <a:p>
            <a:pPr algn="r"/>
            <a:r>
              <a:rPr sz="900" b="0" i="1">
                <a:solidFill>
                  <a:srgbClr val="555555"/>
                </a:solidFill>
                <a:latin typeface="Ubuntu"/>
              </a:rPr>
              <a:t>RAG con las mañaneras · 7/25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4320"/>
            <a:ext cx="9144000" cy="868680"/>
          </a:xfrm>
          <a:prstGeom prst="rect">
            <a:avLst/>
          </a:prstGeom>
          <a:solidFill>
            <a:srgbClr val="1E4C7D"/>
          </a:solidFill>
          <a:ln>
            <a:noFill/>
          </a:ln>
          <a:effectLst/>
        </p:spPr>
        <p:txBody>
          <a:bodyPr rtlCol="0" anchor="ctr"/>
          <a:lstStyle/>
          <a:p>
            <a:pPr algn="ctr"/>
            <a:endParaRPr/>
          </a:p>
        </p:txBody>
      </p:sp>
      <p:sp>
        <p:nvSpPr>
          <p:cNvPr id="3" name="TextBox 2"/>
          <p:cNvSpPr txBox="1"/>
          <p:nvPr/>
        </p:nvSpPr>
        <p:spPr>
          <a:xfrm>
            <a:off x="320040" y="274320"/>
            <a:ext cx="8503920" cy="868680"/>
          </a:xfrm>
          <a:prstGeom prst="rect">
            <a:avLst/>
          </a:prstGeom>
          <a:noFill/>
        </p:spPr>
        <p:txBody>
          <a:bodyPr wrap="square" lIns="0" tIns="0" rIns="0" bIns="0" anchor="ctr">
            <a:spAutoFit/>
          </a:bodyPr>
          <a:lstStyle/>
          <a:p>
            <a:pPr algn="l"/>
            <a:r>
              <a:rPr sz="1800" b="1" i="0">
                <a:solidFill>
                  <a:srgbClr val="FFFFFF"/>
                </a:solidFill>
                <a:latin typeface="Ubuntu"/>
              </a:rPr>
              <a:t>El corpus son 71 mañaneras en texto plano, con fecha y fuente, descargadas con R</a:t>
            </a:r>
          </a:p>
        </p:txBody>
      </p:sp>
      <p:pic>
        <p:nvPicPr>
          <p:cNvPr id="4" name="Picture 3" descr="fig08_corpus.png"/>
          <p:cNvPicPr>
            <a:picLocks noChangeAspect="1"/>
          </p:cNvPicPr>
          <p:nvPr/>
        </p:nvPicPr>
        <p:blipFill>
          <a:blip r:embed="rId3"/>
          <a:stretch>
            <a:fillRect/>
          </a:stretch>
        </p:blipFill>
        <p:spPr>
          <a:xfrm>
            <a:off x="274320" y="1234440"/>
            <a:ext cx="7568159" cy="3200400"/>
          </a:xfrm>
          <a:prstGeom prst="rect">
            <a:avLst/>
          </a:prstGeom>
        </p:spPr>
      </p:pic>
      <p:sp>
        <p:nvSpPr>
          <p:cNvPr id="5" name="Rectangle 4"/>
          <p:cNvSpPr/>
          <p:nvPr/>
        </p:nvSpPr>
        <p:spPr>
          <a:xfrm>
            <a:off x="274320" y="4617720"/>
            <a:ext cx="2743200" cy="1783080"/>
          </a:xfrm>
          <a:prstGeom prst="rect">
            <a:avLst/>
          </a:prstGeom>
          <a:solidFill>
            <a:srgbClr val="EAF2FA"/>
          </a:solidFill>
          <a:ln>
            <a:noFill/>
          </a:ln>
          <a:effectLst/>
        </p:spPr>
        <p:txBody>
          <a:bodyPr rtlCol="0" anchor="ctr"/>
          <a:lstStyle/>
          <a:p>
            <a:pPr algn="ctr"/>
            <a:endParaRPr/>
          </a:p>
        </p:txBody>
      </p:sp>
      <p:sp>
        <p:nvSpPr>
          <p:cNvPr id="6" name="TextBox 5"/>
          <p:cNvSpPr txBox="1"/>
          <p:nvPr/>
        </p:nvSpPr>
        <p:spPr>
          <a:xfrm>
            <a:off x="384048" y="4690872"/>
            <a:ext cx="2523744" cy="365760"/>
          </a:xfrm>
          <a:prstGeom prst="rect">
            <a:avLst/>
          </a:prstGeom>
          <a:noFill/>
        </p:spPr>
        <p:txBody>
          <a:bodyPr wrap="square" lIns="0" tIns="0" rIns="0" bIns="0">
            <a:spAutoFit/>
          </a:bodyPr>
          <a:lstStyle/>
          <a:p>
            <a:pPr algn="l"/>
            <a:r>
              <a:rPr sz="1300" b="1" i="0">
                <a:solidFill>
                  <a:srgbClr val="1E4C7D"/>
                </a:solidFill>
                <a:latin typeface="Ubuntu"/>
              </a:rPr>
              <a:t>Corpus</a:t>
            </a:r>
          </a:p>
        </p:txBody>
      </p:sp>
      <p:sp>
        <p:nvSpPr>
          <p:cNvPr id="7" name="TextBox 6"/>
          <p:cNvSpPr txBox="1"/>
          <p:nvPr/>
        </p:nvSpPr>
        <p:spPr>
          <a:xfrm>
            <a:off x="384048" y="5001768"/>
            <a:ext cx="2523744" cy="1325880"/>
          </a:xfrm>
          <a:prstGeom prst="rect">
            <a:avLst/>
          </a:prstGeom>
          <a:noFill/>
        </p:spPr>
        <p:txBody>
          <a:bodyPr wrap="square" lIns="0" tIns="0" rIns="0" bIns="0">
            <a:spAutoFit/>
          </a:bodyPr>
          <a:lstStyle/>
          <a:p>
            <a:pPr algn="l">
              <a:lnSpc>
                <a:spcPct val="125000"/>
              </a:lnSpc>
            </a:pPr>
            <a:r>
              <a:rPr sz="1050" b="0" i="0">
                <a:solidFill>
                  <a:srgbClr val="000000"/>
                </a:solidFill>
                <a:latin typeface="Ubuntu"/>
              </a:rPr>
              <a:t>El conjunto de documentos sobre los que el sistema responde: las versiones estenográficas del 1 de junio al 8 de septiembre de 2026, publicadas en gob.mx.</a:t>
            </a:r>
          </a:p>
        </p:txBody>
      </p:sp>
      <p:sp>
        <p:nvSpPr>
          <p:cNvPr id="8" name="Rectangle 7"/>
          <p:cNvSpPr/>
          <p:nvPr/>
        </p:nvSpPr>
        <p:spPr>
          <a:xfrm>
            <a:off x="3136392" y="4617720"/>
            <a:ext cx="2743200" cy="1783080"/>
          </a:xfrm>
          <a:prstGeom prst="rect">
            <a:avLst/>
          </a:prstGeom>
          <a:solidFill>
            <a:srgbClr val="EAF2FA"/>
          </a:solidFill>
          <a:ln>
            <a:noFill/>
          </a:ln>
          <a:effectLst/>
        </p:spPr>
        <p:txBody>
          <a:bodyPr rtlCol="0" anchor="ctr"/>
          <a:lstStyle/>
          <a:p>
            <a:pPr algn="ctr"/>
            <a:endParaRPr/>
          </a:p>
        </p:txBody>
      </p:sp>
      <p:sp>
        <p:nvSpPr>
          <p:cNvPr id="9" name="TextBox 8"/>
          <p:cNvSpPr txBox="1"/>
          <p:nvPr/>
        </p:nvSpPr>
        <p:spPr>
          <a:xfrm>
            <a:off x="3246120" y="4690872"/>
            <a:ext cx="2523744" cy="365760"/>
          </a:xfrm>
          <a:prstGeom prst="rect">
            <a:avLst/>
          </a:prstGeom>
          <a:noFill/>
        </p:spPr>
        <p:txBody>
          <a:bodyPr wrap="square" lIns="0" tIns="0" rIns="0" bIns="0">
            <a:spAutoFit/>
          </a:bodyPr>
          <a:lstStyle/>
          <a:p>
            <a:pPr algn="l"/>
            <a:r>
              <a:rPr sz="1300" b="1" i="0">
                <a:solidFill>
                  <a:srgbClr val="1E4C7D"/>
                </a:solidFill>
                <a:latin typeface="Ubuntu"/>
              </a:rPr>
              <a:t>Ingesta</a:t>
            </a:r>
          </a:p>
        </p:txBody>
      </p:sp>
      <p:sp>
        <p:nvSpPr>
          <p:cNvPr id="10" name="TextBox 9"/>
          <p:cNvSpPr txBox="1"/>
          <p:nvPr/>
        </p:nvSpPr>
        <p:spPr>
          <a:xfrm>
            <a:off x="3246120" y="5001768"/>
            <a:ext cx="2523744" cy="1325880"/>
          </a:xfrm>
          <a:prstGeom prst="rect">
            <a:avLst/>
          </a:prstGeom>
          <a:noFill/>
        </p:spPr>
        <p:txBody>
          <a:bodyPr wrap="square" lIns="0" tIns="0" rIns="0" bIns="0">
            <a:spAutoFit/>
          </a:bodyPr>
          <a:lstStyle/>
          <a:p>
            <a:pPr algn="l">
              <a:lnSpc>
                <a:spcPct val="125000"/>
              </a:lnSpc>
            </a:pPr>
            <a:r>
              <a:rPr sz="1050" b="0" i="0">
                <a:solidFill>
                  <a:srgbClr val="000000"/>
                </a:solidFill>
                <a:latin typeface="Ubuntu"/>
              </a:rPr>
              <a:t>Se descargó con un navegador controlado desde R (chromote), porque el sitio bloquea las descargas automáticas comunes, y el texto se extrajo con rvest.</a:t>
            </a:r>
          </a:p>
        </p:txBody>
      </p:sp>
      <p:sp>
        <p:nvSpPr>
          <p:cNvPr id="11" name="Rectangle 10"/>
          <p:cNvSpPr/>
          <p:nvPr/>
        </p:nvSpPr>
        <p:spPr>
          <a:xfrm>
            <a:off x="6007608" y="4617720"/>
            <a:ext cx="2743200" cy="1783080"/>
          </a:xfrm>
          <a:prstGeom prst="rect">
            <a:avLst/>
          </a:prstGeom>
          <a:solidFill>
            <a:srgbClr val="EAF2FA"/>
          </a:solidFill>
          <a:ln>
            <a:noFill/>
          </a:ln>
          <a:effectLst/>
        </p:spPr>
        <p:txBody>
          <a:bodyPr rtlCol="0" anchor="ctr"/>
          <a:lstStyle/>
          <a:p>
            <a:pPr algn="ctr"/>
            <a:endParaRPr/>
          </a:p>
        </p:txBody>
      </p:sp>
      <p:sp>
        <p:nvSpPr>
          <p:cNvPr id="12" name="TextBox 11"/>
          <p:cNvSpPr txBox="1"/>
          <p:nvPr/>
        </p:nvSpPr>
        <p:spPr>
          <a:xfrm>
            <a:off x="6117336" y="4690872"/>
            <a:ext cx="2523744" cy="365760"/>
          </a:xfrm>
          <a:prstGeom prst="rect">
            <a:avLst/>
          </a:prstGeom>
          <a:noFill/>
        </p:spPr>
        <p:txBody>
          <a:bodyPr wrap="square" lIns="0" tIns="0" rIns="0" bIns="0">
            <a:spAutoFit/>
          </a:bodyPr>
          <a:lstStyle/>
          <a:p>
            <a:pPr algn="l"/>
            <a:r>
              <a:rPr sz="1300" b="1" i="0">
                <a:solidFill>
                  <a:srgbClr val="1E4C7D"/>
                </a:solidFill>
                <a:latin typeface="Ubuntu"/>
              </a:rPr>
              <a:t>Metadatos</a:t>
            </a:r>
          </a:p>
        </p:txBody>
      </p:sp>
      <p:sp>
        <p:nvSpPr>
          <p:cNvPr id="13" name="TextBox 12"/>
          <p:cNvSpPr txBox="1"/>
          <p:nvPr/>
        </p:nvSpPr>
        <p:spPr>
          <a:xfrm>
            <a:off x="6117336" y="5001768"/>
            <a:ext cx="2523744" cy="1325880"/>
          </a:xfrm>
          <a:prstGeom prst="rect">
            <a:avLst/>
          </a:prstGeom>
          <a:noFill/>
        </p:spPr>
        <p:txBody>
          <a:bodyPr wrap="square" lIns="0" tIns="0" rIns="0" bIns="0">
            <a:spAutoFit/>
          </a:bodyPr>
          <a:lstStyle/>
          <a:p>
            <a:pPr algn="l">
              <a:lnSpc>
                <a:spcPct val="125000"/>
              </a:lnSpc>
            </a:pPr>
            <a:r>
              <a:rPr sz="1050" b="0" i="0">
                <a:solidFill>
                  <a:srgbClr val="000000"/>
                </a:solidFill>
                <a:latin typeface="Ubuntu"/>
              </a:rPr>
              <a:t>Cada archivo conserva título, fecha y URL, y un párrafo por turno de palabra con el orador en mayúsculas. Son lo que permite filtrar y citar.</a:t>
            </a:r>
          </a:p>
        </p:txBody>
      </p:sp>
      <p:sp>
        <p:nvSpPr>
          <p:cNvPr id="14" name="TextBox 13"/>
          <p:cNvSpPr txBox="1"/>
          <p:nvPr/>
        </p:nvSpPr>
        <p:spPr>
          <a:xfrm>
            <a:off x="274320" y="6547104"/>
            <a:ext cx="6400800" cy="274320"/>
          </a:xfrm>
          <a:prstGeom prst="rect">
            <a:avLst/>
          </a:prstGeom>
          <a:noFill/>
        </p:spPr>
        <p:txBody>
          <a:bodyPr wrap="square" lIns="0" tIns="0" rIns="0" bIns="0">
            <a:spAutoFit/>
          </a:bodyPr>
          <a:lstStyle/>
          <a:p>
            <a:pPr algn="l"/>
            <a:r>
              <a:rPr sz="900" b="0" i="0">
                <a:solidFill>
                  <a:srgbClr val="555555"/>
                </a:solidFill>
                <a:latin typeface="Ubuntu"/>
              </a:rPr>
              <a:t>Fuente: Presidencia de la República, versiones estenográficas (gob.mx). Cálculos propios.</a:t>
            </a:r>
          </a:p>
        </p:txBody>
      </p:sp>
      <p:sp>
        <p:nvSpPr>
          <p:cNvPr id="15" name="TextBox 14"/>
          <p:cNvSpPr txBox="1"/>
          <p:nvPr/>
        </p:nvSpPr>
        <p:spPr>
          <a:xfrm>
            <a:off x="6766560" y="6547104"/>
            <a:ext cx="2103120" cy="274320"/>
          </a:xfrm>
          <a:prstGeom prst="rect">
            <a:avLst/>
          </a:prstGeom>
          <a:noFill/>
        </p:spPr>
        <p:txBody>
          <a:bodyPr wrap="square" lIns="0" tIns="0" rIns="0" bIns="0">
            <a:spAutoFit/>
          </a:bodyPr>
          <a:lstStyle/>
          <a:p>
            <a:pPr algn="r"/>
            <a:r>
              <a:rPr sz="900" b="0" i="1">
                <a:solidFill>
                  <a:srgbClr val="555555"/>
                </a:solidFill>
                <a:latin typeface="Ubuntu"/>
              </a:rPr>
              <a:t>RAG con las mañaneras · 8/25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4320"/>
            <a:ext cx="9144000" cy="868680"/>
          </a:xfrm>
          <a:prstGeom prst="rect">
            <a:avLst/>
          </a:prstGeom>
          <a:solidFill>
            <a:srgbClr val="1E4C7D"/>
          </a:solidFill>
          <a:ln>
            <a:noFill/>
          </a:ln>
          <a:effectLst/>
        </p:spPr>
        <p:txBody>
          <a:bodyPr rtlCol="0" anchor="ctr"/>
          <a:lstStyle/>
          <a:p>
            <a:pPr algn="ctr"/>
            <a:endParaRPr/>
          </a:p>
        </p:txBody>
      </p:sp>
      <p:sp>
        <p:nvSpPr>
          <p:cNvPr id="3" name="TextBox 2"/>
          <p:cNvSpPr txBox="1"/>
          <p:nvPr/>
        </p:nvSpPr>
        <p:spPr>
          <a:xfrm>
            <a:off x="320040" y="274320"/>
            <a:ext cx="8503920" cy="868680"/>
          </a:xfrm>
          <a:prstGeom prst="rect">
            <a:avLst/>
          </a:prstGeom>
          <a:noFill/>
        </p:spPr>
        <p:txBody>
          <a:bodyPr wrap="square" lIns="0" tIns="0" rIns="0" bIns="0" anchor="ctr">
            <a:spAutoFit/>
          </a:bodyPr>
          <a:lstStyle/>
          <a:p>
            <a:pPr algn="l"/>
            <a:r>
              <a:rPr sz="1800" b="1" i="0">
                <a:solidFill>
                  <a:srgbClr val="FFFFFF"/>
                </a:solidFill>
                <a:latin typeface="Ubuntu"/>
              </a:rPr>
              <a:t>Una mañanera no cabe en el modelo ni conviene que quepa: se parte en fragmentos</a:t>
            </a:r>
          </a:p>
        </p:txBody>
      </p:sp>
      <p:pic>
        <p:nvPicPr>
          <p:cNvPr id="4" name="Picture 3" descr="fig09_fragmentacion.png"/>
          <p:cNvPicPr>
            <a:picLocks noChangeAspect="1"/>
          </p:cNvPicPr>
          <p:nvPr/>
        </p:nvPicPr>
        <p:blipFill>
          <a:blip r:embed="rId2"/>
          <a:stretch>
            <a:fillRect/>
          </a:stretch>
        </p:blipFill>
        <p:spPr>
          <a:xfrm>
            <a:off x="457200" y="1280160"/>
            <a:ext cx="8229600" cy="2523948"/>
          </a:xfrm>
          <a:prstGeom prst="rect">
            <a:avLst/>
          </a:prstGeom>
        </p:spPr>
      </p:pic>
      <p:sp>
        <p:nvSpPr>
          <p:cNvPr id="5" name="Rectangle 4"/>
          <p:cNvSpPr/>
          <p:nvPr/>
        </p:nvSpPr>
        <p:spPr>
          <a:xfrm>
            <a:off x="274320" y="3931920"/>
            <a:ext cx="2743200" cy="2468880"/>
          </a:xfrm>
          <a:prstGeom prst="rect">
            <a:avLst/>
          </a:prstGeom>
          <a:solidFill>
            <a:srgbClr val="EAF2FA"/>
          </a:solidFill>
          <a:ln>
            <a:noFill/>
          </a:ln>
          <a:effectLst/>
        </p:spPr>
        <p:txBody>
          <a:bodyPr rtlCol="0" anchor="ctr"/>
          <a:lstStyle/>
          <a:p>
            <a:pPr algn="ctr"/>
            <a:endParaRPr/>
          </a:p>
        </p:txBody>
      </p:sp>
      <p:sp>
        <p:nvSpPr>
          <p:cNvPr id="6" name="TextBox 5"/>
          <p:cNvSpPr txBox="1"/>
          <p:nvPr/>
        </p:nvSpPr>
        <p:spPr>
          <a:xfrm>
            <a:off x="384048" y="4005072"/>
            <a:ext cx="2523744" cy="365760"/>
          </a:xfrm>
          <a:prstGeom prst="rect">
            <a:avLst/>
          </a:prstGeom>
          <a:noFill/>
        </p:spPr>
        <p:txBody>
          <a:bodyPr wrap="square" lIns="0" tIns="0" rIns="0" bIns="0">
            <a:spAutoFit/>
          </a:bodyPr>
          <a:lstStyle/>
          <a:p>
            <a:pPr algn="l"/>
            <a:r>
              <a:rPr sz="1300" b="1" i="0">
                <a:solidFill>
                  <a:srgbClr val="1E4C7D"/>
                </a:solidFill>
                <a:latin typeface="Ubuntu"/>
              </a:rPr>
              <a:t>Por qué fragmentar</a:t>
            </a:r>
          </a:p>
        </p:txBody>
      </p:sp>
      <p:sp>
        <p:nvSpPr>
          <p:cNvPr id="7" name="TextBox 6"/>
          <p:cNvSpPr txBox="1"/>
          <p:nvPr/>
        </p:nvSpPr>
        <p:spPr>
          <a:xfrm>
            <a:off x="384048" y="4315968"/>
            <a:ext cx="2523744" cy="2011680"/>
          </a:xfrm>
          <a:prstGeom prst="rect">
            <a:avLst/>
          </a:prstGeom>
          <a:noFill/>
        </p:spPr>
        <p:txBody>
          <a:bodyPr wrap="square" lIns="0" tIns="0" rIns="0" bIns="0">
            <a:spAutoFit/>
          </a:bodyPr>
          <a:lstStyle/>
          <a:p>
            <a:pPr algn="l">
              <a:lnSpc>
                <a:spcPct val="125000"/>
              </a:lnSpc>
            </a:pPr>
            <a:r>
              <a:rPr sz="1150" b="0" i="0">
                <a:solidFill>
                  <a:srgbClr val="000000"/>
                </a:solidFill>
                <a:latin typeface="Ubuntu"/>
              </a:rPr>
              <a:t>El modelo de embeddings tiene un límite de entrada. Un vector resume todo el texto que recibe: si habla de diez temas, no se parece a ninguna pregunta. Y el generador solo puede leer unos pocos fragmentos a la vez.</a:t>
            </a:r>
          </a:p>
        </p:txBody>
      </p:sp>
      <p:sp>
        <p:nvSpPr>
          <p:cNvPr id="8" name="Rectangle 7"/>
          <p:cNvSpPr/>
          <p:nvPr/>
        </p:nvSpPr>
        <p:spPr>
          <a:xfrm>
            <a:off x="3136392" y="3931920"/>
            <a:ext cx="2743200" cy="2468880"/>
          </a:xfrm>
          <a:prstGeom prst="rect">
            <a:avLst/>
          </a:prstGeom>
          <a:solidFill>
            <a:srgbClr val="EAF2FA"/>
          </a:solidFill>
          <a:ln>
            <a:noFill/>
          </a:ln>
          <a:effectLst/>
        </p:spPr>
        <p:txBody>
          <a:bodyPr rtlCol="0" anchor="ctr"/>
          <a:lstStyle/>
          <a:p>
            <a:pPr algn="ctr"/>
            <a:endParaRPr/>
          </a:p>
        </p:txBody>
      </p:sp>
      <p:sp>
        <p:nvSpPr>
          <p:cNvPr id="9" name="TextBox 8"/>
          <p:cNvSpPr txBox="1"/>
          <p:nvPr/>
        </p:nvSpPr>
        <p:spPr>
          <a:xfrm>
            <a:off x="3246120" y="4005072"/>
            <a:ext cx="2523744" cy="365760"/>
          </a:xfrm>
          <a:prstGeom prst="rect">
            <a:avLst/>
          </a:prstGeom>
          <a:noFill/>
        </p:spPr>
        <p:txBody>
          <a:bodyPr wrap="square" lIns="0" tIns="0" rIns="0" bIns="0">
            <a:spAutoFit/>
          </a:bodyPr>
          <a:lstStyle/>
          <a:p>
            <a:pPr algn="l"/>
            <a:r>
              <a:rPr sz="1300" b="1" i="0">
                <a:solidFill>
                  <a:srgbClr val="1E4C7D"/>
                </a:solidFill>
                <a:latin typeface="Ubuntu"/>
              </a:rPr>
              <a:t>Tamaño y traslape</a:t>
            </a:r>
          </a:p>
        </p:txBody>
      </p:sp>
      <p:sp>
        <p:nvSpPr>
          <p:cNvPr id="10" name="TextBox 9"/>
          <p:cNvSpPr txBox="1"/>
          <p:nvPr/>
        </p:nvSpPr>
        <p:spPr>
          <a:xfrm>
            <a:off x="3246120" y="4315968"/>
            <a:ext cx="2523744" cy="2011680"/>
          </a:xfrm>
          <a:prstGeom prst="rect">
            <a:avLst/>
          </a:prstGeom>
          <a:noFill/>
        </p:spPr>
        <p:txBody>
          <a:bodyPr wrap="square" lIns="0" tIns="0" rIns="0" bIns="0">
            <a:spAutoFit/>
          </a:bodyPr>
          <a:lstStyle/>
          <a:p>
            <a:pPr algn="l">
              <a:lnSpc>
                <a:spcPct val="125000"/>
              </a:lnSpc>
            </a:pPr>
            <a:r>
              <a:rPr sz="1150" b="0" i="0">
                <a:solidFill>
                  <a:srgbClr val="000000"/>
                </a:solidFill>
                <a:latin typeface="Ubuntu"/>
              </a:rPr>
              <a:t>Tamaño objetivo de 1,600 caracteres (unos 400 tokens) en el programa. Traslape de 25 %: cada fragmento repite el último cuarto del anterior para que ninguna idea quede partida en la frontera.</a:t>
            </a:r>
          </a:p>
        </p:txBody>
      </p:sp>
      <p:sp>
        <p:nvSpPr>
          <p:cNvPr id="11" name="Rectangle 10"/>
          <p:cNvSpPr/>
          <p:nvPr/>
        </p:nvSpPr>
        <p:spPr>
          <a:xfrm>
            <a:off x="6007608" y="3931920"/>
            <a:ext cx="2743200" cy="2468880"/>
          </a:xfrm>
          <a:prstGeom prst="rect">
            <a:avLst/>
          </a:prstGeom>
          <a:solidFill>
            <a:srgbClr val="EAF2FA"/>
          </a:solidFill>
          <a:ln>
            <a:noFill/>
          </a:ln>
          <a:effectLst/>
        </p:spPr>
        <p:txBody>
          <a:bodyPr rtlCol="0" anchor="ctr"/>
          <a:lstStyle/>
          <a:p>
            <a:pPr algn="ctr"/>
            <a:endParaRPr/>
          </a:p>
        </p:txBody>
      </p:sp>
      <p:sp>
        <p:nvSpPr>
          <p:cNvPr id="12" name="TextBox 11"/>
          <p:cNvSpPr txBox="1"/>
          <p:nvPr/>
        </p:nvSpPr>
        <p:spPr>
          <a:xfrm>
            <a:off x="6117336" y="4005072"/>
            <a:ext cx="2523744" cy="365760"/>
          </a:xfrm>
          <a:prstGeom prst="rect">
            <a:avLst/>
          </a:prstGeom>
          <a:noFill/>
        </p:spPr>
        <p:txBody>
          <a:bodyPr wrap="square" lIns="0" tIns="0" rIns="0" bIns="0">
            <a:spAutoFit/>
          </a:bodyPr>
          <a:lstStyle/>
          <a:p>
            <a:pPr algn="l"/>
            <a:r>
              <a:rPr sz="1300" b="1" i="0">
                <a:solidFill>
                  <a:srgbClr val="1E4C7D"/>
                </a:solidFill>
                <a:latin typeface="Ubuntu"/>
              </a:rPr>
              <a:t>Dónde cortar</a:t>
            </a:r>
          </a:p>
        </p:txBody>
      </p:sp>
      <p:sp>
        <p:nvSpPr>
          <p:cNvPr id="13" name="TextBox 12"/>
          <p:cNvSpPr txBox="1"/>
          <p:nvPr/>
        </p:nvSpPr>
        <p:spPr>
          <a:xfrm>
            <a:off x="6117336" y="4315968"/>
            <a:ext cx="2523744" cy="2011680"/>
          </a:xfrm>
          <a:prstGeom prst="rect">
            <a:avLst/>
          </a:prstGeom>
          <a:noFill/>
        </p:spPr>
        <p:txBody>
          <a:bodyPr wrap="square" lIns="0" tIns="0" rIns="0" bIns="0">
            <a:spAutoFit/>
          </a:bodyPr>
          <a:lstStyle/>
          <a:p>
            <a:pPr algn="l">
              <a:lnSpc>
                <a:spcPct val="125000"/>
              </a:lnSpc>
            </a:pPr>
            <a:r>
              <a:rPr sz="1150" b="0" i="0">
                <a:solidFill>
                  <a:srgbClr val="000000"/>
                </a:solidFill>
                <a:latin typeface="Ubuntu"/>
              </a:rPr>
              <a:t>ragnar mueve cada corte al límite de párrafo más cercano. Como cada párrafo es un turno de palabra, los fragmentos rara vez separan al orador de lo que dijo.</a:t>
            </a:r>
          </a:p>
        </p:txBody>
      </p:sp>
      <p:sp>
        <p:nvSpPr>
          <p:cNvPr id="14" name="TextBox 13"/>
          <p:cNvSpPr txBox="1"/>
          <p:nvPr/>
        </p:nvSpPr>
        <p:spPr>
          <a:xfrm>
            <a:off x="274320" y="6547104"/>
            <a:ext cx="6400800" cy="274320"/>
          </a:xfrm>
          <a:prstGeom prst="rect">
            <a:avLst/>
          </a:prstGeom>
          <a:noFill/>
        </p:spPr>
        <p:txBody>
          <a:bodyPr wrap="square" lIns="0" tIns="0" rIns="0" bIns="0">
            <a:spAutoFit/>
          </a:bodyPr>
          <a:lstStyle/>
          <a:p>
            <a:pPr algn="l"/>
            <a:r>
              <a:rPr sz="900" b="0" i="0">
                <a:solidFill>
                  <a:srgbClr val="555555"/>
                </a:solidFill>
                <a:latin typeface="Ubuntu"/>
              </a:rPr>
              <a:t>Fuente: mañanera del 14 de julio de 2026; ragnar 0.3.0 con tamaño objetivo 500 y traslape 25 % (escala reducida para la figura).</a:t>
            </a:r>
          </a:p>
        </p:txBody>
      </p:sp>
      <p:sp>
        <p:nvSpPr>
          <p:cNvPr id="15" name="TextBox 14"/>
          <p:cNvSpPr txBox="1"/>
          <p:nvPr/>
        </p:nvSpPr>
        <p:spPr>
          <a:xfrm>
            <a:off x="6766560" y="6547104"/>
            <a:ext cx="2103120" cy="274320"/>
          </a:xfrm>
          <a:prstGeom prst="rect">
            <a:avLst/>
          </a:prstGeom>
          <a:noFill/>
        </p:spPr>
        <p:txBody>
          <a:bodyPr wrap="square" lIns="0" tIns="0" rIns="0" bIns="0">
            <a:spAutoFit/>
          </a:bodyPr>
          <a:lstStyle/>
          <a:p>
            <a:pPr algn="r"/>
            <a:r>
              <a:rPr sz="900" b="0" i="1">
                <a:solidFill>
                  <a:srgbClr val="555555"/>
                </a:solidFill>
                <a:latin typeface="Ubuntu"/>
              </a:rPr>
              <a:t>RAG con las mañaneras · 9/25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4320"/>
            <a:ext cx="9144000" cy="868680"/>
          </a:xfrm>
          <a:prstGeom prst="rect">
            <a:avLst/>
          </a:prstGeom>
          <a:solidFill>
            <a:srgbClr val="1E4C7D"/>
          </a:solidFill>
          <a:ln>
            <a:noFill/>
          </a:ln>
          <a:effectLst/>
        </p:spPr>
        <p:txBody>
          <a:bodyPr rtlCol="0" anchor="ctr"/>
          <a:lstStyle/>
          <a:p>
            <a:pPr algn="ctr"/>
            <a:endParaRPr/>
          </a:p>
        </p:txBody>
      </p:sp>
      <p:sp>
        <p:nvSpPr>
          <p:cNvPr id="3" name="TextBox 2"/>
          <p:cNvSpPr txBox="1"/>
          <p:nvPr/>
        </p:nvSpPr>
        <p:spPr>
          <a:xfrm>
            <a:off x="320040" y="274320"/>
            <a:ext cx="8503920" cy="868680"/>
          </a:xfrm>
          <a:prstGeom prst="rect">
            <a:avLst/>
          </a:prstGeom>
          <a:noFill/>
        </p:spPr>
        <p:txBody>
          <a:bodyPr wrap="square" lIns="0" tIns="0" rIns="0" bIns="0" anchor="ctr">
            <a:spAutoFit/>
          </a:bodyPr>
          <a:lstStyle/>
          <a:p>
            <a:pPr algn="l"/>
            <a:r>
              <a:rPr sz="1800" b="1" i="0">
                <a:solidFill>
                  <a:srgbClr val="FFFFFF"/>
                </a:solidFill>
                <a:latin typeface="Ubuntu"/>
              </a:rPr>
              <a:t>Con 1,600 caracteres y 25 % de traslape, 26 mañaneras se convierten en 1,824 fragmentos</a:t>
            </a:r>
          </a:p>
        </p:txBody>
      </p:sp>
      <p:pic>
        <p:nvPicPr>
          <p:cNvPr id="4" name="Picture 3" descr="fig10_tamanos.png"/>
          <p:cNvPicPr>
            <a:picLocks noChangeAspect="1"/>
          </p:cNvPicPr>
          <p:nvPr/>
        </p:nvPicPr>
        <p:blipFill>
          <a:blip r:embed="rId2"/>
          <a:stretch>
            <a:fillRect/>
          </a:stretch>
        </p:blipFill>
        <p:spPr>
          <a:xfrm>
            <a:off x="274320" y="1371600"/>
            <a:ext cx="4546033" cy="2743200"/>
          </a:xfrm>
          <a:prstGeom prst="rect">
            <a:avLst/>
          </a:prstGeom>
        </p:spPr>
      </p:pic>
      <p:sp>
        <p:nvSpPr>
          <p:cNvPr id="5" name="Rectangle 4"/>
          <p:cNvSpPr/>
          <p:nvPr/>
        </p:nvSpPr>
        <p:spPr>
          <a:xfrm>
            <a:off x="5029200" y="1371600"/>
            <a:ext cx="3840480" cy="1554480"/>
          </a:xfrm>
          <a:prstGeom prst="rect">
            <a:avLst/>
          </a:prstGeom>
          <a:solidFill>
            <a:srgbClr val="FADBD8"/>
          </a:solidFill>
          <a:ln>
            <a:noFill/>
          </a:ln>
          <a:effectLst/>
        </p:spPr>
        <p:txBody>
          <a:bodyPr rtlCol="0" anchor="ctr"/>
          <a:lstStyle/>
          <a:p>
            <a:pPr algn="ctr"/>
            <a:endParaRPr/>
          </a:p>
        </p:txBody>
      </p:sp>
      <p:sp>
        <p:nvSpPr>
          <p:cNvPr id="6" name="TextBox 5"/>
          <p:cNvSpPr txBox="1"/>
          <p:nvPr/>
        </p:nvSpPr>
        <p:spPr>
          <a:xfrm>
            <a:off x="5138928" y="1444752"/>
            <a:ext cx="3621024" cy="365760"/>
          </a:xfrm>
          <a:prstGeom prst="rect">
            <a:avLst/>
          </a:prstGeom>
          <a:noFill/>
        </p:spPr>
        <p:txBody>
          <a:bodyPr wrap="square" lIns="0" tIns="0" rIns="0" bIns="0">
            <a:spAutoFit/>
          </a:bodyPr>
          <a:lstStyle/>
          <a:p>
            <a:pPr algn="l"/>
            <a:r>
              <a:rPr sz="1300" b="1" i="0">
                <a:solidFill>
                  <a:srgbClr val="C0392B"/>
                </a:solidFill>
                <a:latin typeface="Ubuntu"/>
              </a:rPr>
              <a:t>Chicos (800): 3,644 fragmentos</a:t>
            </a:r>
          </a:p>
        </p:txBody>
      </p:sp>
      <p:sp>
        <p:nvSpPr>
          <p:cNvPr id="7" name="TextBox 6"/>
          <p:cNvSpPr txBox="1"/>
          <p:nvPr/>
        </p:nvSpPr>
        <p:spPr>
          <a:xfrm>
            <a:off x="5138928" y="1755648"/>
            <a:ext cx="3621024" cy="1097280"/>
          </a:xfrm>
          <a:prstGeom prst="rect">
            <a:avLst/>
          </a:prstGeom>
          <a:noFill/>
        </p:spPr>
        <p:txBody>
          <a:bodyPr wrap="square" lIns="0" tIns="0" rIns="0" bIns="0">
            <a:spAutoFit/>
          </a:bodyPr>
          <a:lstStyle/>
          <a:p>
            <a:pPr algn="l">
              <a:lnSpc>
                <a:spcPct val="125000"/>
              </a:lnSpc>
            </a:pPr>
            <a:r>
              <a:rPr sz="1050" b="0" i="0">
                <a:solidFill>
                  <a:srgbClr val="000000"/>
                </a:solidFill>
                <a:latin typeface="Ubuntu"/>
              </a:rPr>
              <a:t>Vectores más precisos, pero una cifra puede quedar separada de la oración que la explica. El doble de fragmentos que embeber.</a:t>
            </a:r>
          </a:p>
        </p:txBody>
      </p:sp>
      <p:sp>
        <p:nvSpPr>
          <p:cNvPr id="8" name="Rectangle 7"/>
          <p:cNvSpPr/>
          <p:nvPr/>
        </p:nvSpPr>
        <p:spPr>
          <a:xfrm>
            <a:off x="5029200" y="3063240"/>
            <a:ext cx="3840480" cy="1554480"/>
          </a:xfrm>
          <a:prstGeom prst="rect">
            <a:avLst/>
          </a:prstGeom>
          <a:solidFill>
            <a:srgbClr val="D5F5E3"/>
          </a:solidFill>
          <a:ln>
            <a:noFill/>
          </a:ln>
          <a:effectLst/>
        </p:spPr>
        <p:txBody>
          <a:bodyPr rtlCol="0" anchor="ctr"/>
          <a:lstStyle/>
          <a:p>
            <a:pPr algn="ctr"/>
            <a:endParaRPr/>
          </a:p>
        </p:txBody>
      </p:sp>
      <p:sp>
        <p:nvSpPr>
          <p:cNvPr id="9" name="TextBox 8"/>
          <p:cNvSpPr txBox="1"/>
          <p:nvPr/>
        </p:nvSpPr>
        <p:spPr>
          <a:xfrm>
            <a:off x="5138928" y="3136392"/>
            <a:ext cx="3621024" cy="365760"/>
          </a:xfrm>
          <a:prstGeom prst="rect">
            <a:avLst/>
          </a:prstGeom>
          <a:noFill/>
        </p:spPr>
        <p:txBody>
          <a:bodyPr wrap="square" lIns="0" tIns="0" rIns="0" bIns="0">
            <a:spAutoFit/>
          </a:bodyPr>
          <a:lstStyle/>
          <a:p>
            <a:pPr algn="l"/>
            <a:r>
              <a:rPr sz="1300" b="1" i="0">
                <a:solidFill>
                  <a:srgbClr val="1A7A3A"/>
                </a:solidFill>
                <a:latin typeface="Ubuntu"/>
              </a:rPr>
              <a:t>Medianos (1,600): 1,824</a:t>
            </a:r>
          </a:p>
        </p:txBody>
      </p:sp>
      <p:sp>
        <p:nvSpPr>
          <p:cNvPr id="10" name="TextBox 9"/>
          <p:cNvSpPr txBox="1"/>
          <p:nvPr/>
        </p:nvSpPr>
        <p:spPr>
          <a:xfrm>
            <a:off x="5138928" y="3447288"/>
            <a:ext cx="3621024" cy="1097280"/>
          </a:xfrm>
          <a:prstGeom prst="rect">
            <a:avLst/>
          </a:prstGeom>
          <a:noFill/>
        </p:spPr>
        <p:txBody>
          <a:bodyPr wrap="square" lIns="0" tIns="0" rIns="0" bIns="0">
            <a:spAutoFit/>
          </a:bodyPr>
          <a:lstStyle/>
          <a:p>
            <a:pPr algn="l">
              <a:lnSpc>
                <a:spcPct val="125000"/>
              </a:lnSpc>
            </a:pPr>
            <a:r>
              <a:rPr sz="1050" b="0" i="0">
                <a:solidFill>
                  <a:srgbClr val="000000"/>
                </a:solidFill>
                <a:latin typeface="Ubuntu"/>
              </a:rPr>
              <a:t>El punto de partida del script: unos 70 por mañanera. Cabe un turno de palabra completo.</a:t>
            </a:r>
          </a:p>
        </p:txBody>
      </p:sp>
      <p:sp>
        <p:nvSpPr>
          <p:cNvPr id="11" name="Rectangle 10"/>
          <p:cNvSpPr/>
          <p:nvPr/>
        </p:nvSpPr>
        <p:spPr>
          <a:xfrm>
            <a:off x="5029200" y="4754880"/>
            <a:ext cx="3840480" cy="1554480"/>
          </a:xfrm>
          <a:prstGeom prst="rect">
            <a:avLst/>
          </a:prstGeom>
          <a:solidFill>
            <a:srgbClr val="FADBD8"/>
          </a:solidFill>
          <a:ln>
            <a:noFill/>
          </a:ln>
          <a:effectLst/>
        </p:spPr>
        <p:txBody>
          <a:bodyPr rtlCol="0" anchor="ctr"/>
          <a:lstStyle/>
          <a:p>
            <a:pPr algn="ctr"/>
            <a:endParaRPr/>
          </a:p>
        </p:txBody>
      </p:sp>
      <p:sp>
        <p:nvSpPr>
          <p:cNvPr id="12" name="TextBox 11"/>
          <p:cNvSpPr txBox="1"/>
          <p:nvPr/>
        </p:nvSpPr>
        <p:spPr>
          <a:xfrm>
            <a:off x="5138928" y="4828032"/>
            <a:ext cx="3621024" cy="365760"/>
          </a:xfrm>
          <a:prstGeom prst="rect">
            <a:avLst/>
          </a:prstGeom>
          <a:noFill/>
        </p:spPr>
        <p:txBody>
          <a:bodyPr wrap="square" lIns="0" tIns="0" rIns="0" bIns="0">
            <a:spAutoFit/>
          </a:bodyPr>
          <a:lstStyle/>
          <a:p>
            <a:pPr algn="l"/>
            <a:r>
              <a:rPr sz="1300" b="1" i="0">
                <a:solidFill>
                  <a:srgbClr val="C0392B"/>
                </a:solidFill>
                <a:latin typeface="Ubuntu"/>
              </a:rPr>
              <a:t>Grandes (3,200): 915</a:t>
            </a:r>
          </a:p>
        </p:txBody>
      </p:sp>
      <p:sp>
        <p:nvSpPr>
          <p:cNvPr id="13" name="TextBox 12"/>
          <p:cNvSpPr txBox="1"/>
          <p:nvPr/>
        </p:nvSpPr>
        <p:spPr>
          <a:xfrm>
            <a:off x="5138928" y="5138928"/>
            <a:ext cx="3621024" cy="1097280"/>
          </a:xfrm>
          <a:prstGeom prst="rect">
            <a:avLst/>
          </a:prstGeom>
          <a:noFill/>
        </p:spPr>
        <p:txBody>
          <a:bodyPr wrap="square" lIns="0" tIns="0" rIns="0" bIns="0">
            <a:spAutoFit/>
          </a:bodyPr>
          <a:lstStyle/>
          <a:p>
            <a:pPr algn="l">
              <a:lnSpc>
                <a:spcPct val="125000"/>
              </a:lnSpc>
            </a:pPr>
            <a:r>
              <a:rPr sz="1050" b="0" i="0">
                <a:solidFill>
                  <a:srgbClr val="000000"/>
                </a:solidFill>
                <a:latin typeface="Ubuntu"/>
              </a:rPr>
              <a:t>Conservan el argumento entero, pero diluyen el significado y llenan la ventana del generador con dos o tres.</a:t>
            </a:r>
          </a:p>
        </p:txBody>
      </p:sp>
      <p:sp>
        <p:nvSpPr>
          <p:cNvPr id="14" name="TextBox 13"/>
          <p:cNvSpPr txBox="1"/>
          <p:nvPr/>
        </p:nvSpPr>
        <p:spPr>
          <a:xfrm>
            <a:off x="274320" y="4937760"/>
            <a:ext cx="4572000" cy="1280160"/>
          </a:xfrm>
          <a:prstGeom prst="rect">
            <a:avLst/>
          </a:prstGeom>
          <a:noFill/>
        </p:spPr>
        <p:txBody>
          <a:bodyPr wrap="square" lIns="0" tIns="0" rIns="0" bIns="0">
            <a:spAutoFit/>
          </a:bodyPr>
          <a:lstStyle/>
          <a:p>
            <a:pPr algn="l">
              <a:lnSpc>
                <a:spcPct val="130000"/>
              </a:lnSpc>
            </a:pPr>
            <a:r>
              <a:rPr sz="1100" b="0" i="1">
                <a:solidFill>
                  <a:srgbClr val="555555"/>
                </a:solidFill>
                <a:latin typeface="Ubuntu"/>
              </a:rPr>
              <a:t>Es el primer parámetro que se ajusta en cualquier proyecto de RAG. No hay un valor correcto universal: depende de cómo están escritos los documentos.</a:t>
            </a:r>
          </a:p>
        </p:txBody>
      </p:sp>
      <p:sp>
        <p:nvSpPr>
          <p:cNvPr id="15" name="TextBox 14"/>
          <p:cNvSpPr txBox="1"/>
          <p:nvPr/>
        </p:nvSpPr>
        <p:spPr>
          <a:xfrm>
            <a:off x="274320" y="6547104"/>
            <a:ext cx="6400800" cy="274320"/>
          </a:xfrm>
          <a:prstGeom prst="rect">
            <a:avLst/>
          </a:prstGeom>
          <a:noFill/>
        </p:spPr>
        <p:txBody>
          <a:bodyPr wrap="square" lIns="0" tIns="0" rIns="0" bIns="0">
            <a:spAutoFit/>
          </a:bodyPr>
          <a:lstStyle/>
          <a:p>
            <a:pPr algn="l"/>
            <a:r>
              <a:rPr sz="900" b="0" i="0">
                <a:solidFill>
                  <a:srgbClr val="555555"/>
                </a:solidFill>
                <a:latin typeface="Ubuntu"/>
              </a:rPr>
              <a:t>Fuente: cálculos propios con ragnar 0.3.0 sobre 26 mañaneras (3 de agosto a 8 de septiembre de 2026).</a:t>
            </a:r>
          </a:p>
        </p:txBody>
      </p:sp>
      <p:sp>
        <p:nvSpPr>
          <p:cNvPr id="16" name="TextBox 15"/>
          <p:cNvSpPr txBox="1"/>
          <p:nvPr/>
        </p:nvSpPr>
        <p:spPr>
          <a:xfrm>
            <a:off x="6766560" y="6547104"/>
            <a:ext cx="2103120" cy="274320"/>
          </a:xfrm>
          <a:prstGeom prst="rect">
            <a:avLst/>
          </a:prstGeom>
          <a:noFill/>
        </p:spPr>
        <p:txBody>
          <a:bodyPr wrap="square" lIns="0" tIns="0" rIns="0" bIns="0">
            <a:spAutoFit/>
          </a:bodyPr>
          <a:lstStyle/>
          <a:p>
            <a:pPr algn="r"/>
            <a:r>
              <a:rPr sz="900" b="0" i="1">
                <a:solidFill>
                  <a:srgbClr val="555555"/>
                </a:solidFill>
                <a:latin typeface="Ubuntu"/>
              </a:rPr>
              <a:t>RAG con las mañaneras · 10/25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4320"/>
            <a:ext cx="9144000" cy="868680"/>
          </a:xfrm>
          <a:prstGeom prst="rect">
            <a:avLst/>
          </a:prstGeom>
          <a:solidFill>
            <a:srgbClr val="1E4C7D"/>
          </a:solidFill>
          <a:ln>
            <a:noFill/>
          </a:ln>
          <a:effectLst/>
        </p:spPr>
        <p:txBody>
          <a:bodyPr rtlCol="0" anchor="ctr"/>
          <a:lstStyle/>
          <a:p>
            <a:pPr algn="ctr"/>
            <a:endParaRPr/>
          </a:p>
        </p:txBody>
      </p:sp>
      <p:sp>
        <p:nvSpPr>
          <p:cNvPr id="3" name="TextBox 2"/>
          <p:cNvSpPr txBox="1"/>
          <p:nvPr/>
        </p:nvSpPr>
        <p:spPr>
          <a:xfrm>
            <a:off x="320040" y="274320"/>
            <a:ext cx="8503920" cy="868680"/>
          </a:xfrm>
          <a:prstGeom prst="rect">
            <a:avLst/>
          </a:prstGeom>
          <a:noFill/>
        </p:spPr>
        <p:txBody>
          <a:bodyPr wrap="square" lIns="0" tIns="0" rIns="0" bIns="0" anchor="ctr">
            <a:spAutoFit/>
          </a:bodyPr>
          <a:lstStyle/>
          <a:p>
            <a:pPr algn="l"/>
            <a:r>
              <a:rPr sz="1800" b="1" i="0">
                <a:solidFill>
                  <a:srgbClr val="FFFFFF"/>
                </a:solidFill>
                <a:latin typeface="Ubuntu"/>
              </a:rPr>
              <a:t>Un modelo de embeddings convierte cada fragmento en 1,024 números que guardan su significado, no sus palabras</a:t>
            </a:r>
          </a:p>
        </p:txBody>
      </p:sp>
      <p:pic>
        <p:nvPicPr>
          <p:cNvPr id="4" name="Picture 3" descr="fig11_vectores.png"/>
          <p:cNvPicPr>
            <a:picLocks noChangeAspect="1"/>
          </p:cNvPicPr>
          <p:nvPr/>
        </p:nvPicPr>
        <p:blipFill>
          <a:blip r:embed="rId2"/>
          <a:stretch>
            <a:fillRect/>
          </a:stretch>
        </p:blipFill>
        <p:spPr>
          <a:xfrm>
            <a:off x="457200" y="1280160"/>
            <a:ext cx="8229600" cy="2879595"/>
          </a:xfrm>
          <a:prstGeom prst="rect">
            <a:avLst/>
          </a:prstGeom>
        </p:spPr>
      </p:pic>
      <p:sp>
        <p:nvSpPr>
          <p:cNvPr id="5" name="Rectangle 4"/>
          <p:cNvSpPr/>
          <p:nvPr/>
        </p:nvSpPr>
        <p:spPr>
          <a:xfrm>
            <a:off x="274320" y="4297680"/>
            <a:ext cx="4251960" cy="2103120"/>
          </a:xfrm>
          <a:prstGeom prst="rect">
            <a:avLst/>
          </a:prstGeom>
          <a:solidFill>
            <a:srgbClr val="EAF2FA"/>
          </a:solidFill>
          <a:ln>
            <a:noFill/>
          </a:ln>
          <a:effectLst/>
        </p:spPr>
        <p:txBody>
          <a:bodyPr rtlCol="0" anchor="ctr"/>
          <a:lstStyle/>
          <a:p>
            <a:pPr algn="ctr"/>
            <a:endParaRPr/>
          </a:p>
        </p:txBody>
      </p:sp>
      <p:sp>
        <p:nvSpPr>
          <p:cNvPr id="6" name="TextBox 5"/>
          <p:cNvSpPr txBox="1"/>
          <p:nvPr/>
        </p:nvSpPr>
        <p:spPr>
          <a:xfrm>
            <a:off x="384048" y="4370832"/>
            <a:ext cx="4032504" cy="365760"/>
          </a:xfrm>
          <a:prstGeom prst="rect">
            <a:avLst/>
          </a:prstGeom>
          <a:noFill/>
        </p:spPr>
        <p:txBody>
          <a:bodyPr wrap="square" lIns="0" tIns="0" rIns="0" bIns="0">
            <a:spAutoFit/>
          </a:bodyPr>
          <a:lstStyle/>
          <a:p>
            <a:pPr algn="l"/>
            <a:r>
              <a:rPr sz="1300" b="1" i="0">
                <a:solidFill>
                  <a:srgbClr val="1E4C7D"/>
                </a:solidFill>
                <a:latin typeface="Ubuntu"/>
              </a:rPr>
              <a:t>Embedding y modelo de embeddings</a:t>
            </a:r>
          </a:p>
        </p:txBody>
      </p:sp>
      <p:sp>
        <p:nvSpPr>
          <p:cNvPr id="7" name="TextBox 6"/>
          <p:cNvSpPr txBox="1"/>
          <p:nvPr/>
        </p:nvSpPr>
        <p:spPr>
          <a:xfrm>
            <a:off x="384048" y="4681728"/>
            <a:ext cx="4032504" cy="1645920"/>
          </a:xfrm>
          <a:prstGeom prst="rect">
            <a:avLst/>
          </a:prstGeom>
          <a:noFill/>
        </p:spPr>
        <p:txBody>
          <a:bodyPr wrap="square" lIns="0" tIns="0" rIns="0" bIns="0">
            <a:spAutoFit/>
          </a:bodyPr>
          <a:lstStyle/>
          <a:p>
            <a:pPr algn="l">
              <a:lnSpc>
                <a:spcPct val="125000"/>
              </a:lnSpc>
            </a:pPr>
            <a:r>
              <a:rPr sz="1050" b="0" i="0">
                <a:solidFill>
                  <a:srgbClr val="000000"/>
                </a:solidFill>
                <a:latin typeface="Ubuntu"/>
              </a:rPr>
              <a:t>Un embedding es la representación de un texto como un vector de números: textos con significado parecido quedan en puntos cercanos, aunque usen palabras distintas. El modelo que lo produce (bge-m3, multilingüe, 1,024 dimensiones) es distinto del que redacta: es pequeño, rápido y no genera texto. Tarda 0.1 segundos por fragmento en una computadora portátil.</a:t>
            </a:r>
          </a:p>
        </p:txBody>
      </p:sp>
      <p:sp>
        <p:nvSpPr>
          <p:cNvPr id="8" name="Rectangle 7"/>
          <p:cNvSpPr/>
          <p:nvPr/>
        </p:nvSpPr>
        <p:spPr>
          <a:xfrm>
            <a:off x="4617720" y="4297680"/>
            <a:ext cx="4251960" cy="2103120"/>
          </a:xfrm>
          <a:prstGeom prst="rect">
            <a:avLst/>
          </a:prstGeom>
          <a:solidFill>
            <a:srgbClr val="FADBD8"/>
          </a:solidFill>
          <a:ln>
            <a:noFill/>
          </a:ln>
          <a:effectLst/>
        </p:spPr>
        <p:txBody>
          <a:bodyPr rtlCol="0" anchor="ctr"/>
          <a:lstStyle/>
          <a:p>
            <a:pPr algn="ctr"/>
            <a:endParaRPr/>
          </a:p>
        </p:txBody>
      </p:sp>
      <p:sp>
        <p:nvSpPr>
          <p:cNvPr id="9" name="TextBox 8"/>
          <p:cNvSpPr txBox="1"/>
          <p:nvPr/>
        </p:nvSpPr>
        <p:spPr>
          <a:xfrm>
            <a:off x="4727448" y="4370832"/>
            <a:ext cx="4032504" cy="365760"/>
          </a:xfrm>
          <a:prstGeom prst="rect">
            <a:avLst/>
          </a:prstGeom>
          <a:noFill/>
        </p:spPr>
        <p:txBody>
          <a:bodyPr wrap="square" lIns="0" tIns="0" rIns="0" bIns="0">
            <a:spAutoFit/>
          </a:bodyPr>
          <a:lstStyle/>
          <a:p>
            <a:pPr algn="l"/>
            <a:r>
              <a:rPr sz="1300" b="1" i="0">
                <a:solidFill>
                  <a:srgbClr val="C0392B"/>
                </a:solidFill>
                <a:latin typeface="Ubuntu"/>
              </a:rPr>
              <a:t>La regla que no se puede romper</a:t>
            </a:r>
          </a:p>
        </p:txBody>
      </p:sp>
      <p:sp>
        <p:nvSpPr>
          <p:cNvPr id="10" name="TextBox 9"/>
          <p:cNvSpPr txBox="1"/>
          <p:nvPr/>
        </p:nvSpPr>
        <p:spPr>
          <a:xfrm>
            <a:off x="4727448" y="4681728"/>
            <a:ext cx="4032504" cy="1645920"/>
          </a:xfrm>
          <a:prstGeom prst="rect">
            <a:avLst/>
          </a:prstGeom>
          <a:noFill/>
        </p:spPr>
        <p:txBody>
          <a:bodyPr wrap="square" lIns="0" tIns="0" rIns="0" bIns="0">
            <a:spAutoFit/>
          </a:bodyPr>
          <a:lstStyle/>
          <a:p>
            <a:pPr algn="l">
              <a:lnSpc>
                <a:spcPct val="125000"/>
              </a:lnSpc>
            </a:pPr>
            <a:r>
              <a:rPr sz="1050" b="0" i="0">
                <a:solidFill>
                  <a:srgbClr val="000000"/>
                </a:solidFill>
                <a:latin typeface="Ubuntu"/>
              </a:rPr>
              <a:t>Ningún número del vector significa algo por sí solo: importa la posición del vector completo respecto a los demás. Por eso el modelo que embebe el corpus debe ser el mismo que embebe las preguntas. Vectores de dos modelos distintos viven en espacios distintos y no se pueden comparar.</a:t>
            </a:r>
          </a:p>
        </p:txBody>
      </p:sp>
      <p:sp>
        <p:nvSpPr>
          <p:cNvPr id="11" name="TextBox 10"/>
          <p:cNvSpPr txBox="1"/>
          <p:nvPr/>
        </p:nvSpPr>
        <p:spPr>
          <a:xfrm>
            <a:off x="274320" y="6547104"/>
            <a:ext cx="6400800" cy="274320"/>
          </a:xfrm>
          <a:prstGeom prst="rect">
            <a:avLst/>
          </a:prstGeom>
          <a:noFill/>
        </p:spPr>
        <p:txBody>
          <a:bodyPr wrap="square" lIns="0" tIns="0" rIns="0" bIns="0">
            <a:spAutoFit/>
          </a:bodyPr>
          <a:lstStyle/>
          <a:p>
            <a:pPr algn="l"/>
            <a:r>
              <a:rPr sz="900" b="0" i="0">
                <a:solidFill>
                  <a:srgbClr val="555555"/>
                </a:solidFill>
                <a:latin typeface="Ubuntu"/>
              </a:rPr>
              <a:t>Fuente: mañanera del 14 de julio de 2026; embeddings con bge-m3 (BAAI) vía Ollama.</a:t>
            </a:r>
          </a:p>
        </p:txBody>
      </p:sp>
      <p:sp>
        <p:nvSpPr>
          <p:cNvPr id="12" name="TextBox 11"/>
          <p:cNvSpPr txBox="1"/>
          <p:nvPr/>
        </p:nvSpPr>
        <p:spPr>
          <a:xfrm>
            <a:off x="6766560" y="6547104"/>
            <a:ext cx="2103120" cy="274320"/>
          </a:xfrm>
          <a:prstGeom prst="rect">
            <a:avLst/>
          </a:prstGeom>
          <a:noFill/>
        </p:spPr>
        <p:txBody>
          <a:bodyPr wrap="square" lIns="0" tIns="0" rIns="0" bIns="0">
            <a:spAutoFit/>
          </a:bodyPr>
          <a:lstStyle/>
          <a:p>
            <a:pPr algn="r"/>
            <a:r>
              <a:rPr sz="900" b="0" i="1">
                <a:solidFill>
                  <a:srgbClr val="555555"/>
                </a:solidFill>
                <a:latin typeface="Ubuntu"/>
              </a:rPr>
              <a:t>RAG con las mañaneras · 11/25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4320"/>
            <a:ext cx="9144000" cy="868680"/>
          </a:xfrm>
          <a:prstGeom prst="rect">
            <a:avLst/>
          </a:prstGeom>
          <a:solidFill>
            <a:srgbClr val="1E4C7D"/>
          </a:solidFill>
          <a:ln>
            <a:noFill/>
          </a:ln>
          <a:effectLst/>
        </p:spPr>
        <p:txBody>
          <a:bodyPr rtlCol="0" anchor="ctr"/>
          <a:lstStyle/>
          <a:p>
            <a:pPr algn="ctr"/>
            <a:endParaRPr/>
          </a:p>
        </p:txBody>
      </p:sp>
      <p:sp>
        <p:nvSpPr>
          <p:cNvPr id="3" name="TextBox 2"/>
          <p:cNvSpPr txBox="1"/>
          <p:nvPr/>
        </p:nvSpPr>
        <p:spPr>
          <a:xfrm>
            <a:off x="320040" y="274320"/>
            <a:ext cx="8503920" cy="868680"/>
          </a:xfrm>
          <a:prstGeom prst="rect">
            <a:avLst/>
          </a:prstGeom>
          <a:noFill/>
        </p:spPr>
        <p:txBody>
          <a:bodyPr wrap="square" lIns="0" tIns="0" rIns="0" bIns="0" anchor="ctr">
            <a:spAutoFit/>
          </a:bodyPr>
          <a:lstStyle/>
          <a:p>
            <a:pPr algn="l"/>
            <a:r>
              <a:rPr sz="1800" b="1" i="0">
                <a:solidFill>
                  <a:srgbClr val="FFFFFF"/>
                </a:solidFill>
                <a:latin typeface="Ubuntu"/>
              </a:rPr>
              <a:t>La pregunta se convierte al mismo espacio y se mide qué fragmento le queda más cerca</a:t>
            </a:r>
          </a:p>
        </p:txBody>
      </p:sp>
      <p:sp>
        <p:nvSpPr>
          <p:cNvPr id="4" name="Rectangle 3"/>
          <p:cNvSpPr/>
          <p:nvPr/>
        </p:nvSpPr>
        <p:spPr>
          <a:xfrm>
            <a:off x="274320" y="1280160"/>
            <a:ext cx="4023360" cy="1737360"/>
          </a:xfrm>
          <a:prstGeom prst="rect">
            <a:avLst/>
          </a:prstGeom>
          <a:solidFill>
            <a:srgbClr val="EAF2FA"/>
          </a:solidFill>
          <a:ln>
            <a:noFill/>
          </a:ln>
          <a:effectLst/>
        </p:spPr>
        <p:txBody>
          <a:bodyPr rtlCol="0" anchor="ctr"/>
          <a:lstStyle/>
          <a:p>
            <a:pPr algn="ctr"/>
            <a:endParaRPr/>
          </a:p>
        </p:txBody>
      </p:sp>
      <p:sp>
        <p:nvSpPr>
          <p:cNvPr id="5" name="TextBox 4"/>
          <p:cNvSpPr txBox="1"/>
          <p:nvPr/>
        </p:nvSpPr>
        <p:spPr>
          <a:xfrm>
            <a:off x="384048" y="1353312"/>
            <a:ext cx="3803904" cy="365760"/>
          </a:xfrm>
          <a:prstGeom prst="rect">
            <a:avLst/>
          </a:prstGeom>
          <a:noFill/>
        </p:spPr>
        <p:txBody>
          <a:bodyPr wrap="square" lIns="0" tIns="0" rIns="0" bIns="0">
            <a:spAutoFit/>
          </a:bodyPr>
          <a:lstStyle/>
          <a:p>
            <a:pPr algn="l"/>
            <a:r>
              <a:rPr sz="1300" b="1" i="0">
                <a:solidFill>
                  <a:srgbClr val="1E4C7D"/>
                </a:solidFill>
                <a:latin typeface="Ubuntu"/>
              </a:rPr>
              <a:t>Similitud y distancia coseno</a:t>
            </a:r>
          </a:p>
        </p:txBody>
      </p:sp>
      <p:sp>
        <p:nvSpPr>
          <p:cNvPr id="6" name="TextBox 5"/>
          <p:cNvSpPr txBox="1"/>
          <p:nvPr/>
        </p:nvSpPr>
        <p:spPr>
          <a:xfrm>
            <a:off x="384048" y="1664208"/>
            <a:ext cx="3803904" cy="1280160"/>
          </a:xfrm>
          <a:prstGeom prst="rect">
            <a:avLst/>
          </a:prstGeom>
          <a:noFill/>
        </p:spPr>
        <p:txBody>
          <a:bodyPr wrap="square" lIns="0" tIns="0" rIns="0" bIns="0">
            <a:spAutoFit/>
          </a:bodyPr>
          <a:lstStyle/>
          <a:p>
            <a:pPr algn="l">
              <a:lnSpc>
                <a:spcPct val="125000"/>
              </a:lnSpc>
            </a:pPr>
            <a:r>
              <a:rPr sz="1050" b="0" i="0">
                <a:solidFill>
                  <a:srgbClr val="000000"/>
                </a:solidFill>
                <a:latin typeface="Ubuntu"/>
              </a:rPr>
              <a:t>La similitud coseno es el coseno del ángulo entre dos vectores: 1 si apuntan en la misma dirección, 0 si no tienen relación. La distancia es 1 menos la similitud. Buscar "por significado" es calcular esa distancia entre la pregunta y cada fragmento y quedarse con los menores.</a:t>
            </a:r>
          </a:p>
        </p:txBody>
      </p:sp>
      <p:graphicFrame>
        <p:nvGraphicFramePr>
          <p:cNvPr id="7" name="Table 6"/>
          <p:cNvGraphicFramePr>
            <a:graphicFrameLocks noGrp="1"/>
          </p:cNvGraphicFramePr>
          <p:nvPr/>
        </p:nvGraphicFramePr>
        <p:xfrm>
          <a:off x="4480560" y="1280160"/>
          <a:ext cx="4389120" cy="173736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579120">
                <a:tc>
                  <a:txBody>
                    <a:bodyPr/>
                    <a:lstStyle/>
                    <a:p>
                      <a:r>
                        <a:rPr sz="1000" b="1">
                          <a:solidFill>
                            <a:srgbClr val="FFFFFF"/>
                          </a:solidFill>
                          <a:latin typeface="Ubuntu"/>
                        </a:rPr>
                        <a:t>Pregunta</a:t>
                      </a:r>
                    </a:p>
                  </a:txBody>
                  <a:tcPr marL="54864" marR="54864" anchor="ctr">
                    <a:solidFill>
                      <a:srgbClr val="1E4C7D"/>
                    </a:solidFill>
                  </a:tcPr>
                </a:tc>
                <a:tc>
                  <a:txBody>
                    <a:bodyPr/>
                    <a:lstStyle/>
                    <a:p>
                      <a:pPr algn="ctr"/>
                      <a:r>
                        <a:rPr sz="1000" b="1">
                          <a:solidFill>
                            <a:srgbClr val="FFFFFF"/>
                          </a:solidFill>
                          <a:latin typeface="Ubuntu"/>
                        </a:rPr>
                        <a:t>Fragmento 1
(trae el 48 %)</a:t>
                      </a:r>
                    </a:p>
                  </a:txBody>
                  <a:tcPr marL="54864" marR="54864" anchor="ctr">
                    <a:solidFill>
                      <a:srgbClr val="1E4C7D"/>
                    </a:solidFill>
                  </a:tcPr>
                </a:tc>
                <a:tc>
                  <a:txBody>
                    <a:bodyPr/>
                    <a:lstStyle/>
                    <a:p>
                      <a:pPr algn="ctr"/>
                      <a:r>
                        <a:rPr sz="1000" b="1">
                          <a:solidFill>
                            <a:srgbClr val="FFFFFF"/>
                          </a:solidFill>
                          <a:latin typeface="Ubuntu"/>
                        </a:rPr>
                        <a:t>Fragmento 2
(la coda)</a:t>
                      </a:r>
                    </a:p>
                  </a:txBody>
                  <a:tcPr marL="54864" marR="54864" anchor="ctr">
                    <a:solidFill>
                      <a:srgbClr val="1E4C7D"/>
                    </a:solidFill>
                  </a:tcPr>
                </a:tc>
                <a:extLst>
                  <a:ext uri="{0D108BD9-81ED-4DB2-BD59-A6C34878D82A}">
                    <a16:rowId xmlns:a16="http://schemas.microsoft.com/office/drawing/2014/main" val="10000"/>
                  </a:ext>
                </a:extLst>
              </a:tr>
              <a:tr h="579120">
                <a:tc>
                  <a:txBody>
                    <a:bodyPr/>
                    <a:lstStyle/>
                    <a:p>
                      <a:r>
                        <a:rPr sz="1000">
                          <a:solidFill>
                            <a:srgbClr val="000000"/>
                          </a:solidFill>
                          <a:latin typeface="Ubuntu"/>
                        </a:rPr>
                        <a:t>¿Cuánto bajó el homicidio doloso?</a:t>
                      </a:r>
                    </a:p>
                  </a:txBody>
                  <a:tcPr marL="54864" marR="54864" anchor="ctr">
                    <a:solidFill>
                      <a:srgbClr val="EAF2FA"/>
                    </a:solidFill>
                  </a:tcPr>
                </a:tc>
                <a:tc>
                  <a:txBody>
                    <a:bodyPr/>
                    <a:lstStyle/>
                    <a:p>
                      <a:pPr algn="ctr"/>
                      <a:r>
                        <a:rPr sz="1000" b="1">
                          <a:solidFill>
                            <a:srgbClr val="1A7A3A"/>
                          </a:solidFill>
                          <a:latin typeface="Ubuntu"/>
                        </a:rPr>
                        <a:t>0.310</a:t>
                      </a:r>
                    </a:p>
                  </a:txBody>
                  <a:tcPr marL="54864" marR="54864" anchor="ctr">
                    <a:solidFill>
                      <a:srgbClr val="EAF2FA"/>
                    </a:solidFill>
                  </a:tcPr>
                </a:tc>
                <a:tc>
                  <a:txBody>
                    <a:bodyPr/>
                    <a:lstStyle/>
                    <a:p>
                      <a:pPr algn="ctr"/>
                      <a:r>
                        <a:rPr sz="1000">
                          <a:solidFill>
                            <a:srgbClr val="000000"/>
                          </a:solidFill>
                          <a:latin typeface="Ubuntu"/>
                        </a:rPr>
                        <a:t>0.431</a:t>
                      </a:r>
                    </a:p>
                  </a:txBody>
                  <a:tcPr marL="54864" marR="54864" anchor="ctr">
                    <a:solidFill>
                      <a:srgbClr val="EAF2FA"/>
                    </a:solidFill>
                  </a:tcPr>
                </a:tc>
                <a:extLst>
                  <a:ext uri="{0D108BD9-81ED-4DB2-BD59-A6C34878D82A}">
                    <a16:rowId xmlns:a16="http://schemas.microsoft.com/office/drawing/2014/main" val="10001"/>
                  </a:ext>
                </a:extLst>
              </a:tr>
              <a:tr h="579120">
                <a:tc>
                  <a:txBody>
                    <a:bodyPr/>
                    <a:lstStyle/>
                    <a:p>
                      <a:r>
                        <a:rPr sz="1000">
                          <a:solidFill>
                            <a:srgbClr val="000000"/>
                          </a:solidFill>
                          <a:latin typeface="Ubuntu"/>
                        </a:rPr>
                        <a:t>¿Cuál es la meta de viviendas en Tlaxcala?</a:t>
                      </a:r>
                    </a:p>
                  </a:txBody>
                  <a:tcPr marL="54864" marR="54864" anchor="ctr">
                    <a:solidFill>
                      <a:srgbClr val="FFFFFF"/>
                    </a:solidFill>
                  </a:tcPr>
                </a:tc>
                <a:tc>
                  <a:txBody>
                    <a:bodyPr/>
                    <a:lstStyle/>
                    <a:p>
                      <a:pPr algn="ctr"/>
                      <a:r>
                        <a:rPr sz="1000">
                          <a:solidFill>
                            <a:srgbClr val="000000"/>
                          </a:solidFill>
                          <a:latin typeface="Ubuntu"/>
                        </a:rPr>
                        <a:t>0.646</a:t>
                      </a:r>
                    </a:p>
                  </a:txBody>
                  <a:tcPr marL="54864" marR="54864" anchor="ctr">
                    <a:solidFill>
                      <a:srgbClr val="FFFFFF"/>
                    </a:solidFill>
                  </a:tcPr>
                </a:tc>
                <a:tc>
                  <a:txBody>
                    <a:bodyPr/>
                    <a:lstStyle/>
                    <a:p>
                      <a:pPr algn="ctr"/>
                      <a:r>
                        <a:rPr sz="1000" b="1">
                          <a:solidFill>
                            <a:srgbClr val="1A7A3A"/>
                          </a:solidFill>
                          <a:latin typeface="Ubuntu"/>
                        </a:rPr>
                        <a:t>0.605</a:t>
                      </a:r>
                    </a:p>
                  </a:txBody>
                  <a:tcPr marL="54864" marR="54864" anchor="ctr">
                    <a:solidFill>
                      <a:srgbClr val="FFFFFF"/>
                    </a:solidFill>
                  </a:tcPr>
                </a:tc>
                <a:extLst>
                  <a:ext uri="{0D108BD9-81ED-4DB2-BD59-A6C34878D82A}">
                    <a16:rowId xmlns:a16="http://schemas.microsoft.com/office/drawing/2014/main" val="10002"/>
                  </a:ext>
                </a:extLst>
              </a:tr>
            </a:tbl>
          </a:graphicData>
        </a:graphic>
      </p:graphicFrame>
      <p:pic>
        <p:nvPicPr>
          <p:cNvPr id="8" name="Picture 7" descr="fig12_proyeccion.png"/>
          <p:cNvPicPr>
            <a:picLocks noChangeAspect="1"/>
          </p:cNvPicPr>
          <p:nvPr/>
        </p:nvPicPr>
        <p:blipFill>
          <a:blip r:embed="rId3"/>
          <a:stretch>
            <a:fillRect/>
          </a:stretch>
        </p:blipFill>
        <p:spPr>
          <a:xfrm>
            <a:off x="1234440" y="3154680"/>
            <a:ext cx="6897442" cy="3291840"/>
          </a:xfrm>
          <a:prstGeom prst="rect">
            <a:avLst/>
          </a:prstGeom>
        </p:spPr>
      </p:pic>
      <p:sp>
        <p:nvSpPr>
          <p:cNvPr id="9" name="TextBox 8"/>
          <p:cNvSpPr txBox="1"/>
          <p:nvPr/>
        </p:nvSpPr>
        <p:spPr>
          <a:xfrm>
            <a:off x="274320" y="6547104"/>
            <a:ext cx="6400800" cy="274320"/>
          </a:xfrm>
          <a:prstGeom prst="rect">
            <a:avLst/>
          </a:prstGeom>
          <a:noFill/>
        </p:spPr>
        <p:txBody>
          <a:bodyPr wrap="square" lIns="0" tIns="0" rIns="0" bIns="0">
            <a:spAutoFit/>
          </a:bodyPr>
          <a:lstStyle/>
          <a:p>
            <a:pPr algn="l"/>
            <a:r>
              <a:rPr sz="900" b="0" i="0">
                <a:solidFill>
                  <a:srgbClr val="555555"/>
                </a:solidFill>
                <a:latin typeface="Ubuntu"/>
              </a:rPr>
              <a:t>Fuente: cálculos propios con bge-m3. Proyección por componentes principales de los 1,824 fragmentos; tema asignado por palabras clave.</a:t>
            </a:r>
          </a:p>
        </p:txBody>
      </p:sp>
      <p:sp>
        <p:nvSpPr>
          <p:cNvPr id="10" name="TextBox 9"/>
          <p:cNvSpPr txBox="1"/>
          <p:nvPr/>
        </p:nvSpPr>
        <p:spPr>
          <a:xfrm>
            <a:off x="6766560" y="6547104"/>
            <a:ext cx="2103120" cy="274320"/>
          </a:xfrm>
          <a:prstGeom prst="rect">
            <a:avLst/>
          </a:prstGeom>
          <a:noFill/>
        </p:spPr>
        <p:txBody>
          <a:bodyPr wrap="square" lIns="0" tIns="0" rIns="0" bIns="0">
            <a:spAutoFit/>
          </a:bodyPr>
          <a:lstStyle/>
          <a:p>
            <a:pPr algn="r"/>
            <a:r>
              <a:rPr sz="900" b="0" i="1">
                <a:solidFill>
                  <a:srgbClr val="555555"/>
                </a:solidFill>
                <a:latin typeface="Ubuntu"/>
              </a:rPr>
              <a:t>RAG con las mañaneras · 12/25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4320"/>
            <a:ext cx="9144000" cy="868680"/>
          </a:xfrm>
          <a:prstGeom prst="rect">
            <a:avLst/>
          </a:prstGeom>
          <a:solidFill>
            <a:srgbClr val="1E4C7D"/>
          </a:solidFill>
          <a:ln>
            <a:noFill/>
          </a:ln>
          <a:effectLst/>
        </p:spPr>
        <p:txBody>
          <a:bodyPr rtlCol="0" anchor="ctr"/>
          <a:lstStyle/>
          <a:p>
            <a:pPr algn="ctr"/>
            <a:endParaRPr/>
          </a:p>
        </p:txBody>
      </p:sp>
      <p:sp>
        <p:nvSpPr>
          <p:cNvPr id="3" name="TextBox 2"/>
          <p:cNvSpPr txBox="1"/>
          <p:nvPr/>
        </p:nvSpPr>
        <p:spPr>
          <a:xfrm>
            <a:off x="320040" y="274320"/>
            <a:ext cx="8503920" cy="868680"/>
          </a:xfrm>
          <a:prstGeom prst="rect">
            <a:avLst/>
          </a:prstGeom>
          <a:noFill/>
        </p:spPr>
        <p:txBody>
          <a:bodyPr wrap="square" lIns="0" tIns="0" rIns="0" bIns="0" anchor="ctr">
            <a:spAutoFit/>
          </a:bodyPr>
          <a:lstStyle/>
          <a:p>
            <a:pPr algn="l"/>
            <a:r>
              <a:rPr sz="1800" b="1" i="0">
                <a:solidFill>
                  <a:srgbClr val="FFFFFF"/>
                </a:solidFill>
                <a:latin typeface="Ubuntu"/>
              </a:rPr>
              <a:t>Los fragmentos, sus metadatos y sus vectores viven en un solo archivo DuckDB con un índice para buscar rápido</a:t>
            </a:r>
          </a:p>
        </p:txBody>
      </p:sp>
      <p:pic>
        <p:nvPicPr>
          <p:cNvPr id="4" name="Picture 3" descr="fig13_almacen.png"/>
          <p:cNvPicPr>
            <a:picLocks noChangeAspect="1"/>
          </p:cNvPicPr>
          <p:nvPr/>
        </p:nvPicPr>
        <p:blipFill>
          <a:blip r:embed="rId2"/>
          <a:stretch>
            <a:fillRect/>
          </a:stretch>
        </p:blipFill>
        <p:spPr>
          <a:xfrm>
            <a:off x="274320" y="1325880"/>
            <a:ext cx="8595360" cy="1987030"/>
          </a:xfrm>
          <a:prstGeom prst="rect">
            <a:avLst/>
          </a:prstGeom>
        </p:spPr>
      </p:pic>
      <p:sp>
        <p:nvSpPr>
          <p:cNvPr id="5" name="Rectangle 4"/>
          <p:cNvSpPr/>
          <p:nvPr/>
        </p:nvSpPr>
        <p:spPr>
          <a:xfrm>
            <a:off x="274320" y="3566160"/>
            <a:ext cx="2743200" cy="2788920"/>
          </a:xfrm>
          <a:prstGeom prst="rect">
            <a:avLst/>
          </a:prstGeom>
          <a:solidFill>
            <a:srgbClr val="EAF2FA"/>
          </a:solidFill>
          <a:ln>
            <a:noFill/>
          </a:ln>
          <a:effectLst/>
        </p:spPr>
        <p:txBody>
          <a:bodyPr rtlCol="0" anchor="ctr"/>
          <a:lstStyle/>
          <a:p>
            <a:pPr algn="ctr"/>
            <a:endParaRPr/>
          </a:p>
        </p:txBody>
      </p:sp>
      <p:sp>
        <p:nvSpPr>
          <p:cNvPr id="6" name="TextBox 5"/>
          <p:cNvSpPr txBox="1"/>
          <p:nvPr/>
        </p:nvSpPr>
        <p:spPr>
          <a:xfrm>
            <a:off x="384048" y="3639312"/>
            <a:ext cx="2523744" cy="365760"/>
          </a:xfrm>
          <a:prstGeom prst="rect">
            <a:avLst/>
          </a:prstGeom>
          <a:noFill/>
        </p:spPr>
        <p:txBody>
          <a:bodyPr wrap="square" lIns="0" tIns="0" rIns="0" bIns="0">
            <a:spAutoFit/>
          </a:bodyPr>
          <a:lstStyle/>
          <a:p>
            <a:pPr algn="l"/>
            <a:r>
              <a:rPr sz="1300" b="1" i="0">
                <a:solidFill>
                  <a:srgbClr val="1E4C7D"/>
                </a:solidFill>
                <a:latin typeface="Ubuntu"/>
              </a:rPr>
              <a:t>Base de datos vectorial</a:t>
            </a:r>
          </a:p>
        </p:txBody>
      </p:sp>
      <p:sp>
        <p:nvSpPr>
          <p:cNvPr id="7" name="TextBox 6"/>
          <p:cNvSpPr txBox="1"/>
          <p:nvPr/>
        </p:nvSpPr>
        <p:spPr>
          <a:xfrm>
            <a:off x="384048" y="3950208"/>
            <a:ext cx="2523744" cy="2331720"/>
          </a:xfrm>
          <a:prstGeom prst="rect">
            <a:avLst/>
          </a:prstGeom>
          <a:noFill/>
        </p:spPr>
        <p:txBody>
          <a:bodyPr wrap="square" lIns="0" tIns="0" rIns="0" bIns="0">
            <a:spAutoFit/>
          </a:bodyPr>
          <a:lstStyle/>
          <a:p>
            <a:pPr algn="l">
              <a:lnSpc>
                <a:spcPct val="125000"/>
              </a:lnSpc>
            </a:pPr>
            <a:r>
              <a:rPr sz="1200" b="0" i="0">
                <a:solidFill>
                  <a:srgbClr val="000000"/>
                </a:solidFill>
                <a:latin typeface="Ubuntu"/>
              </a:rPr>
              <a:t>Guarda fragmentos junto con sus embeddings y responde consultas de "vecinos más cercanos". Aquí es DuckDB, una base analítica embebida en un archivo de 37 MB.</a:t>
            </a:r>
          </a:p>
        </p:txBody>
      </p:sp>
      <p:sp>
        <p:nvSpPr>
          <p:cNvPr id="8" name="Rectangle 7"/>
          <p:cNvSpPr/>
          <p:nvPr/>
        </p:nvSpPr>
        <p:spPr>
          <a:xfrm>
            <a:off x="3136392" y="3566160"/>
            <a:ext cx="2743200" cy="2788920"/>
          </a:xfrm>
          <a:prstGeom prst="rect">
            <a:avLst/>
          </a:prstGeom>
          <a:solidFill>
            <a:srgbClr val="EAF2FA"/>
          </a:solidFill>
          <a:ln>
            <a:noFill/>
          </a:ln>
          <a:effectLst/>
        </p:spPr>
        <p:txBody>
          <a:bodyPr rtlCol="0" anchor="ctr"/>
          <a:lstStyle/>
          <a:p>
            <a:pPr algn="ctr"/>
            <a:endParaRPr/>
          </a:p>
        </p:txBody>
      </p:sp>
      <p:sp>
        <p:nvSpPr>
          <p:cNvPr id="9" name="TextBox 8"/>
          <p:cNvSpPr txBox="1"/>
          <p:nvPr/>
        </p:nvSpPr>
        <p:spPr>
          <a:xfrm>
            <a:off x="3246120" y="3639312"/>
            <a:ext cx="2523744" cy="365760"/>
          </a:xfrm>
          <a:prstGeom prst="rect">
            <a:avLst/>
          </a:prstGeom>
          <a:noFill/>
        </p:spPr>
        <p:txBody>
          <a:bodyPr wrap="square" lIns="0" tIns="0" rIns="0" bIns="0">
            <a:spAutoFit/>
          </a:bodyPr>
          <a:lstStyle/>
          <a:p>
            <a:pPr algn="l"/>
            <a:r>
              <a:rPr sz="1300" b="1" i="0">
                <a:solidFill>
                  <a:srgbClr val="1E4C7D"/>
                </a:solidFill>
                <a:latin typeface="Ubuntu"/>
              </a:rPr>
              <a:t>Qué tiene cada fila</a:t>
            </a:r>
          </a:p>
        </p:txBody>
      </p:sp>
      <p:sp>
        <p:nvSpPr>
          <p:cNvPr id="10" name="TextBox 9"/>
          <p:cNvSpPr txBox="1"/>
          <p:nvPr/>
        </p:nvSpPr>
        <p:spPr>
          <a:xfrm>
            <a:off x="3246120" y="3950208"/>
            <a:ext cx="2523744" cy="2331720"/>
          </a:xfrm>
          <a:prstGeom prst="rect">
            <a:avLst/>
          </a:prstGeom>
          <a:noFill/>
        </p:spPr>
        <p:txBody>
          <a:bodyPr wrap="square" lIns="0" tIns="0" rIns="0" bIns="0">
            <a:spAutoFit/>
          </a:bodyPr>
          <a:lstStyle/>
          <a:p>
            <a:pPr algn="l">
              <a:lnSpc>
                <a:spcPct val="125000"/>
              </a:lnSpc>
            </a:pPr>
            <a:r>
              <a:rPr sz="1200" b="0" i="0">
                <a:solidFill>
                  <a:srgbClr val="000000"/>
                </a:solidFill>
                <a:latin typeface="Ubuntu"/>
              </a:rPr>
              <a:t>Texto del fragmento, documento de origen, posiciones inicial y final, fecha, título, URL y el vector de 1,024 números.</a:t>
            </a:r>
          </a:p>
        </p:txBody>
      </p:sp>
      <p:sp>
        <p:nvSpPr>
          <p:cNvPr id="11" name="Rectangle 10"/>
          <p:cNvSpPr/>
          <p:nvPr/>
        </p:nvSpPr>
        <p:spPr>
          <a:xfrm>
            <a:off x="6007608" y="3566160"/>
            <a:ext cx="2743200" cy="2788920"/>
          </a:xfrm>
          <a:prstGeom prst="rect">
            <a:avLst/>
          </a:prstGeom>
          <a:solidFill>
            <a:srgbClr val="EAF2FA"/>
          </a:solidFill>
          <a:ln>
            <a:noFill/>
          </a:ln>
          <a:effectLst/>
        </p:spPr>
        <p:txBody>
          <a:bodyPr rtlCol="0" anchor="ctr"/>
          <a:lstStyle/>
          <a:p>
            <a:pPr algn="ctr"/>
            <a:endParaRPr/>
          </a:p>
        </p:txBody>
      </p:sp>
      <p:sp>
        <p:nvSpPr>
          <p:cNvPr id="12" name="TextBox 11"/>
          <p:cNvSpPr txBox="1"/>
          <p:nvPr/>
        </p:nvSpPr>
        <p:spPr>
          <a:xfrm>
            <a:off x="6117336" y="3639312"/>
            <a:ext cx="2523744" cy="365760"/>
          </a:xfrm>
          <a:prstGeom prst="rect">
            <a:avLst/>
          </a:prstGeom>
          <a:noFill/>
        </p:spPr>
        <p:txBody>
          <a:bodyPr wrap="square" lIns="0" tIns="0" rIns="0" bIns="0">
            <a:spAutoFit/>
          </a:bodyPr>
          <a:lstStyle/>
          <a:p>
            <a:pPr algn="l"/>
            <a:r>
              <a:rPr sz="1300" b="1" i="0">
                <a:solidFill>
                  <a:srgbClr val="1E4C7D"/>
                </a:solidFill>
                <a:latin typeface="Ubuntu"/>
              </a:rPr>
              <a:t>Índice</a:t>
            </a:r>
          </a:p>
        </p:txBody>
      </p:sp>
      <p:sp>
        <p:nvSpPr>
          <p:cNvPr id="13" name="TextBox 12"/>
          <p:cNvSpPr txBox="1"/>
          <p:nvPr/>
        </p:nvSpPr>
        <p:spPr>
          <a:xfrm>
            <a:off x="6117336" y="3950208"/>
            <a:ext cx="2523744" cy="2331720"/>
          </a:xfrm>
          <a:prstGeom prst="rect">
            <a:avLst/>
          </a:prstGeom>
          <a:noFill/>
        </p:spPr>
        <p:txBody>
          <a:bodyPr wrap="square" lIns="0" tIns="0" rIns="0" bIns="0">
            <a:spAutoFit/>
          </a:bodyPr>
          <a:lstStyle/>
          <a:p>
            <a:pPr algn="l">
              <a:lnSpc>
                <a:spcPct val="125000"/>
              </a:lnSpc>
            </a:pPr>
            <a:r>
              <a:rPr sz="1200" b="0" i="0">
                <a:solidFill>
                  <a:srgbClr val="000000"/>
                </a:solidFill>
                <a:latin typeface="Ubuntu"/>
              </a:rPr>
              <a:t>Acelera la búsqueda: en vez de comparar la pregunta con los 1,824 vectores uno por uno, aproxima el resultado en una fracción del tiempo. Se reconstruye al agregar documentos. Construirlo tardó 2.6 minutos, una sola vez.</a:t>
            </a:r>
          </a:p>
        </p:txBody>
      </p:sp>
      <p:sp>
        <p:nvSpPr>
          <p:cNvPr id="14" name="TextBox 13"/>
          <p:cNvSpPr txBox="1"/>
          <p:nvPr/>
        </p:nvSpPr>
        <p:spPr>
          <a:xfrm>
            <a:off x="274320" y="6547104"/>
            <a:ext cx="6400800" cy="274320"/>
          </a:xfrm>
          <a:prstGeom prst="rect">
            <a:avLst/>
          </a:prstGeom>
          <a:noFill/>
        </p:spPr>
        <p:txBody>
          <a:bodyPr wrap="square" lIns="0" tIns="0" rIns="0" bIns="0">
            <a:spAutoFit/>
          </a:bodyPr>
          <a:lstStyle/>
          <a:p>
            <a:pPr algn="l"/>
            <a:r>
              <a:rPr sz="900" b="0" i="0">
                <a:solidFill>
                  <a:srgbClr val="555555"/>
                </a:solidFill>
                <a:latin typeface="Ubuntu"/>
              </a:rPr>
              <a:t>Fuente: estructura del almacén creado con ragnar 0.3.0 (mananeras_ago_sep.ragnar.duckdb).</a:t>
            </a:r>
          </a:p>
        </p:txBody>
      </p:sp>
      <p:sp>
        <p:nvSpPr>
          <p:cNvPr id="15" name="TextBox 14"/>
          <p:cNvSpPr txBox="1"/>
          <p:nvPr/>
        </p:nvSpPr>
        <p:spPr>
          <a:xfrm>
            <a:off x="6766560" y="6547104"/>
            <a:ext cx="2103120" cy="274320"/>
          </a:xfrm>
          <a:prstGeom prst="rect">
            <a:avLst/>
          </a:prstGeom>
          <a:noFill/>
        </p:spPr>
        <p:txBody>
          <a:bodyPr wrap="square" lIns="0" tIns="0" rIns="0" bIns="0">
            <a:spAutoFit/>
          </a:bodyPr>
          <a:lstStyle/>
          <a:p>
            <a:pPr algn="r"/>
            <a:r>
              <a:rPr sz="900" b="0" i="1">
                <a:solidFill>
                  <a:srgbClr val="555555"/>
                </a:solidFill>
                <a:latin typeface="Ubuntu"/>
              </a:rPr>
              <a:t>RAG con las mañaneras · 13/25</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4320"/>
            <a:ext cx="9144000" cy="868680"/>
          </a:xfrm>
          <a:prstGeom prst="rect">
            <a:avLst/>
          </a:prstGeom>
          <a:solidFill>
            <a:srgbClr val="1E4C7D"/>
          </a:solidFill>
          <a:ln>
            <a:noFill/>
          </a:ln>
          <a:effectLst/>
        </p:spPr>
        <p:txBody>
          <a:bodyPr rtlCol="0" anchor="ctr"/>
          <a:lstStyle/>
          <a:p>
            <a:pPr algn="ctr"/>
            <a:endParaRPr/>
          </a:p>
        </p:txBody>
      </p:sp>
      <p:sp>
        <p:nvSpPr>
          <p:cNvPr id="3" name="TextBox 2"/>
          <p:cNvSpPr txBox="1"/>
          <p:nvPr/>
        </p:nvSpPr>
        <p:spPr>
          <a:xfrm>
            <a:off x="320040" y="274320"/>
            <a:ext cx="8503920" cy="868680"/>
          </a:xfrm>
          <a:prstGeom prst="rect">
            <a:avLst/>
          </a:prstGeom>
          <a:noFill/>
        </p:spPr>
        <p:txBody>
          <a:bodyPr wrap="square" lIns="0" tIns="0" rIns="0" bIns="0" anchor="ctr">
            <a:spAutoFit/>
          </a:bodyPr>
          <a:lstStyle/>
          <a:p>
            <a:pPr algn="l"/>
            <a:r>
              <a:rPr sz="1800" b="1" i="0">
                <a:solidFill>
                  <a:srgbClr val="FFFFFF"/>
                </a:solidFill>
                <a:latin typeface="Ubuntu"/>
              </a:rPr>
              <a:t>La búsqueda semántica encuentra sinónimos, la léxica encuentra nombres y cifras, y la híbrida se queda con lo mejor de ambas</a:t>
            </a:r>
          </a:p>
        </p:txBody>
      </p:sp>
      <p:pic>
        <p:nvPicPr>
          <p:cNvPr id="4" name="Picture 3" descr="fig14_metodos.png"/>
          <p:cNvPicPr>
            <a:picLocks noChangeAspect="1"/>
          </p:cNvPicPr>
          <p:nvPr/>
        </p:nvPicPr>
        <p:blipFill>
          <a:blip r:embed="rId3"/>
          <a:stretch>
            <a:fillRect/>
          </a:stretch>
        </p:blipFill>
        <p:spPr>
          <a:xfrm>
            <a:off x="274320" y="1234440"/>
            <a:ext cx="8595360" cy="2583226"/>
          </a:xfrm>
          <a:prstGeom prst="rect">
            <a:avLst/>
          </a:prstGeom>
        </p:spPr>
      </p:pic>
      <p:sp>
        <p:nvSpPr>
          <p:cNvPr id="5" name="Rectangle 4"/>
          <p:cNvSpPr/>
          <p:nvPr/>
        </p:nvSpPr>
        <p:spPr>
          <a:xfrm>
            <a:off x="274320" y="4160520"/>
            <a:ext cx="2743200" cy="2194560"/>
          </a:xfrm>
          <a:prstGeom prst="rect">
            <a:avLst/>
          </a:prstGeom>
          <a:solidFill>
            <a:srgbClr val="EAF2FA"/>
          </a:solidFill>
          <a:ln>
            <a:noFill/>
          </a:ln>
          <a:effectLst/>
        </p:spPr>
        <p:txBody>
          <a:bodyPr rtlCol="0" anchor="ctr"/>
          <a:lstStyle/>
          <a:p>
            <a:pPr algn="ctr"/>
            <a:endParaRPr/>
          </a:p>
        </p:txBody>
      </p:sp>
      <p:sp>
        <p:nvSpPr>
          <p:cNvPr id="6" name="TextBox 5"/>
          <p:cNvSpPr txBox="1"/>
          <p:nvPr/>
        </p:nvSpPr>
        <p:spPr>
          <a:xfrm>
            <a:off x="384048" y="4233672"/>
            <a:ext cx="2523744" cy="365760"/>
          </a:xfrm>
          <a:prstGeom prst="rect">
            <a:avLst/>
          </a:prstGeom>
          <a:noFill/>
        </p:spPr>
        <p:txBody>
          <a:bodyPr wrap="square" lIns="0" tIns="0" rIns="0" bIns="0">
            <a:spAutoFit/>
          </a:bodyPr>
          <a:lstStyle/>
          <a:p>
            <a:pPr algn="l"/>
            <a:r>
              <a:rPr sz="1300" b="1" i="0">
                <a:solidFill>
                  <a:srgbClr val="1E4C7D"/>
                </a:solidFill>
                <a:latin typeface="Ubuntu"/>
              </a:rPr>
              <a:t>Semántica (VSS)</a:t>
            </a:r>
          </a:p>
        </p:txBody>
      </p:sp>
      <p:sp>
        <p:nvSpPr>
          <p:cNvPr id="7" name="TextBox 6"/>
          <p:cNvSpPr txBox="1"/>
          <p:nvPr/>
        </p:nvSpPr>
        <p:spPr>
          <a:xfrm>
            <a:off x="384048" y="4544568"/>
            <a:ext cx="2523744" cy="1737360"/>
          </a:xfrm>
          <a:prstGeom prst="rect">
            <a:avLst/>
          </a:prstGeom>
          <a:noFill/>
        </p:spPr>
        <p:txBody>
          <a:bodyPr wrap="square" lIns="0" tIns="0" rIns="0" bIns="0">
            <a:spAutoFit/>
          </a:bodyPr>
          <a:lstStyle/>
          <a:p>
            <a:pPr algn="l">
              <a:lnSpc>
                <a:spcPct val="125000"/>
              </a:lnSpc>
            </a:pPr>
            <a:r>
              <a:rPr sz="1150" b="0" i="0">
                <a:solidFill>
                  <a:srgbClr val="000000"/>
                </a:solidFill>
                <a:latin typeface="Ubuntu"/>
              </a:rPr>
              <a:t>Compara embeddings. Encuentra "reducción de homicidios" cuando se pregunta por "baja en la violencia".</a:t>
            </a:r>
          </a:p>
        </p:txBody>
      </p:sp>
      <p:sp>
        <p:nvSpPr>
          <p:cNvPr id="8" name="Rectangle 7"/>
          <p:cNvSpPr/>
          <p:nvPr/>
        </p:nvSpPr>
        <p:spPr>
          <a:xfrm>
            <a:off x="3136392" y="4160520"/>
            <a:ext cx="2743200" cy="2194560"/>
          </a:xfrm>
          <a:prstGeom prst="rect">
            <a:avLst/>
          </a:prstGeom>
          <a:solidFill>
            <a:srgbClr val="EAF2FA"/>
          </a:solidFill>
          <a:ln>
            <a:noFill/>
          </a:ln>
          <a:effectLst/>
        </p:spPr>
        <p:txBody>
          <a:bodyPr rtlCol="0" anchor="ctr"/>
          <a:lstStyle/>
          <a:p>
            <a:pPr algn="ctr"/>
            <a:endParaRPr/>
          </a:p>
        </p:txBody>
      </p:sp>
      <p:sp>
        <p:nvSpPr>
          <p:cNvPr id="9" name="TextBox 8"/>
          <p:cNvSpPr txBox="1"/>
          <p:nvPr/>
        </p:nvSpPr>
        <p:spPr>
          <a:xfrm>
            <a:off x="3246120" y="4233672"/>
            <a:ext cx="2523744" cy="365760"/>
          </a:xfrm>
          <a:prstGeom prst="rect">
            <a:avLst/>
          </a:prstGeom>
          <a:noFill/>
        </p:spPr>
        <p:txBody>
          <a:bodyPr wrap="square" lIns="0" tIns="0" rIns="0" bIns="0">
            <a:spAutoFit/>
          </a:bodyPr>
          <a:lstStyle/>
          <a:p>
            <a:pPr algn="l"/>
            <a:r>
              <a:rPr sz="1300" b="1" i="0">
                <a:solidFill>
                  <a:srgbClr val="1E4C7D"/>
                </a:solidFill>
                <a:latin typeface="Ubuntu"/>
              </a:rPr>
              <a:t>Léxica (BM25)</a:t>
            </a:r>
          </a:p>
        </p:txBody>
      </p:sp>
      <p:sp>
        <p:nvSpPr>
          <p:cNvPr id="10" name="TextBox 9"/>
          <p:cNvSpPr txBox="1"/>
          <p:nvPr/>
        </p:nvSpPr>
        <p:spPr>
          <a:xfrm>
            <a:off x="3246120" y="4544568"/>
            <a:ext cx="2523744" cy="1737360"/>
          </a:xfrm>
          <a:prstGeom prst="rect">
            <a:avLst/>
          </a:prstGeom>
          <a:noFill/>
        </p:spPr>
        <p:txBody>
          <a:bodyPr wrap="square" lIns="0" tIns="0" rIns="0" bIns="0">
            <a:spAutoFit/>
          </a:bodyPr>
          <a:lstStyle/>
          <a:p>
            <a:pPr algn="l">
              <a:lnSpc>
                <a:spcPct val="125000"/>
              </a:lnSpc>
            </a:pPr>
            <a:r>
              <a:rPr sz="1150" b="0" i="0">
                <a:solidFill>
                  <a:srgbClr val="000000"/>
                </a:solidFill>
                <a:latin typeface="Ubuntu"/>
              </a:rPr>
              <a:t>Compara palabras, ponderadas por qué tan raras son en el corpus. Gana con términos exactos: "Kanasín", "Hemosa Ingeniería", "40.8". En mañaneras pesa mucho.</a:t>
            </a:r>
          </a:p>
        </p:txBody>
      </p:sp>
      <p:sp>
        <p:nvSpPr>
          <p:cNvPr id="11" name="Rectangle 10"/>
          <p:cNvSpPr/>
          <p:nvPr/>
        </p:nvSpPr>
        <p:spPr>
          <a:xfrm>
            <a:off x="6007608" y="4160520"/>
            <a:ext cx="2743200" cy="2194560"/>
          </a:xfrm>
          <a:prstGeom prst="rect">
            <a:avLst/>
          </a:prstGeom>
          <a:solidFill>
            <a:srgbClr val="D5F5E3"/>
          </a:solidFill>
          <a:ln>
            <a:noFill/>
          </a:ln>
          <a:effectLst/>
        </p:spPr>
        <p:txBody>
          <a:bodyPr rtlCol="0" anchor="ctr"/>
          <a:lstStyle/>
          <a:p>
            <a:pPr algn="ctr"/>
            <a:endParaRPr/>
          </a:p>
        </p:txBody>
      </p:sp>
      <p:sp>
        <p:nvSpPr>
          <p:cNvPr id="12" name="TextBox 11"/>
          <p:cNvSpPr txBox="1"/>
          <p:nvPr/>
        </p:nvSpPr>
        <p:spPr>
          <a:xfrm>
            <a:off x="6117336" y="4233672"/>
            <a:ext cx="2523744" cy="365760"/>
          </a:xfrm>
          <a:prstGeom prst="rect">
            <a:avLst/>
          </a:prstGeom>
          <a:noFill/>
        </p:spPr>
        <p:txBody>
          <a:bodyPr wrap="square" lIns="0" tIns="0" rIns="0" bIns="0">
            <a:spAutoFit/>
          </a:bodyPr>
          <a:lstStyle/>
          <a:p>
            <a:pPr algn="l"/>
            <a:r>
              <a:rPr sz="1300" b="1" i="0">
                <a:solidFill>
                  <a:srgbClr val="1A7A3A"/>
                </a:solidFill>
                <a:latin typeface="Ubuntu"/>
              </a:rPr>
              <a:t>Híbrida, con top-k = 5</a:t>
            </a:r>
          </a:p>
        </p:txBody>
      </p:sp>
      <p:sp>
        <p:nvSpPr>
          <p:cNvPr id="13" name="TextBox 12"/>
          <p:cNvSpPr txBox="1"/>
          <p:nvPr/>
        </p:nvSpPr>
        <p:spPr>
          <a:xfrm>
            <a:off x="6117336" y="4544568"/>
            <a:ext cx="2523744" cy="1737360"/>
          </a:xfrm>
          <a:prstGeom prst="rect">
            <a:avLst/>
          </a:prstGeom>
          <a:noFill/>
        </p:spPr>
        <p:txBody>
          <a:bodyPr wrap="square" lIns="0" tIns="0" rIns="0" bIns="0">
            <a:spAutoFit/>
          </a:bodyPr>
          <a:lstStyle/>
          <a:p>
            <a:pPr algn="l">
              <a:lnSpc>
                <a:spcPct val="125000"/>
              </a:lnSpc>
            </a:pPr>
            <a:r>
              <a:rPr sz="1150" b="0" i="0">
                <a:solidFill>
                  <a:srgbClr val="000000"/>
                </a:solidFill>
                <a:latin typeface="Ubuntu"/>
              </a:rPr>
              <a:t>Ejecuta las dos y fusiona las listas; es la opción por defecto de ragnar. top-k es cuántos fragmentos se recuperan (5 aquí). Cuando dos vecinos del mismo documento se traslapan, ragnar los une: por eso la lista híbrida muestra 3.</a:t>
            </a:r>
          </a:p>
        </p:txBody>
      </p:sp>
      <p:sp>
        <p:nvSpPr>
          <p:cNvPr id="14" name="TextBox 13"/>
          <p:cNvSpPr txBox="1"/>
          <p:nvPr/>
        </p:nvSpPr>
        <p:spPr>
          <a:xfrm>
            <a:off x="274320" y="6547104"/>
            <a:ext cx="6400800" cy="274320"/>
          </a:xfrm>
          <a:prstGeom prst="rect">
            <a:avLst/>
          </a:prstGeom>
          <a:noFill/>
        </p:spPr>
        <p:txBody>
          <a:bodyPr wrap="square" lIns="0" tIns="0" rIns="0" bIns="0">
            <a:spAutoFit/>
          </a:bodyPr>
          <a:lstStyle/>
          <a:p>
            <a:pPr algn="l"/>
            <a:r>
              <a:rPr sz="900" b="0" i="0">
                <a:solidFill>
                  <a:srgbClr val="555555"/>
                </a:solidFill>
                <a:latin typeface="Ubuntu"/>
              </a:rPr>
              <a:t>Fuente: 02_rag_mananeras.R, paso 4; Robertson y Zaragoza (2009) para BM25.</a:t>
            </a:r>
          </a:p>
        </p:txBody>
      </p:sp>
      <p:sp>
        <p:nvSpPr>
          <p:cNvPr id="15" name="TextBox 14"/>
          <p:cNvSpPr txBox="1"/>
          <p:nvPr/>
        </p:nvSpPr>
        <p:spPr>
          <a:xfrm>
            <a:off x="6766560" y="6547104"/>
            <a:ext cx="2103120" cy="274320"/>
          </a:xfrm>
          <a:prstGeom prst="rect">
            <a:avLst/>
          </a:prstGeom>
          <a:noFill/>
        </p:spPr>
        <p:txBody>
          <a:bodyPr wrap="square" lIns="0" tIns="0" rIns="0" bIns="0">
            <a:spAutoFit/>
          </a:bodyPr>
          <a:lstStyle/>
          <a:p>
            <a:pPr algn="r"/>
            <a:r>
              <a:rPr sz="900" b="0" i="1">
                <a:solidFill>
                  <a:srgbClr val="555555"/>
                </a:solidFill>
                <a:latin typeface="Ubuntu"/>
              </a:rPr>
              <a:t>RAG con las mañaneras · 14/25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4320"/>
            <a:ext cx="9144000" cy="868680"/>
          </a:xfrm>
          <a:prstGeom prst="rect">
            <a:avLst/>
          </a:prstGeom>
          <a:solidFill>
            <a:srgbClr val="1E4C7D"/>
          </a:solidFill>
          <a:ln>
            <a:noFill/>
          </a:ln>
          <a:effectLst/>
        </p:spPr>
        <p:txBody>
          <a:bodyPr rtlCol="0" anchor="ctr"/>
          <a:lstStyle/>
          <a:p>
            <a:pPr algn="ctr"/>
            <a:endParaRPr/>
          </a:p>
        </p:txBody>
      </p:sp>
      <p:sp>
        <p:nvSpPr>
          <p:cNvPr id="3" name="TextBox 2"/>
          <p:cNvSpPr txBox="1"/>
          <p:nvPr/>
        </p:nvSpPr>
        <p:spPr>
          <a:xfrm>
            <a:off x="320040" y="274320"/>
            <a:ext cx="8503920" cy="868680"/>
          </a:xfrm>
          <a:prstGeom prst="rect">
            <a:avLst/>
          </a:prstGeom>
          <a:noFill/>
        </p:spPr>
        <p:txBody>
          <a:bodyPr wrap="square" lIns="0" tIns="0" rIns="0" bIns="0" anchor="ctr">
            <a:spAutoFit/>
          </a:bodyPr>
          <a:lstStyle/>
          <a:p>
            <a:pPr algn="l"/>
            <a:r>
              <a:rPr sz="1800" b="1" i="0">
                <a:solidFill>
                  <a:srgbClr val="FFFFFF"/>
                </a:solidFill>
                <a:latin typeface="Ubuntu"/>
              </a:rPr>
              <a:t>La fecha permite acotar la búsqueda antes de buscar: qué dijo sobre aranceles la primera semana de septiembre</a:t>
            </a:r>
          </a:p>
        </p:txBody>
      </p:sp>
      <p:pic>
        <p:nvPicPr>
          <p:cNvPr id="4" name="Picture 3" descr="fig15_filtro.png"/>
          <p:cNvPicPr>
            <a:picLocks noChangeAspect="1"/>
          </p:cNvPicPr>
          <p:nvPr/>
        </p:nvPicPr>
        <p:blipFill>
          <a:blip r:embed="rId2"/>
          <a:stretch>
            <a:fillRect/>
          </a:stretch>
        </p:blipFill>
        <p:spPr>
          <a:xfrm>
            <a:off x="274320" y="1234440"/>
            <a:ext cx="8595360" cy="3015860"/>
          </a:xfrm>
          <a:prstGeom prst="rect">
            <a:avLst/>
          </a:prstGeom>
        </p:spPr>
      </p:pic>
      <p:sp>
        <p:nvSpPr>
          <p:cNvPr id="5" name="Rectangle 4"/>
          <p:cNvSpPr/>
          <p:nvPr/>
        </p:nvSpPr>
        <p:spPr>
          <a:xfrm>
            <a:off x="274320" y="4343400"/>
            <a:ext cx="4251960" cy="2011680"/>
          </a:xfrm>
          <a:prstGeom prst="rect">
            <a:avLst/>
          </a:prstGeom>
          <a:solidFill>
            <a:srgbClr val="EAF2FA"/>
          </a:solidFill>
          <a:ln>
            <a:noFill/>
          </a:ln>
          <a:effectLst/>
        </p:spPr>
        <p:txBody>
          <a:bodyPr rtlCol="0" anchor="ctr"/>
          <a:lstStyle/>
          <a:p>
            <a:pPr algn="ctr"/>
            <a:endParaRPr/>
          </a:p>
        </p:txBody>
      </p:sp>
      <p:sp>
        <p:nvSpPr>
          <p:cNvPr id="6" name="TextBox 5"/>
          <p:cNvSpPr txBox="1"/>
          <p:nvPr/>
        </p:nvSpPr>
        <p:spPr>
          <a:xfrm>
            <a:off x="384048" y="4416552"/>
            <a:ext cx="4032504" cy="365760"/>
          </a:xfrm>
          <a:prstGeom prst="rect">
            <a:avLst/>
          </a:prstGeom>
          <a:noFill/>
        </p:spPr>
        <p:txBody>
          <a:bodyPr wrap="square" lIns="0" tIns="0" rIns="0" bIns="0">
            <a:spAutoFit/>
          </a:bodyPr>
          <a:lstStyle/>
          <a:p>
            <a:pPr algn="l"/>
            <a:r>
              <a:rPr sz="1300" b="1" i="0">
                <a:solidFill>
                  <a:srgbClr val="1E4C7D"/>
                </a:solidFill>
                <a:latin typeface="Ubuntu"/>
              </a:rPr>
              <a:t>Filtro por metadatos</a:t>
            </a:r>
          </a:p>
        </p:txBody>
      </p:sp>
      <p:sp>
        <p:nvSpPr>
          <p:cNvPr id="7" name="TextBox 6"/>
          <p:cNvSpPr txBox="1"/>
          <p:nvPr/>
        </p:nvSpPr>
        <p:spPr>
          <a:xfrm>
            <a:off x="384048" y="4727448"/>
            <a:ext cx="4032504" cy="1554480"/>
          </a:xfrm>
          <a:prstGeom prst="rect">
            <a:avLst/>
          </a:prstGeom>
          <a:noFill/>
        </p:spPr>
        <p:txBody>
          <a:bodyPr wrap="square" lIns="0" tIns="0" rIns="0" bIns="0">
            <a:spAutoFit/>
          </a:bodyPr>
          <a:lstStyle/>
          <a:p>
            <a:pPr algn="l">
              <a:lnSpc>
                <a:spcPct val="125000"/>
              </a:lnSpc>
            </a:pPr>
            <a:r>
              <a:rPr sz="1250" b="0" i="0">
                <a:solidFill>
                  <a:srgbClr val="000000"/>
                </a:solidFill>
                <a:latin typeface="Ubuntu"/>
              </a:rPr>
              <a:t>Los metadatos guardados con cada fragmento se usan como filtro previo: primero se descartan los fragmentos fuera del periodo y luego se ordena por cercanía. Sin filtro, la misma consulta trae fechas de todo el corpus.</a:t>
            </a:r>
          </a:p>
        </p:txBody>
      </p:sp>
      <p:sp>
        <p:nvSpPr>
          <p:cNvPr id="8" name="Rectangle 7"/>
          <p:cNvSpPr/>
          <p:nvPr/>
        </p:nvSpPr>
        <p:spPr>
          <a:xfrm>
            <a:off x="4617720" y="4343400"/>
            <a:ext cx="4251960" cy="2011680"/>
          </a:xfrm>
          <a:prstGeom prst="rect">
            <a:avLst/>
          </a:prstGeom>
          <a:solidFill>
            <a:srgbClr val="F0FAF0"/>
          </a:solidFill>
          <a:ln>
            <a:noFill/>
          </a:ln>
          <a:effectLst/>
        </p:spPr>
        <p:txBody>
          <a:bodyPr rtlCol="0" anchor="ctr"/>
          <a:lstStyle/>
          <a:p>
            <a:pPr algn="ctr"/>
            <a:endParaRPr/>
          </a:p>
        </p:txBody>
      </p:sp>
      <p:sp>
        <p:nvSpPr>
          <p:cNvPr id="9" name="TextBox 8"/>
          <p:cNvSpPr txBox="1"/>
          <p:nvPr/>
        </p:nvSpPr>
        <p:spPr>
          <a:xfrm>
            <a:off x="4727448" y="4416552"/>
            <a:ext cx="4032504" cy="365760"/>
          </a:xfrm>
          <a:prstGeom prst="rect">
            <a:avLst/>
          </a:prstGeom>
          <a:noFill/>
        </p:spPr>
        <p:txBody>
          <a:bodyPr wrap="square" lIns="0" tIns="0" rIns="0" bIns="0">
            <a:spAutoFit/>
          </a:bodyPr>
          <a:lstStyle/>
          <a:p>
            <a:pPr algn="l"/>
            <a:r>
              <a:rPr sz="1300" b="1" i="0">
                <a:solidFill>
                  <a:srgbClr val="1A7A3A"/>
                </a:solidFill>
                <a:latin typeface="Ubuntu"/>
              </a:rPr>
              <a:t>Lo nuevo frente a un corpus de PDFs sueltos</a:t>
            </a:r>
          </a:p>
        </p:txBody>
      </p:sp>
      <p:sp>
        <p:nvSpPr>
          <p:cNvPr id="10" name="TextBox 9"/>
          <p:cNvSpPr txBox="1"/>
          <p:nvPr/>
        </p:nvSpPr>
        <p:spPr>
          <a:xfrm>
            <a:off x="4727448" y="4727448"/>
            <a:ext cx="4032504" cy="1554480"/>
          </a:xfrm>
          <a:prstGeom prst="rect">
            <a:avLst/>
          </a:prstGeom>
          <a:noFill/>
        </p:spPr>
        <p:txBody>
          <a:bodyPr wrap="square" lIns="0" tIns="0" rIns="0" bIns="0">
            <a:spAutoFit/>
          </a:bodyPr>
          <a:lstStyle/>
          <a:p>
            <a:pPr algn="l">
              <a:lnSpc>
                <a:spcPct val="125000"/>
              </a:lnSpc>
            </a:pPr>
            <a:r>
              <a:rPr sz="1250" b="0" i="0">
                <a:solidFill>
                  <a:srgbClr val="000000"/>
                </a:solidFill>
                <a:latin typeface="Ubuntu"/>
              </a:rPr>
              <a:t>En un corpus fechado, buena parte de las preguntas reales traen un periodo: "en julio", "después del informe", "esta semana". Acotar antes de buscar funciona mejor que dejar que la similitud adivine el periodo.</a:t>
            </a:r>
          </a:p>
        </p:txBody>
      </p:sp>
      <p:sp>
        <p:nvSpPr>
          <p:cNvPr id="11" name="TextBox 10"/>
          <p:cNvSpPr txBox="1"/>
          <p:nvPr/>
        </p:nvSpPr>
        <p:spPr>
          <a:xfrm>
            <a:off x="274320" y="6547104"/>
            <a:ext cx="6400800" cy="274320"/>
          </a:xfrm>
          <a:prstGeom prst="rect">
            <a:avLst/>
          </a:prstGeom>
          <a:noFill/>
        </p:spPr>
        <p:txBody>
          <a:bodyPr wrap="square" lIns="0" tIns="0" rIns="0" bIns="0">
            <a:spAutoFit/>
          </a:bodyPr>
          <a:lstStyle/>
          <a:p>
            <a:pPr algn="l"/>
            <a:r>
              <a:rPr sz="900" b="0" i="0">
                <a:solidFill>
                  <a:srgbClr val="555555"/>
                </a:solidFill>
                <a:latin typeface="Ubuntu"/>
              </a:rPr>
              <a:t>Fuente: 02_rag_mananeras.R, paso 4d.</a:t>
            </a:r>
          </a:p>
        </p:txBody>
      </p:sp>
      <p:sp>
        <p:nvSpPr>
          <p:cNvPr id="12" name="TextBox 11"/>
          <p:cNvSpPr txBox="1"/>
          <p:nvPr/>
        </p:nvSpPr>
        <p:spPr>
          <a:xfrm>
            <a:off x="6766560" y="6547104"/>
            <a:ext cx="2103120" cy="274320"/>
          </a:xfrm>
          <a:prstGeom prst="rect">
            <a:avLst/>
          </a:prstGeom>
          <a:noFill/>
        </p:spPr>
        <p:txBody>
          <a:bodyPr wrap="square" lIns="0" tIns="0" rIns="0" bIns="0">
            <a:spAutoFit/>
          </a:bodyPr>
          <a:lstStyle/>
          <a:p>
            <a:pPr algn="r"/>
            <a:r>
              <a:rPr sz="900" b="0" i="1">
                <a:solidFill>
                  <a:srgbClr val="555555"/>
                </a:solidFill>
                <a:latin typeface="Ubuntu"/>
              </a:rPr>
              <a:t>RAG con las mañaneras · 15/25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4320"/>
            <a:ext cx="9144000" cy="868680"/>
          </a:xfrm>
          <a:prstGeom prst="rect">
            <a:avLst/>
          </a:prstGeom>
          <a:solidFill>
            <a:srgbClr val="1E4C7D"/>
          </a:solidFill>
          <a:ln>
            <a:noFill/>
          </a:ln>
          <a:effectLst/>
        </p:spPr>
        <p:txBody>
          <a:bodyPr rtlCol="0" anchor="ctr"/>
          <a:lstStyle/>
          <a:p>
            <a:pPr algn="ctr"/>
            <a:endParaRPr/>
          </a:p>
        </p:txBody>
      </p:sp>
      <p:sp>
        <p:nvSpPr>
          <p:cNvPr id="3" name="TextBox 2"/>
          <p:cNvSpPr txBox="1"/>
          <p:nvPr/>
        </p:nvSpPr>
        <p:spPr>
          <a:xfrm>
            <a:off x="320040" y="274320"/>
            <a:ext cx="8503920" cy="868680"/>
          </a:xfrm>
          <a:prstGeom prst="rect">
            <a:avLst/>
          </a:prstGeom>
          <a:noFill/>
        </p:spPr>
        <p:txBody>
          <a:bodyPr wrap="square" lIns="0" tIns="0" rIns="0" bIns="0" anchor="ctr">
            <a:spAutoFit/>
          </a:bodyPr>
          <a:lstStyle/>
          <a:p>
            <a:pPr algn="l"/>
            <a:r>
              <a:rPr sz="1800" b="1" i="0">
                <a:solidFill>
                  <a:srgbClr val="FFFFFF"/>
                </a:solidFill>
                <a:latin typeface="Ubuntu"/>
              </a:rPr>
              <a:t>"Aumentar" el prompt significa literalmente pegarle los cinco fragmentos antes de la pregunta</a:t>
            </a:r>
          </a:p>
        </p:txBody>
      </p:sp>
      <p:sp>
        <p:nvSpPr>
          <p:cNvPr id="4" name="Rectangle 3"/>
          <p:cNvSpPr/>
          <p:nvPr/>
        </p:nvSpPr>
        <p:spPr>
          <a:xfrm>
            <a:off x="274320" y="1280160"/>
            <a:ext cx="5120640" cy="1325880"/>
          </a:xfrm>
          <a:prstGeom prst="rect">
            <a:avLst/>
          </a:prstGeom>
          <a:solidFill>
            <a:srgbClr val="1E4C7D"/>
          </a:solidFill>
          <a:ln>
            <a:noFill/>
          </a:ln>
          <a:effectLst/>
        </p:spPr>
        <p:txBody>
          <a:bodyPr rtlCol="0" anchor="ctr"/>
          <a:lstStyle/>
          <a:p>
            <a:pPr algn="ctr"/>
            <a:endParaRPr/>
          </a:p>
        </p:txBody>
      </p:sp>
      <p:sp>
        <p:nvSpPr>
          <p:cNvPr id="5" name="TextBox 4"/>
          <p:cNvSpPr txBox="1"/>
          <p:nvPr/>
        </p:nvSpPr>
        <p:spPr>
          <a:xfrm>
            <a:off x="411480" y="1325880"/>
            <a:ext cx="4846320" cy="274320"/>
          </a:xfrm>
          <a:prstGeom prst="rect">
            <a:avLst/>
          </a:prstGeom>
          <a:noFill/>
        </p:spPr>
        <p:txBody>
          <a:bodyPr wrap="square" lIns="0" tIns="0" rIns="0" bIns="0">
            <a:spAutoFit/>
          </a:bodyPr>
          <a:lstStyle/>
          <a:p>
            <a:pPr algn="l"/>
            <a:r>
              <a:rPr sz="1000" b="1" i="0">
                <a:solidFill>
                  <a:srgbClr val="FFFFFF"/>
                </a:solidFill>
                <a:latin typeface="Ubuntu"/>
              </a:rPr>
              <a:t>Instrucción de sistema</a:t>
            </a:r>
          </a:p>
        </p:txBody>
      </p:sp>
      <p:sp>
        <p:nvSpPr>
          <p:cNvPr id="6" name="TextBox 5"/>
          <p:cNvSpPr txBox="1"/>
          <p:nvPr/>
        </p:nvSpPr>
        <p:spPr>
          <a:xfrm>
            <a:off x="411480" y="1572768"/>
            <a:ext cx="4846320" cy="914400"/>
          </a:xfrm>
          <a:prstGeom prst="rect">
            <a:avLst/>
          </a:prstGeom>
          <a:noFill/>
        </p:spPr>
        <p:txBody>
          <a:bodyPr wrap="square" lIns="0" tIns="0" rIns="0" bIns="0">
            <a:spAutoFit/>
          </a:bodyPr>
          <a:lstStyle/>
          <a:p>
            <a:pPr algn="l">
              <a:lnSpc>
                <a:spcPct val="115000"/>
              </a:lnSpc>
            </a:pPr>
            <a:r>
              <a:rPr sz="950" b="0" i="0">
                <a:solidFill>
                  <a:srgbClr val="FFFFFF"/>
                </a:solidFill>
                <a:latin typeface="Ubuntu"/>
              </a:rPr>
              <a:t>Eres un asistente que responde preguntas sobre las conferencias de prensa matutinas de la presidenta de México. Responde SOLO con la información de los fragmentos que se te entregan y menciona la fecha de la mañanera de donde sale cada dato. Si la información no está en los fragmentos, di explícitamente que no aparece en las mañaneras consultadas. Responde en español, en máximo cinco oraciones.</a:t>
            </a:r>
          </a:p>
        </p:txBody>
      </p:sp>
      <p:sp>
        <p:nvSpPr>
          <p:cNvPr id="7" name="Rectangle 6"/>
          <p:cNvSpPr/>
          <p:nvPr/>
        </p:nvSpPr>
        <p:spPr>
          <a:xfrm>
            <a:off x="274320" y="2697480"/>
            <a:ext cx="5120640" cy="2697480"/>
          </a:xfrm>
          <a:prstGeom prst="rect">
            <a:avLst/>
          </a:prstGeom>
          <a:solidFill>
            <a:srgbClr val="F0F0F0"/>
          </a:solidFill>
          <a:ln>
            <a:noFill/>
          </a:ln>
          <a:effectLst/>
        </p:spPr>
        <p:txBody>
          <a:bodyPr rtlCol="0" anchor="ctr"/>
          <a:lstStyle/>
          <a:p>
            <a:pPr algn="ctr"/>
            <a:endParaRPr/>
          </a:p>
        </p:txBody>
      </p:sp>
      <p:sp>
        <p:nvSpPr>
          <p:cNvPr id="8" name="TextBox 7"/>
          <p:cNvSpPr txBox="1"/>
          <p:nvPr/>
        </p:nvSpPr>
        <p:spPr>
          <a:xfrm>
            <a:off x="411480" y="2743200"/>
            <a:ext cx="4846320" cy="274320"/>
          </a:xfrm>
          <a:prstGeom prst="rect">
            <a:avLst/>
          </a:prstGeom>
          <a:noFill/>
        </p:spPr>
        <p:txBody>
          <a:bodyPr wrap="square" lIns="0" tIns="0" rIns="0" bIns="0">
            <a:spAutoFit/>
          </a:bodyPr>
          <a:lstStyle/>
          <a:p>
            <a:pPr algn="l"/>
            <a:r>
              <a:rPr sz="1000" b="1" i="0">
                <a:solidFill>
                  <a:srgbClr val="1E4C7D"/>
                </a:solidFill>
                <a:latin typeface="Ubuntu"/>
              </a:rPr>
              <a:t>### Fragmentos recuperados  (7,354 caracteres en total)</a:t>
            </a:r>
          </a:p>
        </p:txBody>
      </p:sp>
      <p:sp>
        <p:nvSpPr>
          <p:cNvPr id="9" name="TextBox 8"/>
          <p:cNvSpPr txBox="1"/>
          <p:nvPr/>
        </p:nvSpPr>
        <p:spPr>
          <a:xfrm>
            <a:off x="411480" y="3017520"/>
            <a:ext cx="4846320" cy="2331720"/>
          </a:xfrm>
          <a:prstGeom prst="rect">
            <a:avLst/>
          </a:prstGeom>
          <a:noFill/>
        </p:spPr>
        <p:txBody>
          <a:bodyPr wrap="square" lIns="0" tIns="0" rIns="0" bIns="0">
            <a:spAutoFit/>
          </a:bodyPr>
          <a:lstStyle/>
          <a:p>
            <a:pPr algn="l">
              <a:lnSpc>
                <a:spcPct val="120000"/>
              </a:lnSpc>
            </a:pPr>
            <a:r>
              <a:rPr sz="1000" b="0" i="0">
                <a:solidFill>
                  <a:srgbClr val="000000"/>
                </a:solidFill>
                <a:latin typeface="Ubuntu"/>
              </a:rPr>
              <a:t>[Mañanera del 11/08/2026]</a:t>
            </a:r>
          </a:p>
          <a:p>
            <a:pPr algn="l">
              <a:lnSpc>
                <a:spcPct val="120000"/>
              </a:lnSpc>
            </a:pPr>
            <a:r>
              <a:rPr sz="1000" b="0" i="0">
                <a:solidFill>
                  <a:srgbClr val="000000"/>
                </a:solidFill>
                <a:latin typeface="Ubuntu"/>
              </a:rPr>
              <a:t>En esta primera gráfica vemos la tendencia en el promedio diario de homicidio doloso de fo…</a:t>
            </a:r>
          </a:p>
          <a:p>
            <a:pPr algn="l">
              <a:lnSpc>
                <a:spcPct val="120000"/>
              </a:lnSpc>
            </a:pPr>
            <a:endParaRPr sz="1000" b="0" i="0">
              <a:solidFill>
                <a:srgbClr val="000000"/>
              </a:solidFill>
              <a:latin typeface="Ubuntu"/>
            </a:endParaRPr>
          </a:p>
          <a:p>
            <a:pPr algn="l">
              <a:lnSpc>
                <a:spcPct val="120000"/>
              </a:lnSpc>
            </a:pPr>
            <a:r>
              <a:rPr sz="1000" b="0" i="0">
                <a:solidFill>
                  <a:srgbClr val="000000"/>
                </a:solidFill>
                <a:latin typeface="Ubuntu"/>
              </a:rPr>
              <a:t>[Mañanera del 04/09/2026]</a:t>
            </a:r>
          </a:p>
          <a:p>
            <a:pPr algn="l">
              <a:lnSpc>
                <a:spcPct val="120000"/>
              </a:lnSpc>
            </a:pPr>
            <a:r>
              <a:rPr sz="1000" b="0" i="0">
                <a:solidFill>
                  <a:srgbClr val="000000"/>
                </a:solidFill>
                <a:latin typeface="Ubuntu"/>
              </a:rPr>
              <a:t>Por eso es virtuoso y por eso en Zacatecas hemos privilegiado el tema de seguridad, porque…</a:t>
            </a:r>
          </a:p>
          <a:p>
            <a:pPr algn="l">
              <a:lnSpc>
                <a:spcPct val="120000"/>
              </a:lnSpc>
            </a:pPr>
            <a:endParaRPr sz="1000" b="0" i="0">
              <a:solidFill>
                <a:srgbClr val="000000"/>
              </a:solidFill>
              <a:latin typeface="Ubuntu"/>
            </a:endParaRPr>
          </a:p>
          <a:p>
            <a:pPr algn="l">
              <a:lnSpc>
                <a:spcPct val="120000"/>
              </a:lnSpc>
            </a:pPr>
            <a:r>
              <a:rPr sz="1000" b="0" i="0">
                <a:solidFill>
                  <a:srgbClr val="000000"/>
                </a:solidFill>
                <a:latin typeface="Ubuntu"/>
              </a:rPr>
              <a:t>[Mañanera del 08/09/2026]</a:t>
            </a:r>
          </a:p>
          <a:p>
            <a:pPr algn="l">
              <a:lnSpc>
                <a:spcPct val="120000"/>
              </a:lnSpc>
            </a:pPr>
            <a:r>
              <a:rPr sz="1000" b="0" i="0">
                <a:solidFill>
                  <a:srgbClr val="000000"/>
                </a:solidFill>
                <a:latin typeface="Ubuntu"/>
              </a:rPr>
              <a:t>El día de hoy —como ya decía la Presidenta— les presentaremos el Reporte de Incidencia Del…</a:t>
            </a:r>
          </a:p>
        </p:txBody>
      </p:sp>
      <p:sp>
        <p:nvSpPr>
          <p:cNvPr id="10" name="Rectangle 9"/>
          <p:cNvSpPr/>
          <p:nvPr/>
        </p:nvSpPr>
        <p:spPr>
          <a:xfrm>
            <a:off x="274320" y="5486400"/>
            <a:ext cx="5120640" cy="914400"/>
          </a:xfrm>
          <a:prstGeom prst="rect">
            <a:avLst/>
          </a:prstGeom>
          <a:solidFill>
            <a:srgbClr val="D5F5E3"/>
          </a:solidFill>
          <a:ln>
            <a:noFill/>
          </a:ln>
          <a:effectLst/>
        </p:spPr>
        <p:txBody>
          <a:bodyPr rtlCol="0" anchor="ctr"/>
          <a:lstStyle/>
          <a:p>
            <a:pPr algn="ctr"/>
            <a:endParaRPr/>
          </a:p>
        </p:txBody>
      </p:sp>
      <p:sp>
        <p:nvSpPr>
          <p:cNvPr id="11" name="TextBox 10"/>
          <p:cNvSpPr txBox="1"/>
          <p:nvPr/>
        </p:nvSpPr>
        <p:spPr>
          <a:xfrm>
            <a:off x="411480" y="5532120"/>
            <a:ext cx="4846320" cy="274320"/>
          </a:xfrm>
          <a:prstGeom prst="rect">
            <a:avLst/>
          </a:prstGeom>
          <a:noFill/>
        </p:spPr>
        <p:txBody>
          <a:bodyPr wrap="square" lIns="0" tIns="0" rIns="0" bIns="0">
            <a:spAutoFit/>
          </a:bodyPr>
          <a:lstStyle/>
          <a:p>
            <a:pPr algn="l"/>
            <a:r>
              <a:rPr sz="1000" b="1" i="0">
                <a:solidFill>
                  <a:srgbClr val="1A7A3A"/>
                </a:solidFill>
                <a:latin typeface="Ubuntu"/>
              </a:rPr>
              <a:t>### Pregunta</a:t>
            </a:r>
          </a:p>
        </p:txBody>
      </p:sp>
      <p:sp>
        <p:nvSpPr>
          <p:cNvPr id="12" name="TextBox 11"/>
          <p:cNvSpPr txBox="1"/>
          <p:nvPr/>
        </p:nvSpPr>
        <p:spPr>
          <a:xfrm>
            <a:off x="411480" y="5806440"/>
            <a:ext cx="4846320" cy="457200"/>
          </a:xfrm>
          <a:prstGeom prst="rect">
            <a:avLst/>
          </a:prstGeom>
          <a:noFill/>
        </p:spPr>
        <p:txBody>
          <a:bodyPr wrap="square" lIns="0" tIns="0" rIns="0" bIns="0">
            <a:spAutoFit/>
          </a:bodyPr>
          <a:lstStyle/>
          <a:p>
            <a:pPr algn="l"/>
            <a:r>
              <a:rPr sz="1000" b="0" i="0">
                <a:solidFill>
                  <a:srgbClr val="000000"/>
                </a:solidFill>
                <a:latin typeface="Ubuntu"/>
              </a:rPr>
              <a:t>¿Cuál fue el promedio diario de homicidios dolosos en agosto de 2026?</a:t>
            </a:r>
          </a:p>
        </p:txBody>
      </p:sp>
      <p:sp>
        <p:nvSpPr>
          <p:cNvPr id="13" name="Rectangle 12"/>
          <p:cNvSpPr/>
          <p:nvPr/>
        </p:nvSpPr>
        <p:spPr>
          <a:xfrm>
            <a:off x="5577840" y="1280160"/>
            <a:ext cx="3291840" cy="2377440"/>
          </a:xfrm>
          <a:prstGeom prst="rect">
            <a:avLst/>
          </a:prstGeom>
          <a:solidFill>
            <a:srgbClr val="EAF2FA"/>
          </a:solidFill>
          <a:ln>
            <a:noFill/>
          </a:ln>
          <a:effectLst/>
        </p:spPr>
        <p:txBody>
          <a:bodyPr rtlCol="0" anchor="ctr"/>
          <a:lstStyle/>
          <a:p>
            <a:pPr algn="ctr"/>
            <a:endParaRPr/>
          </a:p>
        </p:txBody>
      </p:sp>
      <p:sp>
        <p:nvSpPr>
          <p:cNvPr id="14" name="TextBox 13"/>
          <p:cNvSpPr txBox="1"/>
          <p:nvPr/>
        </p:nvSpPr>
        <p:spPr>
          <a:xfrm>
            <a:off x="5687568" y="1353312"/>
            <a:ext cx="3072384" cy="365760"/>
          </a:xfrm>
          <a:prstGeom prst="rect">
            <a:avLst/>
          </a:prstGeom>
          <a:noFill/>
        </p:spPr>
        <p:txBody>
          <a:bodyPr wrap="square" lIns="0" tIns="0" rIns="0" bIns="0">
            <a:spAutoFit/>
          </a:bodyPr>
          <a:lstStyle/>
          <a:p>
            <a:pPr algn="l"/>
            <a:r>
              <a:rPr sz="1300" b="1" i="0">
                <a:solidFill>
                  <a:srgbClr val="1E4C7D"/>
                </a:solidFill>
                <a:latin typeface="Ubuntu"/>
              </a:rPr>
              <a:t>Prompt aumentado</a:t>
            </a:r>
          </a:p>
        </p:txBody>
      </p:sp>
      <p:sp>
        <p:nvSpPr>
          <p:cNvPr id="15" name="TextBox 14"/>
          <p:cNvSpPr txBox="1"/>
          <p:nvPr/>
        </p:nvSpPr>
        <p:spPr>
          <a:xfrm>
            <a:off x="5687568" y="1664208"/>
            <a:ext cx="3072384" cy="1920240"/>
          </a:xfrm>
          <a:prstGeom prst="rect">
            <a:avLst/>
          </a:prstGeom>
          <a:noFill/>
        </p:spPr>
        <p:txBody>
          <a:bodyPr wrap="square" lIns="0" tIns="0" rIns="0" bIns="0">
            <a:spAutoFit/>
          </a:bodyPr>
          <a:lstStyle/>
          <a:p>
            <a:pPr algn="l">
              <a:lnSpc>
                <a:spcPct val="125000"/>
              </a:lnSpc>
            </a:pPr>
            <a:r>
              <a:rPr sz="1200" b="0" i="0">
                <a:solidFill>
                  <a:srgbClr val="000000"/>
                </a:solidFill>
                <a:latin typeface="Ubuntu"/>
              </a:rPr>
              <a:t>Es el mensaje final que recibe el generador: instrucciones, fragmentos recuperados (cada uno con su fecha) y la pregunta. En el ejemplo mide 7,354 caracteres, unos 1,800 tokens: cabe de sobra en la ventana de 8,192.</a:t>
            </a:r>
          </a:p>
        </p:txBody>
      </p:sp>
      <p:sp>
        <p:nvSpPr>
          <p:cNvPr id="16" name="Rectangle 15"/>
          <p:cNvSpPr/>
          <p:nvPr/>
        </p:nvSpPr>
        <p:spPr>
          <a:xfrm>
            <a:off x="5577840" y="3794760"/>
            <a:ext cx="3291840" cy="2606040"/>
          </a:xfrm>
          <a:prstGeom prst="rect">
            <a:avLst/>
          </a:prstGeom>
          <a:solidFill>
            <a:srgbClr val="FADBD8"/>
          </a:solidFill>
          <a:ln>
            <a:noFill/>
          </a:ln>
          <a:effectLst/>
        </p:spPr>
        <p:txBody>
          <a:bodyPr rtlCol="0" anchor="ctr"/>
          <a:lstStyle/>
          <a:p>
            <a:pPr algn="ctr"/>
            <a:endParaRPr/>
          </a:p>
        </p:txBody>
      </p:sp>
      <p:sp>
        <p:nvSpPr>
          <p:cNvPr id="17" name="TextBox 16"/>
          <p:cNvSpPr txBox="1"/>
          <p:nvPr/>
        </p:nvSpPr>
        <p:spPr>
          <a:xfrm>
            <a:off x="5687568" y="3867912"/>
            <a:ext cx="3072384" cy="365760"/>
          </a:xfrm>
          <a:prstGeom prst="rect">
            <a:avLst/>
          </a:prstGeom>
          <a:noFill/>
        </p:spPr>
        <p:txBody>
          <a:bodyPr wrap="square" lIns="0" tIns="0" rIns="0" bIns="0">
            <a:spAutoFit/>
          </a:bodyPr>
          <a:lstStyle/>
          <a:p>
            <a:pPr algn="l"/>
            <a:r>
              <a:rPr sz="1300" b="1" i="0">
                <a:solidFill>
                  <a:srgbClr val="C0392B"/>
                </a:solidFill>
                <a:latin typeface="Ubuntu"/>
              </a:rPr>
              <a:t>Instrucción de sistema</a:t>
            </a:r>
          </a:p>
        </p:txBody>
      </p:sp>
      <p:sp>
        <p:nvSpPr>
          <p:cNvPr id="18" name="TextBox 17"/>
          <p:cNvSpPr txBox="1"/>
          <p:nvPr/>
        </p:nvSpPr>
        <p:spPr>
          <a:xfrm>
            <a:off x="5687568" y="4178808"/>
            <a:ext cx="3072384" cy="2148840"/>
          </a:xfrm>
          <a:prstGeom prst="rect">
            <a:avLst/>
          </a:prstGeom>
          <a:noFill/>
        </p:spPr>
        <p:txBody>
          <a:bodyPr wrap="square" lIns="0" tIns="0" rIns="0" bIns="0">
            <a:spAutoFit/>
          </a:bodyPr>
          <a:lstStyle/>
          <a:p>
            <a:pPr algn="l">
              <a:lnSpc>
                <a:spcPct val="125000"/>
              </a:lnSpc>
            </a:pPr>
            <a:r>
              <a:rPr sz="1200" b="0" i="0">
                <a:solidFill>
                  <a:srgbClr val="000000"/>
                </a:solidFill>
                <a:latin typeface="Ubuntu"/>
              </a:rPr>
              <a:t>El texto fijo que establece las reglas: responder solo con el contexto, citar la fecha y decir "no aparece" cuando no esté. Es la primera defensa contra la alucinación, pero no es una garantía: un modelo pequeño la desobedece a veces.</a:t>
            </a:r>
          </a:p>
        </p:txBody>
      </p:sp>
      <p:sp>
        <p:nvSpPr>
          <p:cNvPr id="19" name="TextBox 18"/>
          <p:cNvSpPr txBox="1"/>
          <p:nvPr/>
        </p:nvSpPr>
        <p:spPr>
          <a:xfrm>
            <a:off x="274320" y="6547104"/>
            <a:ext cx="6400800" cy="274320"/>
          </a:xfrm>
          <a:prstGeom prst="rect">
            <a:avLst/>
          </a:prstGeom>
          <a:noFill/>
        </p:spPr>
        <p:txBody>
          <a:bodyPr wrap="square" lIns="0" tIns="0" rIns="0" bIns="0">
            <a:spAutoFit/>
          </a:bodyPr>
          <a:lstStyle/>
          <a:p>
            <a:pPr algn="l"/>
            <a:r>
              <a:rPr sz="900" b="0" i="0">
                <a:solidFill>
                  <a:srgbClr val="555555"/>
                </a:solidFill>
                <a:latin typeface="Ubuntu"/>
              </a:rPr>
              <a:t>Fuente: 02_rag_mananeras.R, paso 5a. Los fragmentos aparecen truncados; en el prompt real van completos.</a:t>
            </a:r>
          </a:p>
        </p:txBody>
      </p:sp>
      <p:sp>
        <p:nvSpPr>
          <p:cNvPr id="20" name="TextBox 19"/>
          <p:cNvSpPr txBox="1"/>
          <p:nvPr/>
        </p:nvSpPr>
        <p:spPr>
          <a:xfrm>
            <a:off x="6766560" y="6547104"/>
            <a:ext cx="2103120" cy="274320"/>
          </a:xfrm>
          <a:prstGeom prst="rect">
            <a:avLst/>
          </a:prstGeom>
          <a:noFill/>
        </p:spPr>
        <p:txBody>
          <a:bodyPr wrap="square" lIns="0" tIns="0" rIns="0" bIns="0">
            <a:spAutoFit/>
          </a:bodyPr>
          <a:lstStyle/>
          <a:p>
            <a:pPr algn="r"/>
            <a:r>
              <a:rPr sz="900" b="0" i="1">
                <a:solidFill>
                  <a:srgbClr val="555555"/>
                </a:solidFill>
                <a:latin typeface="Ubuntu"/>
              </a:rPr>
              <a:t>RAG con las mañaneras · 16/25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4320"/>
            <a:ext cx="9144000" cy="868680"/>
          </a:xfrm>
          <a:prstGeom prst="rect">
            <a:avLst/>
          </a:prstGeom>
          <a:solidFill>
            <a:srgbClr val="1E4C7D"/>
          </a:solidFill>
          <a:ln>
            <a:noFill/>
          </a:ln>
          <a:effectLst/>
        </p:spPr>
        <p:txBody>
          <a:bodyPr rtlCol="0" anchor="ctr"/>
          <a:lstStyle/>
          <a:p>
            <a:pPr algn="ctr"/>
            <a:endParaRPr/>
          </a:p>
        </p:txBody>
      </p:sp>
      <p:sp>
        <p:nvSpPr>
          <p:cNvPr id="3" name="TextBox 2"/>
          <p:cNvSpPr txBox="1"/>
          <p:nvPr/>
        </p:nvSpPr>
        <p:spPr>
          <a:xfrm>
            <a:off x="320040" y="274320"/>
            <a:ext cx="8503920" cy="868680"/>
          </a:xfrm>
          <a:prstGeom prst="rect">
            <a:avLst/>
          </a:prstGeom>
          <a:noFill/>
        </p:spPr>
        <p:txBody>
          <a:bodyPr wrap="square" lIns="0" tIns="0" rIns="0" bIns="0" anchor="ctr">
            <a:spAutoFit/>
          </a:bodyPr>
          <a:lstStyle/>
          <a:p>
            <a:pPr algn="l"/>
            <a:r>
              <a:rPr sz="1800" b="1" i="0">
                <a:solidFill>
                  <a:srgbClr val="FFFFFF"/>
                </a:solidFill>
                <a:latin typeface="Ubuntu"/>
              </a:rPr>
              <a:t>El generador redacta a partir de los fragmentos y cita la mañanera de donde salió cada dato</a:t>
            </a:r>
          </a:p>
        </p:txBody>
      </p:sp>
      <p:sp>
        <p:nvSpPr>
          <p:cNvPr id="4" name="Rectangle 3"/>
          <p:cNvSpPr/>
          <p:nvPr/>
        </p:nvSpPr>
        <p:spPr>
          <a:xfrm>
            <a:off x="274320" y="1280160"/>
            <a:ext cx="5394960" cy="3291840"/>
          </a:xfrm>
          <a:prstGeom prst="rect">
            <a:avLst/>
          </a:prstGeom>
          <a:solidFill>
            <a:srgbClr val="D5F5E3"/>
          </a:solidFill>
          <a:ln>
            <a:noFill/>
          </a:ln>
          <a:effectLst/>
        </p:spPr>
        <p:txBody>
          <a:bodyPr rtlCol="0" anchor="ctr"/>
          <a:lstStyle/>
          <a:p>
            <a:pPr algn="ctr"/>
            <a:endParaRPr/>
          </a:p>
        </p:txBody>
      </p:sp>
      <p:sp>
        <p:nvSpPr>
          <p:cNvPr id="5" name="TextBox 4"/>
          <p:cNvSpPr txBox="1"/>
          <p:nvPr/>
        </p:nvSpPr>
        <p:spPr>
          <a:xfrm>
            <a:off x="384048" y="1353312"/>
            <a:ext cx="5175504" cy="365760"/>
          </a:xfrm>
          <a:prstGeom prst="rect">
            <a:avLst/>
          </a:prstGeom>
          <a:noFill/>
        </p:spPr>
        <p:txBody>
          <a:bodyPr wrap="square" lIns="0" tIns="0" rIns="0" bIns="0">
            <a:spAutoFit/>
          </a:bodyPr>
          <a:lstStyle/>
          <a:p>
            <a:pPr algn="l"/>
            <a:r>
              <a:rPr sz="1300" b="1" i="0">
                <a:solidFill>
                  <a:srgbClr val="1A7A3A"/>
                </a:solidFill>
                <a:latin typeface="Ubuntu"/>
              </a:rPr>
              <a:t>Respuesta real de qwen3.5:4b, 13 segundos</a:t>
            </a:r>
          </a:p>
        </p:txBody>
      </p:sp>
      <p:sp>
        <p:nvSpPr>
          <p:cNvPr id="6" name="TextBox 5"/>
          <p:cNvSpPr txBox="1"/>
          <p:nvPr/>
        </p:nvSpPr>
        <p:spPr>
          <a:xfrm>
            <a:off x="384048" y="1664208"/>
            <a:ext cx="5175504" cy="2834640"/>
          </a:xfrm>
          <a:prstGeom prst="rect">
            <a:avLst/>
          </a:prstGeom>
          <a:noFill/>
        </p:spPr>
        <p:txBody>
          <a:bodyPr wrap="square" lIns="0" tIns="0" rIns="0" bIns="0">
            <a:spAutoFit/>
          </a:bodyPr>
          <a:lstStyle/>
          <a:p>
            <a:pPr algn="l">
              <a:lnSpc>
                <a:spcPct val="130000"/>
              </a:lnSpc>
            </a:pPr>
            <a:r>
              <a:rPr sz="1050" b="0" i="0">
                <a:solidFill>
                  <a:srgbClr val="000000"/>
                </a:solidFill>
                <a:latin typeface="Ubuntu"/>
              </a:rPr>
              <a:t>“El promedio diario de homicidios dolosos en México cerró en 40.8 en agosto de 2026, cifra confirmada por la Presidenta Claudia Sheinbaum en su conferencia de prensa del día 8 de septiembre de 2026. Esta representación gráfica muestra que el mes representa el promedio más bajo registrado en los últimos 12 años analizados hasta la actualidad. Para el estado de Zacatecas, el informe presentado el 4 de septiembre de 2026 indica un dato preliminar de 0.17 homicidios diarios por día para agosto del mismo año. Ambos registros demuestran una reducción significativa respecto a septiembre de 2024 y constituyen los mínimos históricos reportados en los periodos analizados.”</a:t>
            </a:r>
          </a:p>
        </p:txBody>
      </p:sp>
      <p:sp>
        <p:nvSpPr>
          <p:cNvPr id="7" name="Rectangle 6"/>
          <p:cNvSpPr/>
          <p:nvPr/>
        </p:nvSpPr>
        <p:spPr>
          <a:xfrm>
            <a:off x="5852160" y="1280160"/>
            <a:ext cx="3017520" cy="1554480"/>
          </a:xfrm>
          <a:prstGeom prst="rect">
            <a:avLst/>
          </a:prstGeom>
          <a:solidFill>
            <a:srgbClr val="EAF2FA"/>
          </a:solidFill>
          <a:ln>
            <a:noFill/>
          </a:ln>
          <a:effectLst/>
        </p:spPr>
        <p:txBody>
          <a:bodyPr rtlCol="0" anchor="ctr"/>
          <a:lstStyle/>
          <a:p>
            <a:pPr algn="ctr"/>
            <a:endParaRPr/>
          </a:p>
        </p:txBody>
      </p:sp>
      <p:sp>
        <p:nvSpPr>
          <p:cNvPr id="8" name="TextBox 7"/>
          <p:cNvSpPr txBox="1"/>
          <p:nvPr/>
        </p:nvSpPr>
        <p:spPr>
          <a:xfrm>
            <a:off x="5961888" y="1353312"/>
            <a:ext cx="2798064" cy="365760"/>
          </a:xfrm>
          <a:prstGeom prst="rect">
            <a:avLst/>
          </a:prstGeom>
          <a:noFill/>
        </p:spPr>
        <p:txBody>
          <a:bodyPr wrap="square" lIns="0" tIns="0" rIns="0" bIns="0">
            <a:spAutoFit/>
          </a:bodyPr>
          <a:lstStyle/>
          <a:p>
            <a:pPr algn="l"/>
            <a:r>
              <a:rPr sz="1300" b="1" i="0">
                <a:solidFill>
                  <a:srgbClr val="1E4C7D"/>
                </a:solidFill>
                <a:latin typeface="Ubuntu"/>
              </a:rPr>
              <a:t>Modelo generador</a:t>
            </a:r>
          </a:p>
        </p:txBody>
      </p:sp>
      <p:sp>
        <p:nvSpPr>
          <p:cNvPr id="9" name="TextBox 8"/>
          <p:cNvSpPr txBox="1"/>
          <p:nvPr/>
        </p:nvSpPr>
        <p:spPr>
          <a:xfrm>
            <a:off x="5961888" y="1664208"/>
            <a:ext cx="2798064" cy="1097280"/>
          </a:xfrm>
          <a:prstGeom prst="rect">
            <a:avLst/>
          </a:prstGeom>
          <a:noFill/>
        </p:spPr>
        <p:txBody>
          <a:bodyPr wrap="square" lIns="0" tIns="0" rIns="0" bIns="0">
            <a:spAutoFit/>
          </a:bodyPr>
          <a:lstStyle/>
          <a:p>
            <a:pPr algn="l">
              <a:lnSpc>
                <a:spcPct val="125000"/>
              </a:lnSpc>
            </a:pPr>
            <a:r>
              <a:rPr sz="1150" b="0" i="0">
                <a:solidFill>
                  <a:srgbClr val="000000"/>
                </a:solidFill>
                <a:latin typeface="Ubuntu"/>
              </a:rPr>
              <a:t>El LLM que escribe la respuesta. Aquí corre en la computadora; puede cambiarse por Claude o GPT sin tocar el almacén.</a:t>
            </a:r>
          </a:p>
        </p:txBody>
      </p:sp>
      <p:sp>
        <p:nvSpPr>
          <p:cNvPr id="10" name="Rectangle 9"/>
          <p:cNvSpPr/>
          <p:nvPr/>
        </p:nvSpPr>
        <p:spPr>
          <a:xfrm>
            <a:off x="5852160" y="3017520"/>
            <a:ext cx="3017520" cy="1554480"/>
          </a:xfrm>
          <a:prstGeom prst="rect">
            <a:avLst/>
          </a:prstGeom>
          <a:solidFill>
            <a:srgbClr val="EAF2FA"/>
          </a:solidFill>
          <a:ln>
            <a:noFill/>
          </a:ln>
          <a:effectLst/>
        </p:spPr>
        <p:txBody>
          <a:bodyPr rtlCol="0" anchor="ctr"/>
          <a:lstStyle/>
          <a:p>
            <a:pPr algn="ctr"/>
            <a:endParaRPr/>
          </a:p>
        </p:txBody>
      </p:sp>
      <p:sp>
        <p:nvSpPr>
          <p:cNvPr id="11" name="TextBox 10"/>
          <p:cNvSpPr txBox="1"/>
          <p:nvPr/>
        </p:nvSpPr>
        <p:spPr>
          <a:xfrm>
            <a:off x="5961888" y="3090672"/>
            <a:ext cx="2798064" cy="365760"/>
          </a:xfrm>
          <a:prstGeom prst="rect">
            <a:avLst/>
          </a:prstGeom>
          <a:noFill/>
        </p:spPr>
        <p:txBody>
          <a:bodyPr wrap="square" lIns="0" tIns="0" rIns="0" bIns="0">
            <a:spAutoFit/>
          </a:bodyPr>
          <a:lstStyle/>
          <a:p>
            <a:pPr algn="l"/>
            <a:r>
              <a:rPr sz="1300" b="1" i="0">
                <a:solidFill>
                  <a:srgbClr val="1E4C7D"/>
                </a:solidFill>
                <a:latin typeface="Ubuntu"/>
              </a:rPr>
              <a:t>Atribución</a:t>
            </a:r>
          </a:p>
        </p:txBody>
      </p:sp>
      <p:sp>
        <p:nvSpPr>
          <p:cNvPr id="12" name="TextBox 11"/>
          <p:cNvSpPr txBox="1"/>
          <p:nvPr/>
        </p:nvSpPr>
        <p:spPr>
          <a:xfrm>
            <a:off x="5961888" y="3401568"/>
            <a:ext cx="2798064" cy="1097280"/>
          </a:xfrm>
          <a:prstGeom prst="rect">
            <a:avLst/>
          </a:prstGeom>
          <a:noFill/>
        </p:spPr>
        <p:txBody>
          <a:bodyPr wrap="square" lIns="0" tIns="0" rIns="0" bIns="0">
            <a:spAutoFit/>
          </a:bodyPr>
          <a:lstStyle/>
          <a:p>
            <a:pPr algn="l">
              <a:lnSpc>
                <a:spcPct val="125000"/>
              </a:lnSpc>
            </a:pPr>
            <a:r>
              <a:rPr sz="1150" b="0" i="0">
                <a:solidFill>
                  <a:srgbClr val="000000"/>
                </a:solidFill>
                <a:latin typeface="Ubuntu"/>
              </a:rPr>
              <a:t>Cada afirmación se puede rastrear a un fragmento con fecha y verificar. Es la ventaja central de RAG sobre un modelo sin fuentes.</a:t>
            </a:r>
          </a:p>
        </p:txBody>
      </p:sp>
      <p:sp>
        <p:nvSpPr>
          <p:cNvPr id="13" name="Rectangle 12"/>
          <p:cNvSpPr/>
          <p:nvPr/>
        </p:nvSpPr>
        <p:spPr>
          <a:xfrm>
            <a:off x="274320" y="4754880"/>
            <a:ext cx="8595360" cy="1645920"/>
          </a:xfrm>
          <a:prstGeom prst="rect">
            <a:avLst/>
          </a:prstGeom>
          <a:solidFill>
            <a:srgbClr val="F0FAF0"/>
          </a:solidFill>
          <a:ln>
            <a:noFill/>
          </a:ln>
          <a:effectLst/>
        </p:spPr>
        <p:txBody>
          <a:bodyPr rtlCol="0" anchor="ctr"/>
          <a:lstStyle/>
          <a:p>
            <a:pPr algn="ctr"/>
            <a:endParaRPr/>
          </a:p>
        </p:txBody>
      </p:sp>
      <p:sp>
        <p:nvSpPr>
          <p:cNvPr id="14" name="TextBox 13"/>
          <p:cNvSpPr txBox="1"/>
          <p:nvPr/>
        </p:nvSpPr>
        <p:spPr>
          <a:xfrm>
            <a:off x="384048" y="4828032"/>
            <a:ext cx="8375904" cy="365760"/>
          </a:xfrm>
          <a:prstGeom prst="rect">
            <a:avLst/>
          </a:prstGeom>
          <a:noFill/>
        </p:spPr>
        <p:txBody>
          <a:bodyPr wrap="square" lIns="0" tIns="0" rIns="0" bIns="0">
            <a:spAutoFit/>
          </a:bodyPr>
          <a:lstStyle/>
          <a:p>
            <a:pPr algn="l"/>
            <a:r>
              <a:rPr sz="1300" b="1" i="0">
                <a:solidFill>
                  <a:srgbClr val="1A7A3A"/>
                </a:solidFill>
                <a:latin typeface="Ubuntu"/>
              </a:rPr>
              <a:t>Qué verificar en la respuesta</a:t>
            </a:r>
          </a:p>
        </p:txBody>
      </p:sp>
      <p:sp>
        <p:nvSpPr>
          <p:cNvPr id="15" name="TextBox 14"/>
          <p:cNvSpPr txBox="1"/>
          <p:nvPr/>
        </p:nvSpPr>
        <p:spPr>
          <a:xfrm>
            <a:off x="384048" y="5138928"/>
            <a:ext cx="8375904" cy="1188720"/>
          </a:xfrm>
          <a:prstGeom prst="rect">
            <a:avLst/>
          </a:prstGeom>
          <a:noFill/>
        </p:spPr>
        <p:txBody>
          <a:bodyPr wrap="square" lIns="0" tIns="0" rIns="0" bIns="0">
            <a:spAutoFit/>
          </a:bodyPr>
          <a:lstStyle/>
          <a:p>
            <a:pPr algn="l">
              <a:lnSpc>
                <a:spcPct val="125000"/>
              </a:lnSpc>
            </a:pPr>
            <a:r>
              <a:rPr sz="1200" b="0" i="0">
                <a:solidFill>
                  <a:srgbClr val="000000"/>
                </a:solidFill>
                <a:latin typeface="Ubuntu"/>
              </a:rPr>
              <a:t>Las dos fechas citadas (8 y 4 de septiembre) corresponden a fragmentos que sí estaban en el prompt, y las cifras (40.8 y 0.17) aparecen textualmente en ellos. Lo que sí agregó el modelo por su cuenta es la frase "en los últimos 12 años", que no está en los fragmentos: incluso con la fuente enfrente conviene leer con lápiz.</a:t>
            </a:r>
          </a:p>
        </p:txBody>
      </p:sp>
      <p:sp>
        <p:nvSpPr>
          <p:cNvPr id="16" name="TextBox 15"/>
          <p:cNvSpPr txBox="1"/>
          <p:nvPr/>
        </p:nvSpPr>
        <p:spPr>
          <a:xfrm>
            <a:off x="274320" y="6547104"/>
            <a:ext cx="6400800" cy="274320"/>
          </a:xfrm>
          <a:prstGeom prst="rect">
            <a:avLst/>
          </a:prstGeom>
          <a:noFill/>
        </p:spPr>
        <p:txBody>
          <a:bodyPr wrap="square" lIns="0" tIns="0" rIns="0" bIns="0">
            <a:spAutoFit/>
          </a:bodyPr>
          <a:lstStyle/>
          <a:p>
            <a:pPr algn="l"/>
            <a:r>
              <a:rPr sz="900" b="0" i="0">
                <a:solidFill>
                  <a:srgbClr val="555555"/>
                </a:solidFill>
                <a:latin typeface="Ubuntu"/>
              </a:rPr>
              <a:t>Fuente: 02_rag_mananeras.R, paso 5a; generador qwen3.5:4b vía Ollama.</a:t>
            </a:r>
          </a:p>
        </p:txBody>
      </p:sp>
      <p:sp>
        <p:nvSpPr>
          <p:cNvPr id="17" name="TextBox 16"/>
          <p:cNvSpPr txBox="1"/>
          <p:nvPr/>
        </p:nvSpPr>
        <p:spPr>
          <a:xfrm>
            <a:off x="6766560" y="6547104"/>
            <a:ext cx="2103120" cy="274320"/>
          </a:xfrm>
          <a:prstGeom prst="rect">
            <a:avLst/>
          </a:prstGeom>
          <a:noFill/>
        </p:spPr>
        <p:txBody>
          <a:bodyPr wrap="square" lIns="0" tIns="0" rIns="0" bIns="0">
            <a:spAutoFit/>
          </a:bodyPr>
          <a:lstStyle/>
          <a:p>
            <a:pPr algn="r"/>
            <a:r>
              <a:rPr sz="900" b="0" i="1">
                <a:solidFill>
                  <a:srgbClr val="555555"/>
                </a:solidFill>
                <a:latin typeface="Ubuntu"/>
              </a:rPr>
              <a:t>RAG con las mañaneras · 17/25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4320"/>
            <a:ext cx="9144000" cy="868680"/>
          </a:xfrm>
          <a:prstGeom prst="rect">
            <a:avLst/>
          </a:prstGeom>
          <a:solidFill>
            <a:srgbClr val="1E4C7D"/>
          </a:solidFill>
          <a:ln>
            <a:noFill/>
          </a:ln>
          <a:effectLst/>
        </p:spPr>
        <p:txBody>
          <a:bodyPr rtlCol="0" anchor="ctr"/>
          <a:lstStyle/>
          <a:p>
            <a:pPr algn="ctr"/>
            <a:endParaRPr/>
          </a:p>
        </p:txBody>
      </p:sp>
      <p:sp>
        <p:nvSpPr>
          <p:cNvPr id="3" name="TextBox 2"/>
          <p:cNvSpPr txBox="1"/>
          <p:nvPr/>
        </p:nvSpPr>
        <p:spPr>
          <a:xfrm>
            <a:off x="320040" y="274320"/>
            <a:ext cx="8503920" cy="868680"/>
          </a:xfrm>
          <a:prstGeom prst="rect">
            <a:avLst/>
          </a:prstGeom>
          <a:noFill/>
        </p:spPr>
        <p:txBody>
          <a:bodyPr wrap="square" lIns="0" tIns="0" rIns="0" bIns="0" anchor="ctr">
            <a:spAutoFit/>
          </a:bodyPr>
          <a:lstStyle/>
          <a:p>
            <a:pPr algn="l"/>
            <a:r>
              <a:rPr sz="1800" b="1" i="0">
                <a:solidFill>
                  <a:srgbClr val="FFFFFF"/>
                </a:solidFill>
                <a:latin typeface="Ubuntu"/>
              </a:rPr>
              <a:t>En la variante con herramienta, el modelo decide cuándo buscar y con qué palabras</a:t>
            </a:r>
          </a:p>
        </p:txBody>
      </p:sp>
      <p:pic>
        <p:nvPicPr>
          <p:cNvPr id="4" name="Picture 3" descr="fig18_herramienta.png"/>
          <p:cNvPicPr>
            <a:picLocks noChangeAspect="1"/>
          </p:cNvPicPr>
          <p:nvPr/>
        </p:nvPicPr>
        <p:blipFill>
          <a:blip r:embed="rId2"/>
          <a:stretch>
            <a:fillRect/>
          </a:stretch>
        </p:blipFill>
        <p:spPr>
          <a:xfrm>
            <a:off x="457200" y="1234440"/>
            <a:ext cx="8229600" cy="3143462"/>
          </a:xfrm>
          <a:prstGeom prst="rect">
            <a:avLst/>
          </a:prstGeom>
        </p:spPr>
      </p:pic>
      <p:sp>
        <p:nvSpPr>
          <p:cNvPr id="5" name="Rectangle 4"/>
          <p:cNvSpPr/>
          <p:nvPr/>
        </p:nvSpPr>
        <p:spPr>
          <a:xfrm>
            <a:off x="274320" y="4434840"/>
            <a:ext cx="4251960" cy="1965960"/>
          </a:xfrm>
          <a:prstGeom prst="rect">
            <a:avLst/>
          </a:prstGeom>
          <a:solidFill>
            <a:srgbClr val="EAF2FA"/>
          </a:solidFill>
          <a:ln>
            <a:noFill/>
          </a:ln>
          <a:effectLst/>
        </p:spPr>
        <p:txBody>
          <a:bodyPr rtlCol="0" anchor="ctr"/>
          <a:lstStyle/>
          <a:p>
            <a:pPr algn="ctr"/>
            <a:endParaRPr/>
          </a:p>
        </p:txBody>
      </p:sp>
      <p:sp>
        <p:nvSpPr>
          <p:cNvPr id="6" name="TextBox 5"/>
          <p:cNvSpPr txBox="1"/>
          <p:nvPr/>
        </p:nvSpPr>
        <p:spPr>
          <a:xfrm>
            <a:off x="384048" y="4507992"/>
            <a:ext cx="4032504" cy="365760"/>
          </a:xfrm>
          <a:prstGeom prst="rect">
            <a:avLst/>
          </a:prstGeom>
          <a:noFill/>
        </p:spPr>
        <p:txBody>
          <a:bodyPr wrap="square" lIns="0" tIns="0" rIns="0" bIns="0">
            <a:spAutoFit/>
          </a:bodyPr>
          <a:lstStyle/>
          <a:p>
            <a:pPr algn="l"/>
            <a:r>
              <a:rPr sz="1300" b="1" i="0">
                <a:solidFill>
                  <a:srgbClr val="1E4C7D"/>
                </a:solidFill>
                <a:latin typeface="Ubuntu"/>
              </a:rPr>
              <a:t>Herramienta y llamada a herramientas</a:t>
            </a:r>
          </a:p>
        </p:txBody>
      </p:sp>
      <p:sp>
        <p:nvSpPr>
          <p:cNvPr id="7" name="TextBox 6"/>
          <p:cNvSpPr txBox="1"/>
          <p:nvPr/>
        </p:nvSpPr>
        <p:spPr>
          <a:xfrm>
            <a:off x="384048" y="4818888"/>
            <a:ext cx="4032504" cy="1508760"/>
          </a:xfrm>
          <a:prstGeom prst="rect">
            <a:avLst/>
          </a:prstGeom>
          <a:noFill/>
        </p:spPr>
        <p:txBody>
          <a:bodyPr wrap="square" lIns="0" tIns="0" rIns="0" bIns="0">
            <a:spAutoFit/>
          </a:bodyPr>
          <a:lstStyle/>
          <a:p>
            <a:pPr algn="l">
              <a:lnSpc>
                <a:spcPct val="125000"/>
              </a:lnSpc>
            </a:pPr>
            <a:r>
              <a:rPr sz="1050" b="0" i="0">
                <a:solidFill>
                  <a:srgbClr val="000000"/>
                </a:solidFill>
                <a:latin typeface="Ubuntu"/>
              </a:rPr>
              <a:t>Una herramienta es una función que el modelo puede invocar. La búsqueda se registra como herramienta y el modelo la llama con la consulta que él mismo formula, a veces varias veces. Sirve para preguntas compuestas y conversaciones largas. Con modelos pequeños la herramienta devuelve texto plano y solo tres fragmentos, porque las salidas largas los confunden.</a:t>
            </a:r>
          </a:p>
        </p:txBody>
      </p:sp>
      <p:sp>
        <p:nvSpPr>
          <p:cNvPr id="8" name="Rectangle 7"/>
          <p:cNvSpPr/>
          <p:nvPr/>
        </p:nvSpPr>
        <p:spPr>
          <a:xfrm>
            <a:off x="4617720" y="4434840"/>
            <a:ext cx="4251960" cy="1965960"/>
          </a:xfrm>
          <a:prstGeom prst="rect">
            <a:avLst/>
          </a:prstGeom>
          <a:solidFill>
            <a:srgbClr val="D5F5E3"/>
          </a:solidFill>
          <a:ln>
            <a:noFill/>
          </a:ln>
          <a:effectLst/>
        </p:spPr>
        <p:txBody>
          <a:bodyPr rtlCol="0" anchor="ctr"/>
          <a:lstStyle/>
          <a:p>
            <a:pPr algn="ctr"/>
            <a:endParaRPr/>
          </a:p>
        </p:txBody>
      </p:sp>
      <p:sp>
        <p:nvSpPr>
          <p:cNvPr id="9" name="TextBox 8"/>
          <p:cNvSpPr txBox="1"/>
          <p:nvPr/>
        </p:nvSpPr>
        <p:spPr>
          <a:xfrm>
            <a:off x="4727448" y="4507992"/>
            <a:ext cx="4032504" cy="365760"/>
          </a:xfrm>
          <a:prstGeom prst="rect">
            <a:avLst/>
          </a:prstGeom>
          <a:noFill/>
        </p:spPr>
        <p:txBody>
          <a:bodyPr wrap="square" lIns="0" tIns="0" rIns="0" bIns="0">
            <a:spAutoFit/>
          </a:bodyPr>
          <a:lstStyle/>
          <a:p>
            <a:pPr algn="l"/>
            <a:r>
              <a:rPr sz="1300" b="1" i="0">
                <a:solidFill>
                  <a:srgbClr val="1A7A3A"/>
                </a:solidFill>
                <a:latin typeface="Ubuntu"/>
              </a:rPr>
              <a:t>Respuesta real por herramienta</a:t>
            </a:r>
          </a:p>
        </p:txBody>
      </p:sp>
      <p:sp>
        <p:nvSpPr>
          <p:cNvPr id="10" name="TextBox 9"/>
          <p:cNvSpPr txBox="1"/>
          <p:nvPr/>
        </p:nvSpPr>
        <p:spPr>
          <a:xfrm>
            <a:off x="4727448" y="4818888"/>
            <a:ext cx="4032504" cy="1508760"/>
          </a:xfrm>
          <a:prstGeom prst="rect">
            <a:avLst/>
          </a:prstGeom>
          <a:noFill/>
        </p:spPr>
        <p:txBody>
          <a:bodyPr wrap="square" lIns="0" tIns="0" rIns="0" bIns="0">
            <a:spAutoFit/>
          </a:bodyPr>
          <a:lstStyle/>
          <a:p>
            <a:pPr algn="l">
              <a:lnSpc>
                <a:spcPct val="120000"/>
              </a:lnSpc>
            </a:pPr>
            <a:r>
              <a:rPr sz="1000" b="0" i="0">
                <a:solidFill>
                  <a:srgbClr val="000000"/>
                </a:solidFill>
                <a:latin typeface="Ubuntu"/>
              </a:rPr>
              <a:t>“Según los datos de la mañanera del 13/08/2026, los pasajeros internacionales transportados por el Tren Maya fueron 56 mil 763 en ese periodo específico. La misma cifra es confirmada en la información de la mañanera del 08/09/2026, que especifica que este volumen representa un aumento del 37.7 por ciento respecto al mismo periodo anterior. Ambos documentos señalan que este crecimiento ha contribuido significativamente al impulso turístico y económico en el sur de México.”</a:t>
            </a:r>
          </a:p>
        </p:txBody>
      </p:sp>
      <p:sp>
        <p:nvSpPr>
          <p:cNvPr id="11" name="TextBox 10"/>
          <p:cNvSpPr txBox="1"/>
          <p:nvPr/>
        </p:nvSpPr>
        <p:spPr>
          <a:xfrm>
            <a:off x="274320" y="6547104"/>
            <a:ext cx="6400800" cy="274320"/>
          </a:xfrm>
          <a:prstGeom prst="rect">
            <a:avLst/>
          </a:prstGeom>
          <a:noFill/>
        </p:spPr>
        <p:txBody>
          <a:bodyPr wrap="square" lIns="0" tIns="0" rIns="0" bIns="0">
            <a:spAutoFit/>
          </a:bodyPr>
          <a:lstStyle/>
          <a:p>
            <a:pPr algn="l"/>
            <a:r>
              <a:rPr sz="900" b="0" i="0">
                <a:solidFill>
                  <a:srgbClr val="555555"/>
                </a:solidFill>
                <a:latin typeface="Ubuntu"/>
              </a:rPr>
              <a:t>Fuente: 02_rag_mananeras.R, paso 5b.</a:t>
            </a:r>
          </a:p>
        </p:txBody>
      </p:sp>
      <p:sp>
        <p:nvSpPr>
          <p:cNvPr id="12" name="TextBox 11"/>
          <p:cNvSpPr txBox="1"/>
          <p:nvPr/>
        </p:nvSpPr>
        <p:spPr>
          <a:xfrm>
            <a:off x="6766560" y="6547104"/>
            <a:ext cx="2103120" cy="274320"/>
          </a:xfrm>
          <a:prstGeom prst="rect">
            <a:avLst/>
          </a:prstGeom>
          <a:noFill/>
        </p:spPr>
        <p:txBody>
          <a:bodyPr wrap="square" lIns="0" tIns="0" rIns="0" bIns="0">
            <a:spAutoFit/>
          </a:bodyPr>
          <a:lstStyle/>
          <a:p>
            <a:pPr algn="r"/>
            <a:r>
              <a:rPr sz="900" b="0" i="1">
                <a:solidFill>
                  <a:srgbClr val="555555"/>
                </a:solidFill>
                <a:latin typeface="Ubuntu"/>
              </a:rPr>
              <a:t>RAG con las mañaneras · 18/25</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4320"/>
            <a:ext cx="9144000" cy="868680"/>
          </a:xfrm>
          <a:prstGeom prst="rect">
            <a:avLst/>
          </a:prstGeom>
          <a:solidFill>
            <a:srgbClr val="1E4C7D"/>
          </a:solidFill>
          <a:ln>
            <a:noFill/>
          </a:ln>
          <a:effectLst/>
        </p:spPr>
        <p:txBody>
          <a:bodyPr rtlCol="0" anchor="ctr"/>
          <a:lstStyle/>
          <a:p>
            <a:pPr algn="ctr"/>
            <a:endParaRPr/>
          </a:p>
        </p:txBody>
      </p:sp>
      <p:sp>
        <p:nvSpPr>
          <p:cNvPr id="3" name="TextBox 2"/>
          <p:cNvSpPr txBox="1"/>
          <p:nvPr/>
        </p:nvSpPr>
        <p:spPr>
          <a:xfrm>
            <a:off x="320040" y="274320"/>
            <a:ext cx="8503920" cy="868680"/>
          </a:xfrm>
          <a:prstGeom prst="rect">
            <a:avLst/>
          </a:prstGeom>
          <a:noFill/>
        </p:spPr>
        <p:txBody>
          <a:bodyPr wrap="square" lIns="0" tIns="0" rIns="0" bIns="0" anchor="ctr">
            <a:spAutoFit/>
          </a:bodyPr>
          <a:lstStyle/>
          <a:p>
            <a:pPr algn="l"/>
            <a:r>
              <a:rPr sz="1800" b="1" i="0">
                <a:solidFill>
                  <a:srgbClr val="FFFFFF"/>
                </a:solidFill>
                <a:latin typeface="Ubuntu"/>
              </a:rPr>
              <a:t>Ante una pregunta sin respuesta en el corpus el sistema debe abstenerse, y el modelo pequeño lo logró al segundo intento</a:t>
            </a:r>
          </a:p>
        </p:txBody>
      </p:sp>
      <p:sp>
        <p:nvSpPr>
          <p:cNvPr id="4" name="Rectangle 3"/>
          <p:cNvSpPr/>
          <p:nvPr/>
        </p:nvSpPr>
        <p:spPr>
          <a:xfrm>
            <a:off x="274320" y="1325880"/>
            <a:ext cx="8595360" cy="548640"/>
          </a:xfrm>
          <a:prstGeom prst="rect">
            <a:avLst/>
          </a:prstGeom>
          <a:solidFill>
            <a:srgbClr val="1E4C7D"/>
          </a:solidFill>
          <a:ln>
            <a:noFill/>
          </a:ln>
          <a:effectLst/>
        </p:spPr>
        <p:txBody>
          <a:bodyPr rtlCol="0" anchor="ctr"/>
          <a:lstStyle/>
          <a:p>
            <a:pPr algn="ctr"/>
            <a:endParaRPr/>
          </a:p>
        </p:txBody>
      </p:sp>
      <p:sp>
        <p:nvSpPr>
          <p:cNvPr id="5" name="TextBox 4"/>
          <p:cNvSpPr txBox="1"/>
          <p:nvPr/>
        </p:nvSpPr>
        <p:spPr>
          <a:xfrm>
            <a:off x="411480" y="1325880"/>
            <a:ext cx="8321040" cy="548640"/>
          </a:xfrm>
          <a:prstGeom prst="rect">
            <a:avLst/>
          </a:prstGeom>
          <a:noFill/>
        </p:spPr>
        <p:txBody>
          <a:bodyPr wrap="square" lIns="0" tIns="0" rIns="0" bIns="0" anchor="ctr">
            <a:spAutoFit/>
          </a:bodyPr>
          <a:lstStyle/>
          <a:p>
            <a:pPr algn="ctr"/>
            <a:r>
              <a:rPr sz="1300" b="1" i="0">
                <a:solidFill>
                  <a:srgbClr val="FFFFFF"/>
                </a:solidFill>
                <a:latin typeface="Ubuntu"/>
              </a:rPr>
              <a:t>¿Qué dijo la presidenta sobre el resultado del Mundial de 2030?  (no hay nada en las mañaneras)</a:t>
            </a:r>
          </a:p>
        </p:txBody>
      </p:sp>
      <p:sp>
        <p:nvSpPr>
          <p:cNvPr id="6" name="Rectangle 5"/>
          <p:cNvSpPr/>
          <p:nvPr/>
        </p:nvSpPr>
        <p:spPr>
          <a:xfrm>
            <a:off x="274320" y="2011680"/>
            <a:ext cx="4251960" cy="2514600"/>
          </a:xfrm>
          <a:prstGeom prst="rect">
            <a:avLst/>
          </a:prstGeom>
          <a:solidFill>
            <a:srgbClr val="FADBD8"/>
          </a:solidFill>
          <a:ln>
            <a:noFill/>
          </a:ln>
          <a:effectLst/>
        </p:spPr>
        <p:txBody>
          <a:bodyPr rtlCol="0" anchor="ctr"/>
          <a:lstStyle/>
          <a:p>
            <a:pPr algn="ctr"/>
            <a:endParaRPr/>
          </a:p>
        </p:txBody>
      </p:sp>
      <p:sp>
        <p:nvSpPr>
          <p:cNvPr id="7" name="TextBox 6"/>
          <p:cNvSpPr txBox="1"/>
          <p:nvPr/>
        </p:nvSpPr>
        <p:spPr>
          <a:xfrm>
            <a:off x="384048" y="2084832"/>
            <a:ext cx="4032504" cy="365760"/>
          </a:xfrm>
          <a:prstGeom prst="rect">
            <a:avLst/>
          </a:prstGeom>
          <a:noFill/>
        </p:spPr>
        <p:txBody>
          <a:bodyPr wrap="square" lIns="0" tIns="0" rIns="0" bIns="0">
            <a:spAutoFit/>
          </a:bodyPr>
          <a:lstStyle/>
          <a:p>
            <a:pPr algn="l"/>
            <a:r>
              <a:rPr sz="1300" b="1" i="0">
                <a:solidFill>
                  <a:srgbClr val="C0392B"/>
                </a:solidFill>
                <a:latin typeface="Ubuntu"/>
              </a:rPr>
              <a:t>Intento 1: el modelo divaga</a:t>
            </a:r>
          </a:p>
        </p:txBody>
      </p:sp>
      <p:sp>
        <p:nvSpPr>
          <p:cNvPr id="8" name="TextBox 7"/>
          <p:cNvSpPr txBox="1"/>
          <p:nvPr/>
        </p:nvSpPr>
        <p:spPr>
          <a:xfrm>
            <a:off x="384048" y="2395728"/>
            <a:ext cx="4032504" cy="2057400"/>
          </a:xfrm>
          <a:prstGeom prst="rect">
            <a:avLst/>
          </a:prstGeom>
          <a:noFill/>
        </p:spPr>
        <p:txBody>
          <a:bodyPr wrap="square" lIns="0" tIns="0" rIns="0" bIns="0">
            <a:spAutoFit/>
          </a:bodyPr>
          <a:lstStyle/>
          <a:p>
            <a:pPr algn="l">
              <a:lnSpc>
                <a:spcPct val="125000"/>
              </a:lnSpc>
            </a:pPr>
            <a:r>
              <a:rPr sz="1100" b="0" i="0">
                <a:solidFill>
                  <a:srgbClr val="000000"/>
                </a:solidFill>
                <a:latin typeface="Ubuntu"/>
              </a:rPr>
              <a:t>“En la mañanera del 12/08/2026, la presidenta no mencionó resultados específicos sobre un Mundial de 2030. Señaló que México regresó del último torneo realizado con el primer lugar del medallero general y 407 medallas, lo cual consolidó al país como líder de su región. A pesar de no haber datos concretos sobre el Mundial de 2030 en la información consultada, se enfatizó el espíritu de ser grandes anfitriones si algún evento similar tuviera lugar en México.”</a:t>
            </a:r>
          </a:p>
        </p:txBody>
      </p:sp>
      <p:sp>
        <p:nvSpPr>
          <p:cNvPr id="9" name="Rectangle 8"/>
          <p:cNvSpPr/>
          <p:nvPr/>
        </p:nvSpPr>
        <p:spPr>
          <a:xfrm>
            <a:off x="4617720" y="2011680"/>
            <a:ext cx="4251960" cy="2514600"/>
          </a:xfrm>
          <a:prstGeom prst="rect">
            <a:avLst/>
          </a:prstGeom>
          <a:solidFill>
            <a:srgbClr val="D5F5E3"/>
          </a:solidFill>
          <a:ln>
            <a:noFill/>
          </a:ln>
          <a:effectLst/>
        </p:spPr>
        <p:txBody>
          <a:bodyPr rtlCol="0" anchor="ctr"/>
          <a:lstStyle/>
          <a:p>
            <a:pPr algn="ctr"/>
            <a:endParaRPr/>
          </a:p>
        </p:txBody>
      </p:sp>
      <p:sp>
        <p:nvSpPr>
          <p:cNvPr id="10" name="TextBox 9"/>
          <p:cNvSpPr txBox="1"/>
          <p:nvPr/>
        </p:nvSpPr>
        <p:spPr>
          <a:xfrm>
            <a:off x="4727448" y="2084832"/>
            <a:ext cx="4032504" cy="365760"/>
          </a:xfrm>
          <a:prstGeom prst="rect">
            <a:avLst/>
          </a:prstGeom>
          <a:noFill/>
        </p:spPr>
        <p:txBody>
          <a:bodyPr wrap="square" lIns="0" tIns="0" rIns="0" bIns="0">
            <a:spAutoFit/>
          </a:bodyPr>
          <a:lstStyle/>
          <a:p>
            <a:pPr algn="l"/>
            <a:r>
              <a:rPr sz="1300" b="1" i="0">
                <a:solidFill>
                  <a:srgbClr val="1A7A3A"/>
                </a:solidFill>
                <a:latin typeface="Ubuntu"/>
              </a:rPr>
              <a:t>Intento 2: el modelo se abstiene</a:t>
            </a:r>
          </a:p>
        </p:txBody>
      </p:sp>
      <p:sp>
        <p:nvSpPr>
          <p:cNvPr id="11" name="TextBox 10"/>
          <p:cNvSpPr txBox="1"/>
          <p:nvPr/>
        </p:nvSpPr>
        <p:spPr>
          <a:xfrm>
            <a:off x="4727448" y="2395728"/>
            <a:ext cx="4032504" cy="2057400"/>
          </a:xfrm>
          <a:prstGeom prst="rect">
            <a:avLst/>
          </a:prstGeom>
          <a:noFill/>
        </p:spPr>
        <p:txBody>
          <a:bodyPr wrap="square" lIns="0" tIns="0" rIns="0" bIns="0">
            <a:spAutoFit/>
          </a:bodyPr>
          <a:lstStyle/>
          <a:p>
            <a:pPr algn="l">
              <a:lnSpc>
                <a:spcPct val="125000"/>
              </a:lnSpc>
            </a:pPr>
            <a:r>
              <a:rPr sz="1100" b="0" i="0">
                <a:solidFill>
                  <a:srgbClr val="000000"/>
                </a:solidFill>
                <a:latin typeface="Ubuntu"/>
              </a:rPr>
              <a:t>“No aparecen datos específicos del Mundial de 2030 en las mañaneras consultadas. Se mencionó que México consolidó un récord deportivo tras el último torneo disputado en la región, pero no hay referencias sobre los resultados o expectativas para dicho evento futuro.”</a:t>
            </a:r>
          </a:p>
        </p:txBody>
      </p:sp>
      <p:sp>
        <p:nvSpPr>
          <p:cNvPr id="12" name="Rectangle 11"/>
          <p:cNvSpPr/>
          <p:nvPr/>
        </p:nvSpPr>
        <p:spPr>
          <a:xfrm>
            <a:off x="274320" y="4663440"/>
            <a:ext cx="8595360" cy="1691640"/>
          </a:xfrm>
          <a:prstGeom prst="rect">
            <a:avLst/>
          </a:prstGeom>
          <a:solidFill>
            <a:srgbClr val="F0FAF0"/>
          </a:solidFill>
          <a:ln>
            <a:noFill/>
          </a:ln>
          <a:effectLst/>
        </p:spPr>
        <p:txBody>
          <a:bodyPr rtlCol="0" anchor="ctr"/>
          <a:lstStyle/>
          <a:p>
            <a:pPr algn="ctr"/>
            <a:endParaRPr/>
          </a:p>
        </p:txBody>
      </p:sp>
      <p:sp>
        <p:nvSpPr>
          <p:cNvPr id="13" name="TextBox 12"/>
          <p:cNvSpPr txBox="1"/>
          <p:nvPr/>
        </p:nvSpPr>
        <p:spPr>
          <a:xfrm>
            <a:off x="384048" y="4736592"/>
            <a:ext cx="8375904" cy="365760"/>
          </a:xfrm>
          <a:prstGeom prst="rect">
            <a:avLst/>
          </a:prstGeom>
          <a:noFill/>
        </p:spPr>
        <p:txBody>
          <a:bodyPr wrap="square" lIns="0" tIns="0" rIns="0" bIns="0">
            <a:spAutoFit/>
          </a:bodyPr>
          <a:lstStyle/>
          <a:p>
            <a:pPr algn="l"/>
            <a:r>
              <a:rPr sz="1300" b="1" i="0">
                <a:solidFill>
                  <a:srgbClr val="1A7A3A"/>
                </a:solidFill>
                <a:latin typeface="Ubuntu"/>
              </a:rPr>
              <a:t>Lección</a:t>
            </a:r>
          </a:p>
        </p:txBody>
      </p:sp>
      <p:sp>
        <p:nvSpPr>
          <p:cNvPr id="14" name="TextBox 13"/>
          <p:cNvSpPr txBox="1"/>
          <p:nvPr/>
        </p:nvSpPr>
        <p:spPr>
          <a:xfrm>
            <a:off x="384048" y="5047488"/>
            <a:ext cx="8375904" cy="1234440"/>
          </a:xfrm>
          <a:prstGeom prst="rect">
            <a:avLst/>
          </a:prstGeom>
          <a:noFill/>
        </p:spPr>
        <p:txBody>
          <a:bodyPr wrap="square" lIns="0" tIns="0" rIns="0" bIns="0">
            <a:spAutoFit/>
          </a:bodyPr>
          <a:lstStyle/>
          <a:p>
            <a:pPr algn="l">
              <a:lnSpc>
                <a:spcPct val="125000"/>
              </a:lnSpc>
            </a:pPr>
            <a:r>
              <a:rPr sz="1200" b="0" i="0">
                <a:solidFill>
                  <a:srgbClr val="000000"/>
                </a:solidFill>
                <a:latin typeface="Ubuntu"/>
              </a:rPr>
              <a:t>La recuperación fue correcta las dos veces: no había nada relevante que traer. La generación es la que falla. Un sistema de RAG hereda los errores de sus dos modelos, y con un generador más grande el primer intento no habría ocurrido. Aun así, la instrucción de sistema no garantiza nada: hay que evaluar.</a:t>
            </a:r>
          </a:p>
        </p:txBody>
      </p:sp>
      <p:sp>
        <p:nvSpPr>
          <p:cNvPr id="15" name="TextBox 14"/>
          <p:cNvSpPr txBox="1"/>
          <p:nvPr/>
        </p:nvSpPr>
        <p:spPr>
          <a:xfrm>
            <a:off x="274320" y="6547104"/>
            <a:ext cx="6400800" cy="274320"/>
          </a:xfrm>
          <a:prstGeom prst="rect">
            <a:avLst/>
          </a:prstGeom>
          <a:noFill/>
        </p:spPr>
        <p:txBody>
          <a:bodyPr wrap="square" lIns="0" tIns="0" rIns="0" bIns="0">
            <a:spAutoFit/>
          </a:bodyPr>
          <a:lstStyle/>
          <a:p>
            <a:pPr algn="l"/>
            <a:r>
              <a:rPr sz="900" b="0" i="0">
                <a:solidFill>
                  <a:srgbClr val="555555"/>
                </a:solidFill>
                <a:latin typeface="Ubuntu"/>
              </a:rPr>
              <a:t>Fuente: 02_rag_mananeras.R, paso 5b; generador qwen3.5:4b. Respuestas textuales.</a:t>
            </a:r>
          </a:p>
        </p:txBody>
      </p:sp>
      <p:sp>
        <p:nvSpPr>
          <p:cNvPr id="16" name="TextBox 15"/>
          <p:cNvSpPr txBox="1"/>
          <p:nvPr/>
        </p:nvSpPr>
        <p:spPr>
          <a:xfrm>
            <a:off x="6766560" y="6547104"/>
            <a:ext cx="2103120" cy="274320"/>
          </a:xfrm>
          <a:prstGeom prst="rect">
            <a:avLst/>
          </a:prstGeom>
          <a:noFill/>
        </p:spPr>
        <p:txBody>
          <a:bodyPr wrap="square" lIns="0" tIns="0" rIns="0" bIns="0">
            <a:spAutoFit/>
          </a:bodyPr>
          <a:lstStyle/>
          <a:p>
            <a:pPr algn="r"/>
            <a:r>
              <a:rPr sz="900" b="0" i="1">
                <a:solidFill>
                  <a:srgbClr val="555555"/>
                </a:solidFill>
                <a:latin typeface="Ubuntu"/>
              </a:rPr>
              <a:t>RAG con las mañaneras · 19/25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4320"/>
            <a:ext cx="9144000" cy="868680"/>
          </a:xfrm>
          <a:prstGeom prst="rect">
            <a:avLst/>
          </a:prstGeom>
          <a:solidFill>
            <a:srgbClr val="1E4C7D"/>
          </a:solidFill>
          <a:ln>
            <a:noFill/>
          </a:ln>
          <a:effectLst/>
        </p:spPr>
        <p:txBody>
          <a:bodyPr rtlCol="0" anchor="ctr"/>
          <a:lstStyle/>
          <a:p>
            <a:pPr algn="ctr"/>
            <a:endParaRPr/>
          </a:p>
        </p:txBody>
      </p:sp>
      <p:sp>
        <p:nvSpPr>
          <p:cNvPr id="3" name="TextBox 2"/>
          <p:cNvSpPr txBox="1"/>
          <p:nvPr/>
        </p:nvSpPr>
        <p:spPr>
          <a:xfrm>
            <a:off x="320040" y="274320"/>
            <a:ext cx="8503920" cy="868680"/>
          </a:xfrm>
          <a:prstGeom prst="rect">
            <a:avLst/>
          </a:prstGeom>
          <a:noFill/>
        </p:spPr>
        <p:txBody>
          <a:bodyPr wrap="square" lIns="0" tIns="0" rIns="0" bIns="0" anchor="ctr">
            <a:spAutoFit/>
          </a:bodyPr>
          <a:lstStyle/>
          <a:p>
            <a:pPr algn="l"/>
            <a:r>
              <a:rPr sz="1800" b="1" i="0">
                <a:solidFill>
                  <a:srgbClr val="FFFFFF"/>
                </a:solidFill>
                <a:latin typeface="Ubuntu"/>
              </a:rPr>
              <a:t>Con ocho preguntas de respuesta conocida, los tres métodos recuperaron la mañanera correcta el 100 % de las veces</a:t>
            </a:r>
          </a:p>
        </p:txBody>
      </p:sp>
      <p:pic>
        <p:nvPicPr>
          <p:cNvPr id="4" name="Picture 3" descr="fig20_evaluacion.png"/>
          <p:cNvPicPr>
            <a:picLocks noChangeAspect="1"/>
          </p:cNvPicPr>
          <p:nvPr/>
        </p:nvPicPr>
        <p:blipFill>
          <a:blip r:embed="rId3"/>
          <a:stretch>
            <a:fillRect/>
          </a:stretch>
        </p:blipFill>
        <p:spPr>
          <a:xfrm>
            <a:off x="274320" y="1234440"/>
            <a:ext cx="8595360" cy="3054833"/>
          </a:xfrm>
          <a:prstGeom prst="rect">
            <a:avLst/>
          </a:prstGeom>
        </p:spPr>
      </p:pic>
      <p:sp>
        <p:nvSpPr>
          <p:cNvPr id="5" name="Rectangle 4"/>
          <p:cNvSpPr/>
          <p:nvPr/>
        </p:nvSpPr>
        <p:spPr>
          <a:xfrm>
            <a:off x="274320" y="4434840"/>
            <a:ext cx="2743200" cy="1920240"/>
          </a:xfrm>
          <a:prstGeom prst="rect">
            <a:avLst/>
          </a:prstGeom>
          <a:solidFill>
            <a:srgbClr val="EAF2FA"/>
          </a:solidFill>
          <a:ln>
            <a:noFill/>
          </a:ln>
          <a:effectLst/>
        </p:spPr>
        <p:txBody>
          <a:bodyPr rtlCol="0" anchor="ctr"/>
          <a:lstStyle/>
          <a:p>
            <a:pPr algn="ctr"/>
            <a:endParaRPr/>
          </a:p>
        </p:txBody>
      </p:sp>
      <p:sp>
        <p:nvSpPr>
          <p:cNvPr id="6" name="TextBox 5"/>
          <p:cNvSpPr txBox="1"/>
          <p:nvPr/>
        </p:nvSpPr>
        <p:spPr>
          <a:xfrm>
            <a:off x="384048" y="4507992"/>
            <a:ext cx="2523744" cy="365760"/>
          </a:xfrm>
          <a:prstGeom prst="rect">
            <a:avLst/>
          </a:prstGeom>
          <a:noFill/>
        </p:spPr>
        <p:txBody>
          <a:bodyPr wrap="square" lIns="0" tIns="0" rIns="0" bIns="0">
            <a:spAutoFit/>
          </a:bodyPr>
          <a:lstStyle/>
          <a:p>
            <a:pPr algn="l"/>
            <a:r>
              <a:rPr sz="1300" b="1" i="0">
                <a:solidFill>
                  <a:srgbClr val="1E4C7D"/>
                </a:solidFill>
                <a:latin typeface="Ubuntu"/>
              </a:rPr>
              <a:t>Conjunto de prueba</a:t>
            </a:r>
          </a:p>
        </p:txBody>
      </p:sp>
      <p:sp>
        <p:nvSpPr>
          <p:cNvPr id="7" name="TextBox 6"/>
          <p:cNvSpPr txBox="1"/>
          <p:nvPr/>
        </p:nvSpPr>
        <p:spPr>
          <a:xfrm>
            <a:off x="384048" y="4818888"/>
            <a:ext cx="2523744" cy="1463040"/>
          </a:xfrm>
          <a:prstGeom prst="rect">
            <a:avLst/>
          </a:prstGeom>
          <a:noFill/>
        </p:spPr>
        <p:txBody>
          <a:bodyPr wrap="square" lIns="0" tIns="0" rIns="0" bIns="0">
            <a:spAutoFit/>
          </a:bodyPr>
          <a:lstStyle/>
          <a:p>
            <a:pPr algn="l">
              <a:lnSpc>
                <a:spcPct val="125000"/>
              </a:lnSpc>
            </a:pPr>
            <a:r>
              <a:rPr sz="1100" b="0" i="0">
                <a:solidFill>
                  <a:srgbClr val="000000"/>
                </a:solidFill>
                <a:latin typeface="Ubuntu"/>
              </a:rPr>
              <a:t>Preguntas con respuesta y fragmento esperado, escritas a mano por quien conoce el corpus. Sin él no se sabe si un cambio mejoró o empeoró el sistema.</a:t>
            </a:r>
          </a:p>
        </p:txBody>
      </p:sp>
      <p:sp>
        <p:nvSpPr>
          <p:cNvPr id="8" name="Rectangle 7"/>
          <p:cNvSpPr/>
          <p:nvPr/>
        </p:nvSpPr>
        <p:spPr>
          <a:xfrm>
            <a:off x="3136392" y="4434840"/>
            <a:ext cx="2743200" cy="1920240"/>
          </a:xfrm>
          <a:prstGeom prst="rect">
            <a:avLst/>
          </a:prstGeom>
          <a:solidFill>
            <a:srgbClr val="EAF2FA"/>
          </a:solidFill>
          <a:ln>
            <a:noFill/>
          </a:ln>
          <a:effectLst/>
        </p:spPr>
        <p:txBody>
          <a:bodyPr rtlCol="0" anchor="ctr"/>
          <a:lstStyle/>
          <a:p>
            <a:pPr algn="ctr"/>
            <a:endParaRPr/>
          </a:p>
        </p:txBody>
      </p:sp>
      <p:sp>
        <p:nvSpPr>
          <p:cNvPr id="9" name="TextBox 8"/>
          <p:cNvSpPr txBox="1"/>
          <p:nvPr/>
        </p:nvSpPr>
        <p:spPr>
          <a:xfrm>
            <a:off x="3246120" y="4507992"/>
            <a:ext cx="2523744" cy="365760"/>
          </a:xfrm>
          <a:prstGeom prst="rect">
            <a:avLst/>
          </a:prstGeom>
          <a:noFill/>
        </p:spPr>
        <p:txBody>
          <a:bodyPr wrap="square" lIns="0" tIns="0" rIns="0" bIns="0">
            <a:spAutoFit/>
          </a:bodyPr>
          <a:lstStyle/>
          <a:p>
            <a:pPr algn="l"/>
            <a:r>
              <a:rPr sz="1300" b="1" i="0">
                <a:solidFill>
                  <a:srgbClr val="1E4C7D"/>
                </a:solidFill>
                <a:latin typeface="Ubuntu"/>
              </a:rPr>
              <a:t>hit@k</a:t>
            </a:r>
          </a:p>
        </p:txBody>
      </p:sp>
      <p:sp>
        <p:nvSpPr>
          <p:cNvPr id="10" name="TextBox 9"/>
          <p:cNvSpPr txBox="1"/>
          <p:nvPr/>
        </p:nvSpPr>
        <p:spPr>
          <a:xfrm>
            <a:off x="3246120" y="4818888"/>
            <a:ext cx="2523744" cy="1463040"/>
          </a:xfrm>
          <a:prstGeom prst="rect">
            <a:avLst/>
          </a:prstGeom>
          <a:noFill/>
        </p:spPr>
        <p:txBody>
          <a:bodyPr wrap="square" lIns="0" tIns="0" rIns="0" bIns="0">
            <a:spAutoFit/>
          </a:bodyPr>
          <a:lstStyle/>
          <a:p>
            <a:pPr algn="l">
              <a:lnSpc>
                <a:spcPct val="125000"/>
              </a:lnSpc>
            </a:pPr>
            <a:r>
              <a:rPr sz="1100" b="0" i="0">
                <a:solidFill>
                  <a:srgbClr val="000000"/>
                </a:solidFill>
                <a:latin typeface="Ubuntu"/>
              </a:rPr>
              <a:t>Proporción de preguntas para las que el documento correcto aparece entre los k primeros recuperados. La métrica más simple y la primera que se calcula.</a:t>
            </a:r>
          </a:p>
        </p:txBody>
      </p:sp>
      <p:sp>
        <p:nvSpPr>
          <p:cNvPr id="11" name="Rectangle 10"/>
          <p:cNvSpPr/>
          <p:nvPr/>
        </p:nvSpPr>
        <p:spPr>
          <a:xfrm>
            <a:off x="6007608" y="4434840"/>
            <a:ext cx="2743200" cy="1920240"/>
          </a:xfrm>
          <a:prstGeom prst="rect">
            <a:avLst/>
          </a:prstGeom>
          <a:solidFill>
            <a:srgbClr val="FADBD8"/>
          </a:solidFill>
          <a:ln>
            <a:noFill/>
          </a:ln>
          <a:effectLst/>
        </p:spPr>
        <p:txBody>
          <a:bodyPr rtlCol="0" anchor="ctr"/>
          <a:lstStyle/>
          <a:p>
            <a:pPr algn="ctr"/>
            <a:endParaRPr/>
          </a:p>
        </p:txBody>
      </p:sp>
      <p:sp>
        <p:nvSpPr>
          <p:cNvPr id="12" name="TextBox 11"/>
          <p:cNvSpPr txBox="1"/>
          <p:nvPr/>
        </p:nvSpPr>
        <p:spPr>
          <a:xfrm>
            <a:off x="6117336" y="4507992"/>
            <a:ext cx="2523744" cy="365760"/>
          </a:xfrm>
          <a:prstGeom prst="rect">
            <a:avLst/>
          </a:prstGeom>
          <a:noFill/>
        </p:spPr>
        <p:txBody>
          <a:bodyPr wrap="square" lIns="0" tIns="0" rIns="0" bIns="0">
            <a:spAutoFit/>
          </a:bodyPr>
          <a:lstStyle/>
          <a:p>
            <a:pPr algn="l"/>
            <a:r>
              <a:rPr sz="1300" b="1" i="0">
                <a:solidFill>
                  <a:srgbClr val="C0392B"/>
                </a:solidFill>
                <a:latin typeface="Ubuntu"/>
              </a:rPr>
              <a:t>Lo que hit@5 no mide</a:t>
            </a:r>
          </a:p>
        </p:txBody>
      </p:sp>
      <p:sp>
        <p:nvSpPr>
          <p:cNvPr id="13" name="TextBox 12"/>
          <p:cNvSpPr txBox="1"/>
          <p:nvPr/>
        </p:nvSpPr>
        <p:spPr>
          <a:xfrm>
            <a:off x="6117336" y="4818888"/>
            <a:ext cx="2523744" cy="1463040"/>
          </a:xfrm>
          <a:prstGeom prst="rect">
            <a:avLst/>
          </a:prstGeom>
          <a:noFill/>
        </p:spPr>
        <p:txBody>
          <a:bodyPr wrap="square" lIns="0" tIns="0" rIns="0" bIns="0">
            <a:spAutoFit/>
          </a:bodyPr>
          <a:lstStyle/>
          <a:p>
            <a:pPr algn="l">
              <a:lnSpc>
                <a:spcPct val="125000"/>
              </a:lnSpc>
            </a:pPr>
            <a:r>
              <a:rPr sz="1100" b="0" i="0">
                <a:solidFill>
                  <a:srgbClr val="000000"/>
                </a:solidFill>
                <a:latin typeface="Ubuntu"/>
              </a:rPr>
              <a:t>Fidelidad: si la respuesta se sostiene solo en los fragmentos. Completitud: si cubre todo lo preguntado. La diapositiva anterior es un fallo de fidelidad con recuperación perfecta.</a:t>
            </a:r>
          </a:p>
        </p:txBody>
      </p:sp>
      <p:sp>
        <p:nvSpPr>
          <p:cNvPr id="14" name="TextBox 13"/>
          <p:cNvSpPr txBox="1"/>
          <p:nvPr/>
        </p:nvSpPr>
        <p:spPr>
          <a:xfrm>
            <a:off x="274320" y="6547104"/>
            <a:ext cx="6400800" cy="274320"/>
          </a:xfrm>
          <a:prstGeom prst="rect">
            <a:avLst/>
          </a:prstGeom>
          <a:noFill/>
        </p:spPr>
        <p:txBody>
          <a:bodyPr wrap="square" lIns="0" tIns="0" rIns="0" bIns="0">
            <a:spAutoFit/>
          </a:bodyPr>
          <a:lstStyle/>
          <a:p>
            <a:pPr algn="l"/>
            <a:r>
              <a:rPr sz="900" b="0" i="0">
                <a:solidFill>
                  <a:srgbClr val="555555"/>
                </a:solidFill>
                <a:latin typeface="Ubuntu"/>
              </a:rPr>
              <a:t>Fuente: 02_rag_mananeras.R, paso 6; 26 mañaneras, top-k = 5.</a:t>
            </a:r>
          </a:p>
        </p:txBody>
      </p:sp>
      <p:sp>
        <p:nvSpPr>
          <p:cNvPr id="15" name="TextBox 14"/>
          <p:cNvSpPr txBox="1"/>
          <p:nvPr/>
        </p:nvSpPr>
        <p:spPr>
          <a:xfrm>
            <a:off x="6766560" y="6547104"/>
            <a:ext cx="2103120" cy="274320"/>
          </a:xfrm>
          <a:prstGeom prst="rect">
            <a:avLst/>
          </a:prstGeom>
          <a:noFill/>
        </p:spPr>
        <p:txBody>
          <a:bodyPr wrap="square" lIns="0" tIns="0" rIns="0" bIns="0">
            <a:spAutoFit/>
          </a:bodyPr>
          <a:lstStyle/>
          <a:p>
            <a:pPr algn="r"/>
            <a:r>
              <a:rPr sz="900" b="0" i="1">
                <a:solidFill>
                  <a:srgbClr val="555555"/>
                </a:solidFill>
                <a:latin typeface="Ubuntu"/>
              </a:rPr>
              <a:t>RAG con las mañaneras · 20/25</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4320"/>
            <a:ext cx="9144000" cy="868680"/>
          </a:xfrm>
          <a:prstGeom prst="rect">
            <a:avLst/>
          </a:prstGeom>
          <a:solidFill>
            <a:srgbClr val="1E4C7D"/>
          </a:solidFill>
          <a:ln>
            <a:noFill/>
          </a:ln>
          <a:effectLst/>
        </p:spPr>
        <p:txBody>
          <a:bodyPr rtlCol="0" anchor="ctr"/>
          <a:lstStyle/>
          <a:p>
            <a:pPr algn="ctr"/>
            <a:endParaRPr/>
          </a:p>
        </p:txBody>
      </p:sp>
      <p:sp>
        <p:nvSpPr>
          <p:cNvPr id="3" name="TextBox 2"/>
          <p:cNvSpPr txBox="1"/>
          <p:nvPr/>
        </p:nvSpPr>
        <p:spPr>
          <a:xfrm>
            <a:off x="320040" y="274320"/>
            <a:ext cx="8503920" cy="868680"/>
          </a:xfrm>
          <a:prstGeom prst="rect">
            <a:avLst/>
          </a:prstGeom>
          <a:noFill/>
        </p:spPr>
        <p:txBody>
          <a:bodyPr wrap="square" lIns="0" tIns="0" rIns="0" bIns="0" anchor="ctr">
            <a:spAutoFit/>
          </a:bodyPr>
          <a:lstStyle/>
          <a:p>
            <a:pPr algn="l"/>
            <a:r>
              <a:rPr sz="1800" b="1" i="0">
                <a:solidFill>
                  <a:srgbClr val="FFFFFF"/>
                </a:solidFill>
                <a:latin typeface="Ubuntu"/>
              </a:rPr>
              <a:t>Cada parámetro del flujo es una decisión con costo: tamaño de fragmento, top-k, modelo y equipo</a:t>
            </a:r>
          </a:p>
        </p:txBody>
      </p:sp>
      <p:sp>
        <p:nvSpPr>
          <p:cNvPr id="4" name="Rectangle 3"/>
          <p:cNvSpPr/>
          <p:nvPr/>
        </p:nvSpPr>
        <p:spPr>
          <a:xfrm>
            <a:off x="274320" y="1371600"/>
            <a:ext cx="4251960" cy="2331720"/>
          </a:xfrm>
          <a:prstGeom prst="rect">
            <a:avLst/>
          </a:prstGeom>
          <a:solidFill>
            <a:srgbClr val="EAF2FA"/>
          </a:solidFill>
          <a:ln>
            <a:noFill/>
          </a:ln>
          <a:effectLst/>
        </p:spPr>
        <p:txBody>
          <a:bodyPr rtlCol="0" anchor="ctr"/>
          <a:lstStyle/>
          <a:p>
            <a:pPr algn="ctr"/>
            <a:endParaRPr/>
          </a:p>
        </p:txBody>
      </p:sp>
      <p:sp>
        <p:nvSpPr>
          <p:cNvPr id="5" name="TextBox 4"/>
          <p:cNvSpPr txBox="1"/>
          <p:nvPr/>
        </p:nvSpPr>
        <p:spPr>
          <a:xfrm>
            <a:off x="384048" y="1444752"/>
            <a:ext cx="4032504" cy="365760"/>
          </a:xfrm>
          <a:prstGeom prst="rect">
            <a:avLst/>
          </a:prstGeom>
          <a:noFill/>
        </p:spPr>
        <p:txBody>
          <a:bodyPr wrap="square" lIns="0" tIns="0" rIns="0" bIns="0">
            <a:spAutoFit/>
          </a:bodyPr>
          <a:lstStyle/>
          <a:p>
            <a:pPr algn="l"/>
            <a:r>
              <a:rPr sz="1700" b="1" i="0">
                <a:solidFill>
                  <a:srgbClr val="1E4C7D"/>
                </a:solidFill>
                <a:latin typeface="Ubuntu"/>
              </a:rPr>
              <a:t>Tamaño de fragmento y traslape</a:t>
            </a:r>
          </a:p>
        </p:txBody>
      </p:sp>
      <p:sp>
        <p:nvSpPr>
          <p:cNvPr id="6" name="TextBox 5"/>
          <p:cNvSpPr txBox="1"/>
          <p:nvPr/>
        </p:nvSpPr>
        <p:spPr>
          <a:xfrm>
            <a:off x="384048" y="1755648"/>
            <a:ext cx="4032504" cy="1874520"/>
          </a:xfrm>
          <a:prstGeom prst="rect">
            <a:avLst/>
          </a:prstGeom>
          <a:noFill/>
        </p:spPr>
        <p:txBody>
          <a:bodyPr wrap="square" lIns="0" tIns="0" rIns="0" bIns="0">
            <a:spAutoFit/>
          </a:bodyPr>
          <a:lstStyle/>
          <a:p>
            <a:pPr algn="l">
              <a:lnSpc>
                <a:spcPct val="140000"/>
              </a:lnSpc>
            </a:pPr>
            <a:r>
              <a:rPr sz="1400" b="0" i="0">
                <a:solidFill>
                  <a:srgbClr val="000000"/>
                </a:solidFill>
                <a:latin typeface="Ubuntu"/>
              </a:rPr>
              <a:t>Afectan precisión y volumen. Se ajustan con el conjunto de prueba, no por intuición.</a:t>
            </a:r>
          </a:p>
        </p:txBody>
      </p:sp>
      <p:sp>
        <p:nvSpPr>
          <p:cNvPr id="7" name="Rectangle 6"/>
          <p:cNvSpPr/>
          <p:nvPr/>
        </p:nvSpPr>
        <p:spPr>
          <a:xfrm>
            <a:off x="4617720" y="1371600"/>
            <a:ext cx="4251960" cy="2331720"/>
          </a:xfrm>
          <a:prstGeom prst="rect">
            <a:avLst/>
          </a:prstGeom>
          <a:solidFill>
            <a:srgbClr val="EAF2FA"/>
          </a:solidFill>
          <a:ln>
            <a:noFill/>
          </a:ln>
          <a:effectLst/>
        </p:spPr>
        <p:txBody>
          <a:bodyPr rtlCol="0" anchor="ctr"/>
          <a:lstStyle/>
          <a:p>
            <a:pPr algn="ctr"/>
            <a:endParaRPr/>
          </a:p>
        </p:txBody>
      </p:sp>
      <p:sp>
        <p:nvSpPr>
          <p:cNvPr id="8" name="TextBox 7"/>
          <p:cNvSpPr txBox="1"/>
          <p:nvPr/>
        </p:nvSpPr>
        <p:spPr>
          <a:xfrm>
            <a:off x="4727448" y="1444752"/>
            <a:ext cx="4032504" cy="365760"/>
          </a:xfrm>
          <a:prstGeom prst="rect">
            <a:avLst/>
          </a:prstGeom>
          <a:noFill/>
        </p:spPr>
        <p:txBody>
          <a:bodyPr wrap="square" lIns="0" tIns="0" rIns="0" bIns="0">
            <a:spAutoFit/>
          </a:bodyPr>
          <a:lstStyle/>
          <a:p>
            <a:pPr algn="l"/>
            <a:r>
              <a:rPr sz="1700" b="1" i="0">
                <a:solidFill>
                  <a:srgbClr val="1E4C7D"/>
                </a:solidFill>
                <a:latin typeface="Ubuntu"/>
              </a:rPr>
              <a:t>top-k</a:t>
            </a:r>
          </a:p>
        </p:txBody>
      </p:sp>
      <p:sp>
        <p:nvSpPr>
          <p:cNvPr id="9" name="TextBox 8"/>
          <p:cNvSpPr txBox="1"/>
          <p:nvPr/>
        </p:nvSpPr>
        <p:spPr>
          <a:xfrm>
            <a:off x="4727448" y="1755648"/>
            <a:ext cx="4032504" cy="1874520"/>
          </a:xfrm>
          <a:prstGeom prst="rect">
            <a:avLst/>
          </a:prstGeom>
          <a:noFill/>
        </p:spPr>
        <p:txBody>
          <a:bodyPr wrap="square" lIns="0" tIns="0" rIns="0" bIns="0">
            <a:spAutoFit/>
          </a:bodyPr>
          <a:lstStyle/>
          <a:p>
            <a:pPr algn="l">
              <a:lnSpc>
                <a:spcPct val="140000"/>
              </a:lnSpc>
            </a:pPr>
            <a:r>
              <a:rPr sz="1400" b="0" i="0">
                <a:solidFill>
                  <a:srgbClr val="000000"/>
                </a:solidFill>
                <a:latin typeface="Ubuntu"/>
              </a:rPr>
              <a:t>Más fragmentos, más cobertura y más ruido. También más tokens y más tiempo de respuesta.</a:t>
            </a:r>
          </a:p>
        </p:txBody>
      </p:sp>
      <p:sp>
        <p:nvSpPr>
          <p:cNvPr id="10" name="Rectangle 9"/>
          <p:cNvSpPr/>
          <p:nvPr/>
        </p:nvSpPr>
        <p:spPr>
          <a:xfrm>
            <a:off x="274320" y="3840480"/>
            <a:ext cx="4251960" cy="2331720"/>
          </a:xfrm>
          <a:prstGeom prst="rect">
            <a:avLst/>
          </a:prstGeom>
          <a:solidFill>
            <a:srgbClr val="D5F5E3"/>
          </a:solidFill>
          <a:ln>
            <a:noFill/>
          </a:ln>
          <a:effectLst/>
        </p:spPr>
        <p:txBody>
          <a:bodyPr rtlCol="0" anchor="ctr"/>
          <a:lstStyle/>
          <a:p>
            <a:pPr algn="ctr"/>
            <a:endParaRPr/>
          </a:p>
        </p:txBody>
      </p:sp>
      <p:sp>
        <p:nvSpPr>
          <p:cNvPr id="11" name="TextBox 10"/>
          <p:cNvSpPr txBox="1"/>
          <p:nvPr/>
        </p:nvSpPr>
        <p:spPr>
          <a:xfrm>
            <a:off x="384048" y="3913632"/>
            <a:ext cx="4032504" cy="365760"/>
          </a:xfrm>
          <a:prstGeom prst="rect">
            <a:avLst/>
          </a:prstGeom>
          <a:noFill/>
        </p:spPr>
        <p:txBody>
          <a:bodyPr wrap="square" lIns="0" tIns="0" rIns="0" bIns="0">
            <a:spAutoFit/>
          </a:bodyPr>
          <a:lstStyle/>
          <a:p>
            <a:pPr algn="l"/>
            <a:r>
              <a:rPr sz="1700" b="1" i="0">
                <a:solidFill>
                  <a:srgbClr val="1A7A3A"/>
                </a:solidFill>
                <a:latin typeface="Ubuntu"/>
              </a:rPr>
              <a:t>Modelos y equipo</a:t>
            </a:r>
          </a:p>
        </p:txBody>
      </p:sp>
      <p:sp>
        <p:nvSpPr>
          <p:cNvPr id="12" name="TextBox 11"/>
          <p:cNvSpPr txBox="1"/>
          <p:nvPr/>
        </p:nvSpPr>
        <p:spPr>
          <a:xfrm>
            <a:off x="384048" y="4224528"/>
            <a:ext cx="4032504" cy="1874520"/>
          </a:xfrm>
          <a:prstGeom prst="rect">
            <a:avLst/>
          </a:prstGeom>
          <a:noFill/>
        </p:spPr>
        <p:txBody>
          <a:bodyPr wrap="square" lIns="0" tIns="0" rIns="0" bIns="0">
            <a:spAutoFit/>
          </a:bodyPr>
          <a:lstStyle/>
          <a:p>
            <a:pPr algn="l">
              <a:lnSpc>
                <a:spcPct val="140000"/>
              </a:lnSpc>
            </a:pPr>
            <a:r>
              <a:rPr sz="1400" b="0" i="0">
                <a:solidFill>
                  <a:srgbClr val="000000"/>
                </a:solidFill>
                <a:latin typeface="Ubuntu"/>
              </a:rPr>
              <a:t>Embeddings locales (bge-m3, 0.1 s por fragmento) y generador local (qwen3.5:4b, 12 s por respuesta) corren en una computadora portátil de 16 GB. Un generador remoto responde en 2 s, pero requiere llave y envía el texto fuera.</a:t>
            </a:r>
          </a:p>
        </p:txBody>
      </p:sp>
      <p:sp>
        <p:nvSpPr>
          <p:cNvPr id="13" name="Rectangle 12"/>
          <p:cNvSpPr/>
          <p:nvPr/>
        </p:nvSpPr>
        <p:spPr>
          <a:xfrm>
            <a:off x="4617720" y="3840480"/>
            <a:ext cx="4251960" cy="2331720"/>
          </a:xfrm>
          <a:prstGeom prst="rect">
            <a:avLst/>
          </a:prstGeom>
          <a:solidFill>
            <a:srgbClr val="FADBD8"/>
          </a:solidFill>
          <a:ln>
            <a:noFill/>
          </a:ln>
          <a:effectLst/>
        </p:spPr>
        <p:txBody>
          <a:bodyPr rtlCol="0" anchor="ctr"/>
          <a:lstStyle/>
          <a:p>
            <a:pPr algn="ctr"/>
            <a:endParaRPr/>
          </a:p>
        </p:txBody>
      </p:sp>
      <p:sp>
        <p:nvSpPr>
          <p:cNvPr id="14" name="TextBox 13"/>
          <p:cNvSpPr txBox="1"/>
          <p:nvPr/>
        </p:nvSpPr>
        <p:spPr>
          <a:xfrm>
            <a:off x="4727448" y="3913632"/>
            <a:ext cx="4032504" cy="365760"/>
          </a:xfrm>
          <a:prstGeom prst="rect">
            <a:avLst/>
          </a:prstGeom>
          <a:noFill/>
        </p:spPr>
        <p:txBody>
          <a:bodyPr wrap="square" lIns="0" tIns="0" rIns="0" bIns="0">
            <a:spAutoFit/>
          </a:bodyPr>
          <a:lstStyle/>
          <a:p>
            <a:pPr algn="l"/>
            <a:r>
              <a:rPr sz="1700" b="1" i="0">
                <a:solidFill>
                  <a:srgbClr val="C0392B"/>
                </a:solidFill>
                <a:latin typeface="Ubuntu"/>
              </a:rPr>
              <a:t>Corpus</a:t>
            </a:r>
          </a:p>
        </p:txBody>
      </p:sp>
      <p:sp>
        <p:nvSpPr>
          <p:cNvPr id="15" name="TextBox 14"/>
          <p:cNvSpPr txBox="1"/>
          <p:nvPr/>
        </p:nvSpPr>
        <p:spPr>
          <a:xfrm>
            <a:off x="4727448" y="4224528"/>
            <a:ext cx="4032504" cy="1874520"/>
          </a:xfrm>
          <a:prstGeom prst="rect">
            <a:avLst/>
          </a:prstGeom>
          <a:noFill/>
        </p:spPr>
        <p:txBody>
          <a:bodyPr wrap="square" lIns="0" tIns="0" rIns="0" bIns="0">
            <a:spAutoFit/>
          </a:bodyPr>
          <a:lstStyle/>
          <a:p>
            <a:pPr algn="l">
              <a:lnSpc>
                <a:spcPct val="140000"/>
              </a:lnSpc>
            </a:pPr>
            <a:r>
              <a:rPr sz="1400" b="0" i="0">
                <a:solidFill>
                  <a:srgbClr val="000000"/>
                </a:solidFill>
                <a:latin typeface="Ubuntu"/>
              </a:rPr>
              <a:t>RAG no arregla un corpus malo: si la transcripción tiene errores o le faltan días, las respuestas los heredan.</a:t>
            </a:r>
          </a:p>
        </p:txBody>
      </p:sp>
      <p:sp>
        <p:nvSpPr>
          <p:cNvPr id="16" name="TextBox 15"/>
          <p:cNvSpPr txBox="1"/>
          <p:nvPr/>
        </p:nvSpPr>
        <p:spPr>
          <a:xfrm>
            <a:off x="274320" y="6547104"/>
            <a:ext cx="6400800" cy="274320"/>
          </a:xfrm>
          <a:prstGeom prst="rect">
            <a:avLst/>
          </a:prstGeom>
          <a:noFill/>
        </p:spPr>
        <p:txBody>
          <a:bodyPr wrap="square" lIns="0" tIns="0" rIns="0" bIns="0">
            <a:spAutoFit/>
          </a:bodyPr>
          <a:lstStyle/>
          <a:p>
            <a:pPr algn="l"/>
            <a:r>
              <a:rPr sz="900" b="0" i="0">
                <a:solidFill>
                  <a:srgbClr val="555555"/>
                </a:solidFill>
                <a:latin typeface="Ubuntu"/>
              </a:rPr>
              <a:t>Fuente: mediciones propias en una Mac de 16 GB, 8 de septiembre de 2026.</a:t>
            </a:r>
          </a:p>
        </p:txBody>
      </p:sp>
      <p:sp>
        <p:nvSpPr>
          <p:cNvPr id="17" name="TextBox 16"/>
          <p:cNvSpPr txBox="1"/>
          <p:nvPr/>
        </p:nvSpPr>
        <p:spPr>
          <a:xfrm>
            <a:off x="6766560" y="6547104"/>
            <a:ext cx="2103120" cy="274320"/>
          </a:xfrm>
          <a:prstGeom prst="rect">
            <a:avLst/>
          </a:prstGeom>
          <a:noFill/>
        </p:spPr>
        <p:txBody>
          <a:bodyPr wrap="square" lIns="0" tIns="0" rIns="0" bIns="0">
            <a:spAutoFit/>
          </a:bodyPr>
          <a:lstStyle/>
          <a:p>
            <a:pPr algn="r"/>
            <a:r>
              <a:rPr sz="900" b="0" i="1">
                <a:solidFill>
                  <a:srgbClr val="555555"/>
                </a:solidFill>
                <a:latin typeface="Ubuntu"/>
              </a:rPr>
              <a:t>RAG con las mañaneras · 21/25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4320"/>
            <a:ext cx="9144000" cy="868680"/>
          </a:xfrm>
          <a:prstGeom prst="rect">
            <a:avLst/>
          </a:prstGeom>
          <a:solidFill>
            <a:srgbClr val="1E4C7D"/>
          </a:solidFill>
          <a:ln>
            <a:noFill/>
          </a:ln>
          <a:effectLst/>
        </p:spPr>
        <p:txBody>
          <a:bodyPr rtlCol="0" anchor="ctr"/>
          <a:lstStyle/>
          <a:p>
            <a:pPr algn="ctr"/>
            <a:endParaRPr/>
          </a:p>
        </p:txBody>
      </p:sp>
      <p:sp>
        <p:nvSpPr>
          <p:cNvPr id="3" name="TextBox 2"/>
          <p:cNvSpPr txBox="1"/>
          <p:nvPr/>
        </p:nvSpPr>
        <p:spPr>
          <a:xfrm>
            <a:off x="320040" y="274320"/>
            <a:ext cx="8503920" cy="868680"/>
          </a:xfrm>
          <a:prstGeom prst="rect">
            <a:avLst/>
          </a:prstGeom>
          <a:noFill/>
        </p:spPr>
        <p:txBody>
          <a:bodyPr wrap="square" lIns="0" tIns="0" rIns="0" bIns="0" anchor="ctr">
            <a:spAutoFit/>
          </a:bodyPr>
          <a:lstStyle/>
          <a:p>
            <a:pPr algn="l"/>
            <a:r>
              <a:rPr sz="1800" b="1" i="0">
                <a:solidFill>
                  <a:srgbClr val="FFFFFF"/>
                </a:solidFill>
                <a:latin typeface="Ubuntu"/>
              </a:rPr>
              <a:t>Los términos de la sesión, en el orden en que aparecen en el flujo de trabajo</a:t>
            </a:r>
          </a:p>
        </p:txBody>
      </p:sp>
      <p:sp>
        <p:nvSpPr>
          <p:cNvPr id="4" name="Rectangle 3"/>
          <p:cNvSpPr/>
          <p:nvPr/>
        </p:nvSpPr>
        <p:spPr>
          <a:xfrm>
            <a:off x="274320" y="1371600"/>
            <a:ext cx="4251960" cy="4937760"/>
          </a:xfrm>
          <a:prstGeom prst="rect">
            <a:avLst/>
          </a:prstGeom>
          <a:solidFill>
            <a:srgbClr val="EAF2FA"/>
          </a:solidFill>
          <a:ln>
            <a:noFill/>
          </a:ln>
          <a:effectLst/>
        </p:spPr>
        <p:txBody>
          <a:bodyPr rtlCol="0" anchor="ctr"/>
          <a:lstStyle/>
          <a:p>
            <a:pPr algn="ctr"/>
            <a:endParaRPr/>
          </a:p>
        </p:txBody>
      </p:sp>
      <p:sp>
        <p:nvSpPr>
          <p:cNvPr id="5" name="TextBox 4"/>
          <p:cNvSpPr txBox="1"/>
          <p:nvPr/>
        </p:nvSpPr>
        <p:spPr>
          <a:xfrm>
            <a:off x="384048" y="1444752"/>
            <a:ext cx="4032504" cy="365760"/>
          </a:xfrm>
          <a:prstGeom prst="rect">
            <a:avLst/>
          </a:prstGeom>
          <a:noFill/>
        </p:spPr>
        <p:txBody>
          <a:bodyPr wrap="square" lIns="0" tIns="0" rIns="0" bIns="0">
            <a:spAutoFit/>
          </a:bodyPr>
          <a:lstStyle/>
          <a:p>
            <a:pPr algn="l"/>
            <a:r>
              <a:rPr sz="1600" b="1" i="0">
                <a:solidFill>
                  <a:srgbClr val="1E4C7D"/>
                </a:solidFill>
                <a:latin typeface="Ubuntu"/>
              </a:rPr>
              <a:t>El problema y el corpus</a:t>
            </a:r>
          </a:p>
        </p:txBody>
      </p:sp>
      <p:sp>
        <p:nvSpPr>
          <p:cNvPr id="6" name="TextBox 5"/>
          <p:cNvSpPr txBox="1"/>
          <p:nvPr/>
        </p:nvSpPr>
        <p:spPr>
          <a:xfrm>
            <a:off x="384048" y="1755648"/>
            <a:ext cx="4032504" cy="4480560"/>
          </a:xfrm>
          <a:prstGeom prst="rect">
            <a:avLst/>
          </a:prstGeom>
          <a:noFill/>
        </p:spPr>
        <p:txBody>
          <a:bodyPr wrap="square" lIns="0" tIns="0" rIns="0" bIns="0">
            <a:spAutoFit/>
          </a:bodyPr>
          <a:lstStyle/>
          <a:p>
            <a:pPr algn="l">
              <a:lnSpc>
                <a:spcPct val="160000"/>
              </a:lnSpc>
            </a:pPr>
            <a:r>
              <a:rPr sz="1500" b="0" i="0">
                <a:solidFill>
                  <a:srgbClr val="000000"/>
                </a:solidFill>
                <a:latin typeface="Ubuntu"/>
              </a:rPr>
              <a:t>Modelo de lenguaje grande</a:t>
            </a:r>
          </a:p>
          <a:p>
            <a:pPr algn="l">
              <a:lnSpc>
                <a:spcPct val="160000"/>
              </a:lnSpc>
            </a:pPr>
            <a:r>
              <a:rPr sz="1500" b="0" i="0">
                <a:solidFill>
                  <a:srgbClr val="000000"/>
                </a:solidFill>
                <a:latin typeface="Ubuntu"/>
              </a:rPr>
              <a:t>Token</a:t>
            </a:r>
          </a:p>
          <a:p>
            <a:pPr algn="l">
              <a:lnSpc>
                <a:spcPct val="160000"/>
              </a:lnSpc>
            </a:pPr>
            <a:r>
              <a:rPr sz="1500" b="0" i="0">
                <a:solidFill>
                  <a:srgbClr val="000000"/>
                </a:solidFill>
                <a:latin typeface="Ubuntu"/>
              </a:rPr>
              <a:t>Ventana de contexto</a:t>
            </a:r>
          </a:p>
          <a:p>
            <a:pPr algn="l">
              <a:lnSpc>
                <a:spcPct val="160000"/>
              </a:lnSpc>
            </a:pPr>
            <a:r>
              <a:rPr sz="1500" b="0" i="0">
                <a:solidFill>
                  <a:srgbClr val="000000"/>
                </a:solidFill>
                <a:latin typeface="Ubuntu"/>
              </a:rPr>
              <a:t>Fecha de corte del conocimiento</a:t>
            </a:r>
          </a:p>
          <a:p>
            <a:pPr algn="l">
              <a:lnSpc>
                <a:spcPct val="160000"/>
              </a:lnSpc>
            </a:pPr>
            <a:r>
              <a:rPr sz="1500" b="0" i="0">
                <a:solidFill>
                  <a:srgbClr val="000000"/>
                </a:solidFill>
                <a:latin typeface="Ubuntu"/>
              </a:rPr>
              <a:t>Alucinación</a:t>
            </a:r>
          </a:p>
          <a:p>
            <a:pPr algn="l">
              <a:lnSpc>
                <a:spcPct val="160000"/>
              </a:lnSpc>
            </a:pPr>
            <a:r>
              <a:rPr sz="1500" b="0" i="0">
                <a:solidFill>
                  <a:srgbClr val="000000"/>
                </a:solidFill>
                <a:latin typeface="Ubuntu"/>
              </a:rPr>
              <a:t>RAG (generación aumentada por recuperación)</a:t>
            </a:r>
          </a:p>
          <a:p>
            <a:pPr algn="l">
              <a:lnSpc>
                <a:spcPct val="160000"/>
              </a:lnSpc>
            </a:pPr>
            <a:r>
              <a:rPr sz="1500" b="0" i="0">
                <a:solidFill>
                  <a:srgbClr val="000000"/>
                </a:solidFill>
                <a:latin typeface="Ubuntu"/>
              </a:rPr>
              <a:t>Corpus</a:t>
            </a:r>
          </a:p>
          <a:p>
            <a:pPr algn="l">
              <a:lnSpc>
                <a:spcPct val="160000"/>
              </a:lnSpc>
            </a:pPr>
            <a:r>
              <a:rPr sz="1500" b="0" i="0">
                <a:solidFill>
                  <a:srgbClr val="000000"/>
                </a:solidFill>
                <a:latin typeface="Ubuntu"/>
              </a:rPr>
              <a:t>Ingesta</a:t>
            </a:r>
          </a:p>
          <a:p>
            <a:pPr algn="l">
              <a:lnSpc>
                <a:spcPct val="160000"/>
              </a:lnSpc>
            </a:pPr>
            <a:r>
              <a:rPr sz="1500" b="0" i="0">
                <a:solidFill>
                  <a:srgbClr val="000000"/>
                </a:solidFill>
                <a:latin typeface="Ubuntu"/>
              </a:rPr>
              <a:t>Metadatos</a:t>
            </a:r>
          </a:p>
          <a:p>
            <a:pPr algn="l">
              <a:lnSpc>
                <a:spcPct val="160000"/>
              </a:lnSpc>
            </a:pPr>
            <a:r>
              <a:rPr sz="1500" b="0" i="0">
                <a:solidFill>
                  <a:srgbClr val="000000"/>
                </a:solidFill>
                <a:latin typeface="Ubuntu"/>
              </a:rPr>
              <a:t>Fragmentación, tamaño y traslape</a:t>
            </a:r>
          </a:p>
        </p:txBody>
      </p:sp>
      <p:sp>
        <p:nvSpPr>
          <p:cNvPr id="7" name="Rectangle 6"/>
          <p:cNvSpPr/>
          <p:nvPr/>
        </p:nvSpPr>
        <p:spPr>
          <a:xfrm>
            <a:off x="4617720" y="1371600"/>
            <a:ext cx="4251960" cy="4937760"/>
          </a:xfrm>
          <a:prstGeom prst="rect">
            <a:avLst/>
          </a:prstGeom>
          <a:solidFill>
            <a:srgbClr val="EAF2FA"/>
          </a:solidFill>
          <a:ln>
            <a:noFill/>
          </a:ln>
          <a:effectLst/>
        </p:spPr>
        <p:txBody>
          <a:bodyPr rtlCol="0" anchor="ctr"/>
          <a:lstStyle/>
          <a:p>
            <a:pPr algn="ctr"/>
            <a:endParaRPr/>
          </a:p>
        </p:txBody>
      </p:sp>
      <p:sp>
        <p:nvSpPr>
          <p:cNvPr id="8" name="TextBox 7"/>
          <p:cNvSpPr txBox="1"/>
          <p:nvPr/>
        </p:nvSpPr>
        <p:spPr>
          <a:xfrm>
            <a:off x="4727448" y="1444752"/>
            <a:ext cx="4032504" cy="365760"/>
          </a:xfrm>
          <a:prstGeom prst="rect">
            <a:avLst/>
          </a:prstGeom>
          <a:noFill/>
        </p:spPr>
        <p:txBody>
          <a:bodyPr wrap="square" lIns="0" tIns="0" rIns="0" bIns="0">
            <a:spAutoFit/>
          </a:bodyPr>
          <a:lstStyle/>
          <a:p>
            <a:pPr algn="l"/>
            <a:r>
              <a:rPr sz="1600" b="1" i="0">
                <a:solidFill>
                  <a:srgbClr val="1E4C7D"/>
                </a:solidFill>
                <a:latin typeface="Ubuntu"/>
              </a:rPr>
              <a:t>Búsqueda, generación y evaluación</a:t>
            </a:r>
          </a:p>
        </p:txBody>
      </p:sp>
      <p:sp>
        <p:nvSpPr>
          <p:cNvPr id="9" name="TextBox 8"/>
          <p:cNvSpPr txBox="1"/>
          <p:nvPr/>
        </p:nvSpPr>
        <p:spPr>
          <a:xfrm>
            <a:off x="4727448" y="1755648"/>
            <a:ext cx="4032504" cy="4480560"/>
          </a:xfrm>
          <a:prstGeom prst="rect">
            <a:avLst/>
          </a:prstGeom>
          <a:noFill/>
        </p:spPr>
        <p:txBody>
          <a:bodyPr wrap="square" lIns="0" tIns="0" rIns="0" bIns="0">
            <a:spAutoFit/>
          </a:bodyPr>
          <a:lstStyle/>
          <a:p>
            <a:pPr algn="l">
              <a:lnSpc>
                <a:spcPct val="160000"/>
              </a:lnSpc>
            </a:pPr>
            <a:r>
              <a:rPr sz="1500" b="0" i="0">
                <a:solidFill>
                  <a:srgbClr val="000000"/>
                </a:solidFill>
                <a:latin typeface="Ubuntu"/>
              </a:rPr>
              <a:t>Embedding y modelo de embeddings</a:t>
            </a:r>
          </a:p>
          <a:p>
            <a:pPr algn="l">
              <a:lnSpc>
                <a:spcPct val="160000"/>
              </a:lnSpc>
            </a:pPr>
            <a:r>
              <a:rPr sz="1500" b="0" i="0">
                <a:solidFill>
                  <a:srgbClr val="000000"/>
                </a:solidFill>
                <a:latin typeface="Ubuntu"/>
              </a:rPr>
              <a:t>Similitud coseno</a:t>
            </a:r>
          </a:p>
          <a:p>
            <a:pPr algn="l">
              <a:lnSpc>
                <a:spcPct val="160000"/>
              </a:lnSpc>
            </a:pPr>
            <a:r>
              <a:rPr sz="1500" b="0" i="0">
                <a:solidFill>
                  <a:srgbClr val="000000"/>
                </a:solidFill>
                <a:latin typeface="Ubuntu"/>
              </a:rPr>
              <a:t>Base de datos vectorial e índice</a:t>
            </a:r>
          </a:p>
          <a:p>
            <a:pPr algn="l">
              <a:lnSpc>
                <a:spcPct val="160000"/>
              </a:lnSpc>
            </a:pPr>
            <a:r>
              <a:rPr sz="1500" b="0" i="0">
                <a:solidFill>
                  <a:srgbClr val="000000"/>
                </a:solidFill>
                <a:latin typeface="Ubuntu"/>
              </a:rPr>
              <a:t>Búsqueda semántica, léxica e híbrida</a:t>
            </a:r>
          </a:p>
          <a:p>
            <a:pPr algn="l">
              <a:lnSpc>
                <a:spcPct val="160000"/>
              </a:lnSpc>
            </a:pPr>
            <a:r>
              <a:rPr sz="1500" b="0" i="0">
                <a:solidFill>
                  <a:srgbClr val="000000"/>
                </a:solidFill>
                <a:latin typeface="Ubuntu"/>
              </a:rPr>
              <a:t>top-k y filtro por metadatos</a:t>
            </a:r>
          </a:p>
          <a:p>
            <a:pPr algn="l">
              <a:lnSpc>
                <a:spcPct val="160000"/>
              </a:lnSpc>
            </a:pPr>
            <a:r>
              <a:rPr sz="1500" b="0" i="0">
                <a:solidFill>
                  <a:srgbClr val="000000"/>
                </a:solidFill>
                <a:latin typeface="Ubuntu"/>
              </a:rPr>
              <a:t>Prompt aumentado e instrucción de sistema</a:t>
            </a:r>
          </a:p>
          <a:p>
            <a:pPr algn="l">
              <a:lnSpc>
                <a:spcPct val="160000"/>
              </a:lnSpc>
            </a:pPr>
            <a:r>
              <a:rPr sz="1500" b="0" i="0">
                <a:solidFill>
                  <a:srgbClr val="000000"/>
                </a:solidFill>
                <a:latin typeface="Ubuntu"/>
              </a:rPr>
              <a:t>Herramienta</a:t>
            </a:r>
          </a:p>
          <a:p>
            <a:pPr algn="l">
              <a:lnSpc>
                <a:spcPct val="160000"/>
              </a:lnSpc>
            </a:pPr>
            <a:r>
              <a:rPr sz="1500" b="0" i="0">
                <a:solidFill>
                  <a:srgbClr val="000000"/>
                </a:solidFill>
                <a:latin typeface="Ubuntu"/>
              </a:rPr>
              <a:t>Modelo generador y atribución</a:t>
            </a:r>
          </a:p>
          <a:p>
            <a:pPr algn="l">
              <a:lnSpc>
                <a:spcPct val="160000"/>
              </a:lnSpc>
            </a:pPr>
            <a:r>
              <a:rPr sz="1500" b="0" i="0">
                <a:solidFill>
                  <a:srgbClr val="000000"/>
                </a:solidFill>
                <a:latin typeface="Ubuntu"/>
              </a:rPr>
              <a:t>Conjunto de prueba y hit@k</a:t>
            </a:r>
          </a:p>
          <a:p>
            <a:pPr algn="l">
              <a:lnSpc>
                <a:spcPct val="160000"/>
              </a:lnSpc>
            </a:pPr>
            <a:r>
              <a:rPr sz="1500" b="0" i="0">
                <a:solidFill>
                  <a:srgbClr val="000000"/>
                </a:solidFill>
                <a:latin typeface="Ubuntu"/>
              </a:rPr>
              <a:t>Fidelidad y completitud</a:t>
            </a:r>
          </a:p>
        </p:txBody>
      </p:sp>
      <p:sp>
        <p:nvSpPr>
          <p:cNvPr id="10" name="TextBox 9"/>
          <p:cNvSpPr txBox="1"/>
          <p:nvPr/>
        </p:nvSpPr>
        <p:spPr>
          <a:xfrm>
            <a:off x="274320" y="6547104"/>
            <a:ext cx="6400800" cy="274320"/>
          </a:xfrm>
          <a:prstGeom prst="rect">
            <a:avLst/>
          </a:prstGeom>
          <a:noFill/>
        </p:spPr>
        <p:txBody>
          <a:bodyPr wrap="square" lIns="0" tIns="0" rIns="0" bIns="0">
            <a:spAutoFit/>
          </a:bodyPr>
          <a:lstStyle/>
          <a:p>
            <a:pPr algn="l"/>
            <a:r>
              <a:rPr sz="900" b="0" i="0">
                <a:solidFill>
                  <a:srgbClr val="555555"/>
                </a:solidFill>
                <a:latin typeface="Ubuntu"/>
              </a:rPr>
              <a:t>Definiciones completas y referencias en glosario_rag.md.</a:t>
            </a:r>
          </a:p>
        </p:txBody>
      </p:sp>
      <p:sp>
        <p:nvSpPr>
          <p:cNvPr id="11" name="TextBox 10"/>
          <p:cNvSpPr txBox="1"/>
          <p:nvPr/>
        </p:nvSpPr>
        <p:spPr>
          <a:xfrm>
            <a:off x="6766560" y="6547104"/>
            <a:ext cx="2103120" cy="274320"/>
          </a:xfrm>
          <a:prstGeom prst="rect">
            <a:avLst/>
          </a:prstGeom>
          <a:noFill/>
        </p:spPr>
        <p:txBody>
          <a:bodyPr wrap="square" lIns="0" tIns="0" rIns="0" bIns="0">
            <a:spAutoFit/>
          </a:bodyPr>
          <a:lstStyle/>
          <a:p>
            <a:pPr algn="r"/>
            <a:r>
              <a:rPr sz="900" b="0" i="1">
                <a:solidFill>
                  <a:srgbClr val="555555"/>
                </a:solidFill>
                <a:latin typeface="Ubuntu"/>
              </a:rPr>
              <a:t>RAG con las mañaneras · 22/25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4320"/>
            <a:ext cx="9144000" cy="868680"/>
          </a:xfrm>
          <a:prstGeom prst="rect">
            <a:avLst/>
          </a:prstGeom>
          <a:solidFill>
            <a:srgbClr val="1E4C7D"/>
          </a:solidFill>
          <a:ln>
            <a:noFill/>
          </a:ln>
          <a:effectLst/>
        </p:spPr>
        <p:txBody>
          <a:bodyPr rtlCol="0" anchor="ctr"/>
          <a:lstStyle/>
          <a:p>
            <a:pPr algn="ctr"/>
            <a:endParaRPr/>
          </a:p>
        </p:txBody>
      </p:sp>
      <p:sp>
        <p:nvSpPr>
          <p:cNvPr id="3" name="TextBox 2"/>
          <p:cNvSpPr txBox="1"/>
          <p:nvPr/>
        </p:nvSpPr>
        <p:spPr>
          <a:xfrm>
            <a:off x="320040" y="274320"/>
            <a:ext cx="8503920" cy="868680"/>
          </a:xfrm>
          <a:prstGeom prst="rect">
            <a:avLst/>
          </a:prstGeom>
          <a:noFill/>
        </p:spPr>
        <p:txBody>
          <a:bodyPr wrap="square" lIns="0" tIns="0" rIns="0" bIns="0" anchor="ctr">
            <a:spAutoFit/>
          </a:bodyPr>
          <a:lstStyle/>
          <a:p>
            <a:pPr algn="l"/>
            <a:r>
              <a:rPr sz="1800" b="1" i="0">
                <a:solidFill>
                  <a:srgbClr val="FFFFFF"/>
                </a:solidFill>
                <a:latin typeface="Ubuntu"/>
              </a:rPr>
              <a:t>Todo el material corre en R con tres herramientas de código abierto y sin llaves de API</a:t>
            </a:r>
          </a:p>
        </p:txBody>
      </p:sp>
      <p:sp>
        <p:nvSpPr>
          <p:cNvPr id="4" name="Rectangle 3"/>
          <p:cNvSpPr/>
          <p:nvPr/>
        </p:nvSpPr>
        <p:spPr>
          <a:xfrm>
            <a:off x="274320" y="1371600"/>
            <a:ext cx="2743200" cy="2377440"/>
          </a:xfrm>
          <a:prstGeom prst="rect">
            <a:avLst/>
          </a:prstGeom>
          <a:solidFill>
            <a:srgbClr val="EAF2FA"/>
          </a:solidFill>
          <a:ln>
            <a:noFill/>
          </a:ln>
          <a:effectLst/>
        </p:spPr>
        <p:txBody>
          <a:bodyPr rtlCol="0" anchor="ctr"/>
          <a:lstStyle/>
          <a:p>
            <a:pPr algn="ctr"/>
            <a:endParaRPr/>
          </a:p>
        </p:txBody>
      </p:sp>
      <p:sp>
        <p:nvSpPr>
          <p:cNvPr id="5" name="TextBox 4"/>
          <p:cNvSpPr txBox="1"/>
          <p:nvPr/>
        </p:nvSpPr>
        <p:spPr>
          <a:xfrm>
            <a:off x="384048" y="1444752"/>
            <a:ext cx="2523744" cy="365760"/>
          </a:xfrm>
          <a:prstGeom prst="rect">
            <a:avLst/>
          </a:prstGeom>
          <a:noFill/>
        </p:spPr>
        <p:txBody>
          <a:bodyPr wrap="square" lIns="0" tIns="0" rIns="0" bIns="0">
            <a:spAutoFit/>
          </a:bodyPr>
          <a:lstStyle/>
          <a:p>
            <a:pPr algn="l"/>
            <a:r>
              <a:rPr sz="1300" b="1" i="0">
                <a:solidFill>
                  <a:srgbClr val="1E4C7D"/>
                </a:solidFill>
                <a:latin typeface="Ubuntu"/>
              </a:rPr>
              <a:t>Ollama</a:t>
            </a:r>
          </a:p>
        </p:txBody>
      </p:sp>
      <p:sp>
        <p:nvSpPr>
          <p:cNvPr id="6" name="TextBox 5"/>
          <p:cNvSpPr txBox="1"/>
          <p:nvPr/>
        </p:nvSpPr>
        <p:spPr>
          <a:xfrm>
            <a:off x="384048" y="1755648"/>
            <a:ext cx="2523744" cy="1920240"/>
          </a:xfrm>
          <a:prstGeom prst="rect">
            <a:avLst/>
          </a:prstGeom>
          <a:noFill/>
        </p:spPr>
        <p:txBody>
          <a:bodyPr wrap="square" lIns="0" tIns="0" rIns="0" bIns="0">
            <a:spAutoFit/>
          </a:bodyPr>
          <a:lstStyle/>
          <a:p>
            <a:pPr algn="l">
              <a:lnSpc>
                <a:spcPct val="125000"/>
              </a:lnSpc>
            </a:pPr>
            <a:r>
              <a:rPr sz="1250" b="0" i="0">
                <a:solidFill>
                  <a:srgbClr val="000000"/>
                </a:solidFill>
                <a:latin typeface="Ubuntu"/>
              </a:rPr>
              <a:t>Ejecuta modelos de lenguaje y de embeddings en la computadora local, sin enviar datos a ningún servidor.</a:t>
            </a:r>
          </a:p>
          <a:p>
            <a:pPr algn="l">
              <a:lnSpc>
                <a:spcPct val="125000"/>
              </a:lnSpc>
            </a:pPr>
            <a:endParaRPr sz="1250" b="0" i="0">
              <a:solidFill>
                <a:srgbClr val="000000"/>
              </a:solidFill>
              <a:latin typeface="Ubuntu"/>
            </a:endParaRPr>
          </a:p>
          <a:p>
            <a:pPr algn="l">
              <a:lnSpc>
                <a:spcPct val="125000"/>
              </a:lnSpc>
            </a:pPr>
            <a:r>
              <a:rPr sz="1250" b="0" i="0">
                <a:solidFill>
                  <a:srgbClr val="000000"/>
                </a:solidFill>
                <a:latin typeface="Ubuntu"/>
              </a:rPr>
              <a:t>ollama pull bge-m3</a:t>
            </a:r>
          </a:p>
          <a:p>
            <a:pPr algn="l">
              <a:lnSpc>
                <a:spcPct val="125000"/>
              </a:lnSpc>
            </a:pPr>
            <a:r>
              <a:rPr sz="1250" b="0" i="0">
                <a:solidFill>
                  <a:srgbClr val="000000"/>
                </a:solidFill>
                <a:latin typeface="Ubuntu"/>
              </a:rPr>
              <a:t>ollama pull qwen3.5:4b</a:t>
            </a:r>
          </a:p>
        </p:txBody>
      </p:sp>
      <p:sp>
        <p:nvSpPr>
          <p:cNvPr id="7" name="Rectangle 6"/>
          <p:cNvSpPr/>
          <p:nvPr/>
        </p:nvSpPr>
        <p:spPr>
          <a:xfrm>
            <a:off x="3136392" y="1371600"/>
            <a:ext cx="2743200" cy="2377440"/>
          </a:xfrm>
          <a:prstGeom prst="rect">
            <a:avLst/>
          </a:prstGeom>
          <a:solidFill>
            <a:srgbClr val="EAF2FA"/>
          </a:solidFill>
          <a:ln>
            <a:noFill/>
          </a:ln>
          <a:effectLst/>
        </p:spPr>
        <p:txBody>
          <a:bodyPr rtlCol="0" anchor="ctr"/>
          <a:lstStyle/>
          <a:p>
            <a:pPr algn="ctr"/>
            <a:endParaRPr/>
          </a:p>
        </p:txBody>
      </p:sp>
      <p:sp>
        <p:nvSpPr>
          <p:cNvPr id="8" name="TextBox 7"/>
          <p:cNvSpPr txBox="1"/>
          <p:nvPr/>
        </p:nvSpPr>
        <p:spPr>
          <a:xfrm>
            <a:off x="3246120" y="1444752"/>
            <a:ext cx="2523744" cy="365760"/>
          </a:xfrm>
          <a:prstGeom prst="rect">
            <a:avLst/>
          </a:prstGeom>
          <a:noFill/>
        </p:spPr>
        <p:txBody>
          <a:bodyPr wrap="square" lIns="0" tIns="0" rIns="0" bIns="0">
            <a:spAutoFit/>
          </a:bodyPr>
          <a:lstStyle/>
          <a:p>
            <a:pPr algn="l"/>
            <a:r>
              <a:rPr sz="1300" b="1" i="0">
                <a:solidFill>
                  <a:srgbClr val="1E4C7D"/>
                </a:solidFill>
                <a:latin typeface="Ubuntu"/>
              </a:rPr>
              <a:t>ragnar</a:t>
            </a:r>
          </a:p>
        </p:txBody>
      </p:sp>
      <p:sp>
        <p:nvSpPr>
          <p:cNvPr id="9" name="TextBox 8"/>
          <p:cNvSpPr txBox="1"/>
          <p:nvPr/>
        </p:nvSpPr>
        <p:spPr>
          <a:xfrm>
            <a:off x="3246120" y="1755648"/>
            <a:ext cx="2523744" cy="1920240"/>
          </a:xfrm>
          <a:prstGeom prst="rect">
            <a:avLst/>
          </a:prstGeom>
          <a:noFill/>
        </p:spPr>
        <p:txBody>
          <a:bodyPr wrap="square" lIns="0" tIns="0" rIns="0" bIns="0">
            <a:spAutoFit/>
          </a:bodyPr>
          <a:lstStyle/>
          <a:p>
            <a:pPr algn="l">
              <a:lnSpc>
                <a:spcPct val="125000"/>
              </a:lnSpc>
            </a:pPr>
            <a:r>
              <a:rPr sz="1250" b="0" i="0">
                <a:solidFill>
                  <a:srgbClr val="000000"/>
                </a:solidFill>
                <a:latin typeface="Ubuntu"/>
              </a:rPr>
              <a:t>Paquete de R de Posit con el flujo completo de RAG: lectura, fragmentación, embeddings, almacén DuckDB y búsqueda híbrida (Kalinowski y Falbel, 2026).</a:t>
            </a:r>
          </a:p>
        </p:txBody>
      </p:sp>
      <p:sp>
        <p:nvSpPr>
          <p:cNvPr id="10" name="Rectangle 9"/>
          <p:cNvSpPr/>
          <p:nvPr/>
        </p:nvSpPr>
        <p:spPr>
          <a:xfrm>
            <a:off x="6007608" y="1371600"/>
            <a:ext cx="2743200" cy="2377440"/>
          </a:xfrm>
          <a:prstGeom prst="rect">
            <a:avLst/>
          </a:prstGeom>
          <a:solidFill>
            <a:srgbClr val="EAF2FA"/>
          </a:solidFill>
          <a:ln>
            <a:noFill/>
          </a:ln>
          <a:effectLst/>
        </p:spPr>
        <p:txBody>
          <a:bodyPr rtlCol="0" anchor="ctr"/>
          <a:lstStyle/>
          <a:p>
            <a:pPr algn="ctr"/>
            <a:endParaRPr/>
          </a:p>
        </p:txBody>
      </p:sp>
      <p:sp>
        <p:nvSpPr>
          <p:cNvPr id="11" name="TextBox 10"/>
          <p:cNvSpPr txBox="1"/>
          <p:nvPr/>
        </p:nvSpPr>
        <p:spPr>
          <a:xfrm>
            <a:off x="6117336" y="1444752"/>
            <a:ext cx="2523744" cy="365760"/>
          </a:xfrm>
          <a:prstGeom prst="rect">
            <a:avLst/>
          </a:prstGeom>
          <a:noFill/>
        </p:spPr>
        <p:txBody>
          <a:bodyPr wrap="square" lIns="0" tIns="0" rIns="0" bIns="0">
            <a:spAutoFit/>
          </a:bodyPr>
          <a:lstStyle/>
          <a:p>
            <a:pPr algn="l"/>
            <a:r>
              <a:rPr sz="1300" b="1" i="0">
                <a:solidFill>
                  <a:srgbClr val="1E4C7D"/>
                </a:solidFill>
                <a:latin typeface="Ubuntu"/>
              </a:rPr>
              <a:t>ellmer</a:t>
            </a:r>
          </a:p>
        </p:txBody>
      </p:sp>
      <p:sp>
        <p:nvSpPr>
          <p:cNvPr id="12" name="TextBox 11"/>
          <p:cNvSpPr txBox="1"/>
          <p:nvPr/>
        </p:nvSpPr>
        <p:spPr>
          <a:xfrm>
            <a:off x="6117336" y="1755648"/>
            <a:ext cx="2523744" cy="1920240"/>
          </a:xfrm>
          <a:prstGeom prst="rect">
            <a:avLst/>
          </a:prstGeom>
          <a:noFill/>
        </p:spPr>
        <p:txBody>
          <a:bodyPr wrap="square" lIns="0" tIns="0" rIns="0" bIns="0">
            <a:spAutoFit/>
          </a:bodyPr>
          <a:lstStyle/>
          <a:p>
            <a:pPr algn="l">
              <a:lnSpc>
                <a:spcPct val="125000"/>
              </a:lnSpc>
            </a:pPr>
            <a:r>
              <a:rPr sz="1250" b="0" i="0">
                <a:solidFill>
                  <a:srgbClr val="000000"/>
                </a:solidFill>
                <a:latin typeface="Ubuntu"/>
              </a:rPr>
              <a:t>Paquete de R de Posit para conversar con modelos de cualquier proveedor y registrar herramientas.</a:t>
            </a:r>
          </a:p>
        </p:txBody>
      </p:sp>
      <p:sp>
        <p:nvSpPr>
          <p:cNvPr id="13" name="Rectangle 12"/>
          <p:cNvSpPr/>
          <p:nvPr/>
        </p:nvSpPr>
        <p:spPr>
          <a:xfrm>
            <a:off x="274320" y="3931920"/>
            <a:ext cx="4251960" cy="2377440"/>
          </a:xfrm>
          <a:prstGeom prst="rect">
            <a:avLst/>
          </a:prstGeom>
          <a:solidFill>
            <a:srgbClr val="D5F5E3"/>
          </a:solidFill>
          <a:ln>
            <a:noFill/>
          </a:ln>
          <a:effectLst/>
        </p:spPr>
        <p:txBody>
          <a:bodyPr rtlCol="0" anchor="ctr"/>
          <a:lstStyle/>
          <a:p>
            <a:pPr algn="ctr"/>
            <a:endParaRPr/>
          </a:p>
        </p:txBody>
      </p:sp>
      <p:sp>
        <p:nvSpPr>
          <p:cNvPr id="14" name="TextBox 13"/>
          <p:cNvSpPr txBox="1"/>
          <p:nvPr/>
        </p:nvSpPr>
        <p:spPr>
          <a:xfrm>
            <a:off x="384048" y="4005072"/>
            <a:ext cx="4032504" cy="365760"/>
          </a:xfrm>
          <a:prstGeom prst="rect">
            <a:avLst/>
          </a:prstGeom>
          <a:noFill/>
        </p:spPr>
        <p:txBody>
          <a:bodyPr wrap="square" lIns="0" tIns="0" rIns="0" bIns="0">
            <a:spAutoFit/>
          </a:bodyPr>
          <a:lstStyle/>
          <a:p>
            <a:pPr algn="l"/>
            <a:r>
              <a:rPr sz="1300" b="1" i="0">
                <a:solidFill>
                  <a:srgbClr val="1A7A3A"/>
                </a:solidFill>
                <a:latin typeface="Ubuntu"/>
              </a:rPr>
              <a:t>Programas de la sesión</a:t>
            </a:r>
          </a:p>
        </p:txBody>
      </p:sp>
      <p:sp>
        <p:nvSpPr>
          <p:cNvPr id="15" name="TextBox 14"/>
          <p:cNvSpPr txBox="1"/>
          <p:nvPr/>
        </p:nvSpPr>
        <p:spPr>
          <a:xfrm>
            <a:off x="384048" y="4315968"/>
            <a:ext cx="4032504" cy="1920240"/>
          </a:xfrm>
          <a:prstGeom prst="rect">
            <a:avLst/>
          </a:prstGeom>
          <a:noFill/>
        </p:spPr>
        <p:txBody>
          <a:bodyPr wrap="square" lIns="0" tIns="0" rIns="0" bIns="0">
            <a:spAutoFit/>
          </a:bodyPr>
          <a:lstStyle/>
          <a:p>
            <a:pPr algn="l">
              <a:lnSpc>
                <a:spcPct val="140000"/>
              </a:lnSpc>
            </a:pPr>
            <a:r>
              <a:rPr sz="1250" b="0" i="0">
                <a:solidFill>
                  <a:srgbClr val="000000"/>
                </a:solidFill>
                <a:latin typeface="Ubuntu"/>
              </a:rPr>
              <a:t>01_scraper_mananeras.R: descarga el corpus desde gob.mx.</a:t>
            </a:r>
          </a:p>
          <a:p>
            <a:pPr algn="l">
              <a:lnSpc>
                <a:spcPct val="140000"/>
              </a:lnSpc>
            </a:pPr>
            <a:r>
              <a:rPr sz="1250" b="0" i="0">
                <a:solidFill>
                  <a:srgbClr val="000000"/>
                </a:solidFill>
                <a:latin typeface="Ubuntu"/>
              </a:rPr>
              <a:t>02_rag_mananeras.R: el flujo completo, con las dos demostraciones.</a:t>
            </a:r>
          </a:p>
          <a:p>
            <a:pPr algn="l">
              <a:lnSpc>
                <a:spcPct val="140000"/>
              </a:lnSpc>
            </a:pPr>
            <a:r>
              <a:rPr sz="1250" b="0" i="0">
                <a:solidFill>
                  <a:srgbClr val="000000"/>
                </a:solidFill>
                <a:latin typeface="Ubuntu"/>
              </a:rPr>
              <a:t>glosario_rag.md: definiciones y referencias.</a:t>
            </a:r>
          </a:p>
        </p:txBody>
      </p:sp>
      <p:sp>
        <p:nvSpPr>
          <p:cNvPr id="16" name="Rectangle 15"/>
          <p:cNvSpPr/>
          <p:nvPr/>
        </p:nvSpPr>
        <p:spPr>
          <a:xfrm>
            <a:off x="4617720" y="3931920"/>
            <a:ext cx="4251960" cy="2377440"/>
          </a:xfrm>
          <a:prstGeom prst="rect">
            <a:avLst/>
          </a:prstGeom>
          <a:solidFill>
            <a:srgbClr val="EAF2FA"/>
          </a:solidFill>
          <a:ln>
            <a:noFill/>
          </a:ln>
          <a:effectLst/>
        </p:spPr>
        <p:txBody>
          <a:bodyPr rtlCol="0" anchor="ctr"/>
          <a:lstStyle/>
          <a:p>
            <a:pPr algn="ctr"/>
            <a:endParaRPr/>
          </a:p>
        </p:txBody>
      </p:sp>
      <p:sp>
        <p:nvSpPr>
          <p:cNvPr id="17" name="TextBox 16"/>
          <p:cNvSpPr txBox="1"/>
          <p:nvPr/>
        </p:nvSpPr>
        <p:spPr>
          <a:xfrm>
            <a:off x="4727448" y="4005072"/>
            <a:ext cx="4032504" cy="365760"/>
          </a:xfrm>
          <a:prstGeom prst="rect">
            <a:avLst/>
          </a:prstGeom>
          <a:noFill/>
        </p:spPr>
        <p:txBody>
          <a:bodyPr wrap="square" lIns="0" tIns="0" rIns="0" bIns="0">
            <a:spAutoFit/>
          </a:bodyPr>
          <a:lstStyle/>
          <a:p>
            <a:pPr algn="l"/>
            <a:r>
              <a:rPr sz="1300" b="1" i="0">
                <a:solidFill>
                  <a:srgbClr val="1E4C7D"/>
                </a:solidFill>
                <a:latin typeface="Ubuntu"/>
              </a:rPr>
              <a:t>Lecturas</a:t>
            </a:r>
          </a:p>
        </p:txBody>
      </p:sp>
      <p:sp>
        <p:nvSpPr>
          <p:cNvPr id="18" name="TextBox 17"/>
          <p:cNvSpPr txBox="1"/>
          <p:nvPr/>
        </p:nvSpPr>
        <p:spPr>
          <a:xfrm>
            <a:off x="4727448" y="4315968"/>
            <a:ext cx="4032504" cy="1920240"/>
          </a:xfrm>
          <a:prstGeom prst="rect">
            <a:avLst/>
          </a:prstGeom>
          <a:noFill/>
        </p:spPr>
        <p:txBody>
          <a:bodyPr wrap="square" lIns="0" tIns="0" rIns="0" bIns="0">
            <a:spAutoFit/>
          </a:bodyPr>
          <a:lstStyle/>
          <a:p>
            <a:pPr algn="l">
              <a:lnSpc>
                <a:spcPct val="140000"/>
              </a:lnSpc>
            </a:pPr>
            <a:r>
              <a:rPr sz="1200" b="0" i="0">
                <a:solidFill>
                  <a:srgbClr val="000000"/>
                </a:solidFill>
                <a:latin typeface="Ubuntu"/>
              </a:rPr>
              <a:t>Lewis et al. (2020). Retrieval-augmented generation for knowledge-intensive NLP tasks. NeurIPS 33.</a:t>
            </a:r>
          </a:p>
          <a:p>
            <a:pPr algn="l">
              <a:lnSpc>
                <a:spcPct val="140000"/>
              </a:lnSpc>
            </a:pPr>
            <a:r>
              <a:rPr sz="1200" b="0" i="0">
                <a:solidFill>
                  <a:srgbClr val="000000"/>
                </a:solidFill>
                <a:latin typeface="Ubuntu"/>
              </a:rPr>
              <a:t>Robertson y Zaragoza (2009). The probabilistic relevance framework: BM25 and beyond.</a:t>
            </a:r>
          </a:p>
          <a:p>
            <a:pPr algn="l">
              <a:lnSpc>
                <a:spcPct val="140000"/>
              </a:lnSpc>
            </a:pPr>
            <a:r>
              <a:rPr sz="1200" b="0" i="0">
                <a:solidFill>
                  <a:srgbClr val="000000"/>
                </a:solidFill>
                <a:latin typeface="Ubuntu"/>
              </a:rPr>
              <a:t>Kalinowski y Falbel (2026). ragnar 0.3.0, CRAN.</a:t>
            </a:r>
          </a:p>
        </p:txBody>
      </p:sp>
      <p:sp>
        <p:nvSpPr>
          <p:cNvPr id="19" name="TextBox 18"/>
          <p:cNvSpPr txBox="1"/>
          <p:nvPr/>
        </p:nvSpPr>
        <p:spPr>
          <a:xfrm>
            <a:off x="6766560" y="6547104"/>
            <a:ext cx="2103120" cy="274320"/>
          </a:xfrm>
          <a:prstGeom prst="rect">
            <a:avLst/>
          </a:prstGeom>
          <a:noFill/>
        </p:spPr>
        <p:txBody>
          <a:bodyPr wrap="square" lIns="0" tIns="0" rIns="0" bIns="0">
            <a:spAutoFit/>
          </a:bodyPr>
          <a:lstStyle/>
          <a:p>
            <a:pPr algn="r"/>
            <a:r>
              <a:rPr sz="900" b="0" i="1">
                <a:solidFill>
                  <a:srgbClr val="555555"/>
                </a:solidFill>
                <a:latin typeface="Ubuntu"/>
              </a:rPr>
              <a:t>RAG con las mañaneras · 23/25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74320"/>
            <a:ext cx="9144000" cy="868680"/>
          </a:xfrm>
          <a:prstGeom prst="rect">
            <a:avLst/>
          </a:prstGeom>
          <a:solidFill>
            <a:srgbClr val="1E4C7D"/>
          </a:solidFill>
          <a:ln>
            <a:noFill/>
          </a:ln>
          <a:effectLst/>
        </p:spPr>
        <p:txBody>
          <a:bodyPr rtlCol="0" anchor="ctr"/>
          <a:lstStyle/>
          <a:p>
            <a:pPr algn="ctr"/>
            <a:endParaRPr/>
          </a:p>
        </p:txBody>
      </p:sp>
      <p:sp>
        <p:nvSpPr>
          <p:cNvPr id="3" name="TextBox 2"/>
          <p:cNvSpPr txBox="1"/>
          <p:nvPr/>
        </p:nvSpPr>
        <p:spPr>
          <a:xfrm>
            <a:off x="320040" y="274320"/>
            <a:ext cx="8503920" cy="868680"/>
          </a:xfrm>
          <a:prstGeom prst="rect">
            <a:avLst/>
          </a:prstGeom>
          <a:noFill/>
        </p:spPr>
        <p:txBody>
          <a:bodyPr wrap="square" lIns="0" tIns="0" rIns="0" bIns="0" anchor="ctr">
            <a:spAutoFit/>
          </a:bodyPr>
          <a:lstStyle/>
          <a:p>
            <a:pPr algn="l"/>
            <a:r>
              <a:rPr sz="1800" b="1" i="0">
                <a:solidFill>
                  <a:srgbClr val="FFFFFF"/>
                </a:solidFill>
                <a:latin typeface="Ubuntu"/>
              </a:rPr>
              <a:t>Cinco ideas para llevarse</a:t>
            </a:r>
          </a:p>
        </p:txBody>
      </p:sp>
      <p:sp>
        <p:nvSpPr>
          <p:cNvPr id="4" name="Rectangle 3"/>
          <p:cNvSpPr/>
          <p:nvPr/>
        </p:nvSpPr>
        <p:spPr>
          <a:xfrm>
            <a:off x="274320" y="1371600"/>
            <a:ext cx="8595360" cy="4937760"/>
          </a:xfrm>
          <a:prstGeom prst="rect">
            <a:avLst/>
          </a:prstGeom>
          <a:solidFill>
            <a:srgbClr val="F0FAF0"/>
          </a:solidFill>
          <a:ln>
            <a:noFill/>
          </a:ln>
          <a:effectLst/>
        </p:spPr>
        <p:txBody>
          <a:bodyPr rtlCol="0" anchor="ctr"/>
          <a:lstStyle/>
          <a:p>
            <a:pPr algn="ctr"/>
            <a:endParaRPr/>
          </a:p>
        </p:txBody>
      </p:sp>
      <p:sp>
        <p:nvSpPr>
          <p:cNvPr id="5" name="TextBox 4"/>
          <p:cNvSpPr txBox="1"/>
          <p:nvPr/>
        </p:nvSpPr>
        <p:spPr>
          <a:xfrm>
            <a:off x="502920" y="1554480"/>
            <a:ext cx="548640" cy="822960"/>
          </a:xfrm>
          <a:prstGeom prst="rect">
            <a:avLst/>
          </a:prstGeom>
          <a:noFill/>
        </p:spPr>
        <p:txBody>
          <a:bodyPr wrap="square" lIns="0" tIns="0" rIns="0" bIns="0">
            <a:spAutoFit/>
          </a:bodyPr>
          <a:lstStyle/>
          <a:p>
            <a:pPr algn="l"/>
            <a:r>
              <a:rPr sz="3200" b="1" i="0">
                <a:solidFill>
                  <a:srgbClr val="1A7A3A"/>
                </a:solidFill>
                <a:latin typeface="Ubuntu"/>
              </a:rPr>
              <a:t>1</a:t>
            </a:r>
          </a:p>
        </p:txBody>
      </p:sp>
      <p:sp>
        <p:nvSpPr>
          <p:cNvPr id="6" name="TextBox 5"/>
          <p:cNvSpPr txBox="1"/>
          <p:nvPr/>
        </p:nvSpPr>
        <p:spPr>
          <a:xfrm>
            <a:off x="1143000" y="1554480"/>
            <a:ext cx="7498079" cy="822960"/>
          </a:xfrm>
          <a:prstGeom prst="rect">
            <a:avLst/>
          </a:prstGeom>
          <a:noFill/>
        </p:spPr>
        <p:txBody>
          <a:bodyPr wrap="square" lIns="0" tIns="0" rIns="0" bIns="0" anchor="ctr">
            <a:spAutoFit/>
          </a:bodyPr>
          <a:lstStyle/>
          <a:p>
            <a:pPr algn="l">
              <a:lnSpc>
                <a:spcPct val="130000"/>
              </a:lnSpc>
            </a:pPr>
            <a:r>
              <a:rPr sz="1500" b="0" i="0">
                <a:solidFill>
                  <a:srgbClr val="000000"/>
                </a:solidFill>
                <a:latin typeface="Ubuntu"/>
              </a:rPr>
              <a:t>Un modelo de lenguaje redacta bien pero no consulta nada: lo que no estaba en su entrenamiento lo inventa.</a:t>
            </a:r>
          </a:p>
        </p:txBody>
      </p:sp>
      <p:sp>
        <p:nvSpPr>
          <p:cNvPr id="7" name="TextBox 6"/>
          <p:cNvSpPr txBox="1"/>
          <p:nvPr/>
        </p:nvSpPr>
        <p:spPr>
          <a:xfrm>
            <a:off x="502920" y="2487168"/>
            <a:ext cx="548640" cy="822960"/>
          </a:xfrm>
          <a:prstGeom prst="rect">
            <a:avLst/>
          </a:prstGeom>
          <a:noFill/>
        </p:spPr>
        <p:txBody>
          <a:bodyPr wrap="square" lIns="0" tIns="0" rIns="0" bIns="0">
            <a:spAutoFit/>
          </a:bodyPr>
          <a:lstStyle/>
          <a:p>
            <a:pPr algn="l"/>
            <a:r>
              <a:rPr sz="3200" b="1" i="0">
                <a:solidFill>
                  <a:srgbClr val="1A7A3A"/>
                </a:solidFill>
                <a:latin typeface="Ubuntu"/>
              </a:rPr>
              <a:t>2</a:t>
            </a:r>
          </a:p>
        </p:txBody>
      </p:sp>
      <p:sp>
        <p:nvSpPr>
          <p:cNvPr id="8" name="TextBox 7"/>
          <p:cNvSpPr txBox="1"/>
          <p:nvPr/>
        </p:nvSpPr>
        <p:spPr>
          <a:xfrm>
            <a:off x="1143000" y="2487168"/>
            <a:ext cx="7498079" cy="822960"/>
          </a:xfrm>
          <a:prstGeom prst="rect">
            <a:avLst/>
          </a:prstGeom>
          <a:noFill/>
        </p:spPr>
        <p:txBody>
          <a:bodyPr wrap="square" lIns="0" tIns="0" rIns="0" bIns="0" anchor="ctr">
            <a:spAutoFit/>
          </a:bodyPr>
          <a:lstStyle/>
          <a:p>
            <a:pPr algn="l">
              <a:lnSpc>
                <a:spcPct val="130000"/>
              </a:lnSpc>
            </a:pPr>
            <a:r>
              <a:rPr sz="1500" b="0" i="0">
                <a:solidFill>
                  <a:srgbClr val="000000"/>
                </a:solidFill>
                <a:latin typeface="Ubuntu"/>
              </a:rPr>
              <a:t>RAG cambia la regla: buscar primero, redactar después, y citar de dónde salió cada dato.</a:t>
            </a:r>
          </a:p>
        </p:txBody>
      </p:sp>
      <p:sp>
        <p:nvSpPr>
          <p:cNvPr id="9" name="TextBox 8"/>
          <p:cNvSpPr txBox="1"/>
          <p:nvPr/>
        </p:nvSpPr>
        <p:spPr>
          <a:xfrm>
            <a:off x="502920" y="3419856"/>
            <a:ext cx="548640" cy="822960"/>
          </a:xfrm>
          <a:prstGeom prst="rect">
            <a:avLst/>
          </a:prstGeom>
          <a:noFill/>
        </p:spPr>
        <p:txBody>
          <a:bodyPr wrap="square" lIns="0" tIns="0" rIns="0" bIns="0">
            <a:spAutoFit/>
          </a:bodyPr>
          <a:lstStyle/>
          <a:p>
            <a:pPr algn="l"/>
            <a:r>
              <a:rPr sz="3200" b="1" i="0">
                <a:solidFill>
                  <a:srgbClr val="1A7A3A"/>
                </a:solidFill>
                <a:latin typeface="Ubuntu"/>
              </a:rPr>
              <a:t>3</a:t>
            </a:r>
          </a:p>
        </p:txBody>
      </p:sp>
      <p:sp>
        <p:nvSpPr>
          <p:cNvPr id="10" name="TextBox 9"/>
          <p:cNvSpPr txBox="1"/>
          <p:nvPr/>
        </p:nvSpPr>
        <p:spPr>
          <a:xfrm>
            <a:off x="1143000" y="3419856"/>
            <a:ext cx="7498079" cy="822960"/>
          </a:xfrm>
          <a:prstGeom prst="rect">
            <a:avLst/>
          </a:prstGeom>
          <a:noFill/>
        </p:spPr>
        <p:txBody>
          <a:bodyPr wrap="square" lIns="0" tIns="0" rIns="0" bIns="0" anchor="ctr">
            <a:spAutoFit/>
          </a:bodyPr>
          <a:lstStyle/>
          <a:p>
            <a:pPr algn="l">
              <a:lnSpc>
                <a:spcPct val="130000"/>
              </a:lnSpc>
            </a:pPr>
            <a:r>
              <a:rPr sz="1500" b="0" i="0">
                <a:solidFill>
                  <a:srgbClr val="000000"/>
                </a:solidFill>
                <a:latin typeface="Ubuntu"/>
              </a:rPr>
              <a:t>Intervienen dos modelos distintos: el de embeddings busca por significado; el generador redacta. Se cambian por separado.</a:t>
            </a:r>
          </a:p>
        </p:txBody>
      </p:sp>
      <p:sp>
        <p:nvSpPr>
          <p:cNvPr id="11" name="TextBox 10"/>
          <p:cNvSpPr txBox="1"/>
          <p:nvPr/>
        </p:nvSpPr>
        <p:spPr>
          <a:xfrm>
            <a:off x="502920" y="4352544"/>
            <a:ext cx="548640" cy="822960"/>
          </a:xfrm>
          <a:prstGeom prst="rect">
            <a:avLst/>
          </a:prstGeom>
          <a:noFill/>
        </p:spPr>
        <p:txBody>
          <a:bodyPr wrap="square" lIns="0" tIns="0" rIns="0" bIns="0">
            <a:spAutoFit/>
          </a:bodyPr>
          <a:lstStyle/>
          <a:p>
            <a:pPr algn="l"/>
            <a:r>
              <a:rPr sz="3200" b="1" i="0">
                <a:solidFill>
                  <a:srgbClr val="1A7A3A"/>
                </a:solidFill>
                <a:latin typeface="Ubuntu"/>
              </a:rPr>
              <a:t>4</a:t>
            </a:r>
          </a:p>
        </p:txBody>
      </p:sp>
      <p:sp>
        <p:nvSpPr>
          <p:cNvPr id="12" name="TextBox 11"/>
          <p:cNvSpPr txBox="1"/>
          <p:nvPr/>
        </p:nvSpPr>
        <p:spPr>
          <a:xfrm>
            <a:off x="1143000" y="4352544"/>
            <a:ext cx="7498079" cy="822960"/>
          </a:xfrm>
          <a:prstGeom prst="rect">
            <a:avLst/>
          </a:prstGeom>
          <a:noFill/>
        </p:spPr>
        <p:txBody>
          <a:bodyPr wrap="square" lIns="0" tIns="0" rIns="0" bIns="0" anchor="ctr">
            <a:spAutoFit/>
          </a:bodyPr>
          <a:lstStyle/>
          <a:p>
            <a:pPr algn="l">
              <a:lnSpc>
                <a:spcPct val="130000"/>
              </a:lnSpc>
            </a:pPr>
            <a:r>
              <a:rPr sz="1500" b="0" i="0">
                <a:solidFill>
                  <a:srgbClr val="000000"/>
                </a:solidFill>
                <a:latin typeface="Ubuntu"/>
              </a:rPr>
              <a:t>La calidad depende de decisiones concretas: cómo se fragmenta, cuántos fragmentos se recuperan y qué tan bueno es el corpus.</a:t>
            </a:r>
          </a:p>
        </p:txBody>
      </p:sp>
      <p:sp>
        <p:nvSpPr>
          <p:cNvPr id="13" name="TextBox 12"/>
          <p:cNvSpPr txBox="1"/>
          <p:nvPr/>
        </p:nvSpPr>
        <p:spPr>
          <a:xfrm>
            <a:off x="502920" y="5285232"/>
            <a:ext cx="548640" cy="822960"/>
          </a:xfrm>
          <a:prstGeom prst="rect">
            <a:avLst/>
          </a:prstGeom>
          <a:noFill/>
        </p:spPr>
        <p:txBody>
          <a:bodyPr wrap="square" lIns="0" tIns="0" rIns="0" bIns="0">
            <a:spAutoFit/>
          </a:bodyPr>
          <a:lstStyle/>
          <a:p>
            <a:pPr algn="l"/>
            <a:r>
              <a:rPr sz="3200" b="1" i="0">
                <a:solidFill>
                  <a:srgbClr val="1A7A3A"/>
                </a:solidFill>
                <a:latin typeface="Ubuntu"/>
              </a:rPr>
              <a:t>5</a:t>
            </a:r>
          </a:p>
        </p:txBody>
      </p:sp>
      <p:sp>
        <p:nvSpPr>
          <p:cNvPr id="14" name="TextBox 13"/>
          <p:cNvSpPr txBox="1"/>
          <p:nvPr/>
        </p:nvSpPr>
        <p:spPr>
          <a:xfrm>
            <a:off x="1143000" y="5285232"/>
            <a:ext cx="7498079" cy="822960"/>
          </a:xfrm>
          <a:prstGeom prst="rect">
            <a:avLst/>
          </a:prstGeom>
          <a:noFill/>
        </p:spPr>
        <p:txBody>
          <a:bodyPr wrap="square" lIns="0" tIns="0" rIns="0" bIns="0" anchor="ctr">
            <a:spAutoFit/>
          </a:bodyPr>
          <a:lstStyle/>
          <a:p>
            <a:pPr algn="l">
              <a:lnSpc>
                <a:spcPct val="130000"/>
              </a:lnSpc>
            </a:pPr>
            <a:r>
              <a:rPr sz="1500" b="0" i="0">
                <a:solidFill>
                  <a:srgbClr val="000000"/>
                </a:solidFill>
                <a:latin typeface="Ubuntu"/>
              </a:rPr>
              <a:t>Nada de esto se sabe sin evaluar: un conjunto de prueba escrito a mano vale más que cualquier intuición.</a:t>
            </a:r>
          </a:p>
        </p:txBody>
      </p:sp>
      <p:sp>
        <p:nvSpPr>
          <p:cNvPr id="15" name="TextBox 14"/>
          <p:cNvSpPr txBox="1"/>
          <p:nvPr/>
        </p:nvSpPr>
        <p:spPr>
          <a:xfrm>
            <a:off x="6766560" y="6547104"/>
            <a:ext cx="2103120" cy="274320"/>
          </a:xfrm>
          <a:prstGeom prst="rect">
            <a:avLst/>
          </a:prstGeom>
          <a:noFill/>
        </p:spPr>
        <p:txBody>
          <a:bodyPr wrap="square" lIns="0" tIns="0" rIns="0" bIns="0">
            <a:spAutoFit/>
          </a:bodyPr>
          <a:lstStyle/>
          <a:p>
            <a:pPr algn="r"/>
            <a:r>
              <a:rPr sz="900" b="0" i="1">
                <a:solidFill>
                  <a:srgbClr val="555555"/>
                </a:solidFill>
                <a:latin typeface="Ubuntu"/>
              </a:rPr>
              <a:t>RAG con las mañaneras · 24/25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F0F0F0"/>
          </a:solidFill>
          <a:ln>
            <a:noFill/>
          </a:ln>
          <a:effectLst/>
        </p:spPr>
        <p:txBody>
          <a:bodyPr rtlCol="0" anchor="ctr"/>
          <a:lstStyle/>
          <a:p>
            <a:pPr algn="ctr"/>
            <a:endParaRPr/>
          </a:p>
        </p:txBody>
      </p:sp>
      <p:sp>
        <p:nvSpPr>
          <p:cNvPr id="3" name="TextBox 2"/>
          <p:cNvSpPr txBox="1"/>
          <p:nvPr/>
        </p:nvSpPr>
        <p:spPr>
          <a:xfrm>
            <a:off x="365760" y="228600"/>
            <a:ext cx="5486400" cy="548640"/>
          </a:xfrm>
          <a:prstGeom prst="rect">
            <a:avLst/>
          </a:prstGeom>
          <a:noFill/>
        </p:spPr>
        <p:txBody>
          <a:bodyPr wrap="square" lIns="0" tIns="0" rIns="0" bIns="0" anchor="ctr">
            <a:spAutoFit/>
          </a:bodyPr>
          <a:lstStyle/>
          <a:p>
            <a:pPr algn="l"/>
            <a:r>
              <a:rPr sz="2000" b="1" i="0">
                <a:solidFill>
                  <a:srgbClr val="1E4C7D"/>
                </a:solidFill>
                <a:latin typeface="Ubuntu"/>
              </a:rPr>
              <a:t>Tecnológico de Monterrey</a:t>
            </a:r>
          </a:p>
        </p:txBody>
      </p:sp>
      <p:sp>
        <p:nvSpPr>
          <p:cNvPr id="4" name="Rectangle 3"/>
          <p:cNvSpPr/>
          <p:nvPr/>
        </p:nvSpPr>
        <p:spPr>
          <a:xfrm>
            <a:off x="0" y="1005840"/>
            <a:ext cx="9144000" cy="3200400"/>
          </a:xfrm>
          <a:prstGeom prst="rect">
            <a:avLst/>
          </a:prstGeom>
          <a:solidFill>
            <a:srgbClr val="DDE5ED"/>
          </a:solidFill>
          <a:ln>
            <a:noFill/>
          </a:ln>
          <a:effectLst/>
        </p:spPr>
        <p:txBody>
          <a:bodyPr rtlCol="0" anchor="ctr"/>
          <a:lstStyle/>
          <a:p>
            <a:pPr algn="ctr"/>
            <a:endParaRPr/>
          </a:p>
        </p:txBody>
      </p:sp>
      <p:sp>
        <p:nvSpPr>
          <p:cNvPr id="5" name="TextBox 4"/>
          <p:cNvSpPr txBox="1"/>
          <p:nvPr/>
        </p:nvSpPr>
        <p:spPr>
          <a:xfrm>
            <a:off x="548640" y="1554480"/>
            <a:ext cx="8046720" cy="1828800"/>
          </a:xfrm>
          <a:prstGeom prst="rect">
            <a:avLst/>
          </a:prstGeom>
          <a:noFill/>
        </p:spPr>
        <p:txBody>
          <a:bodyPr wrap="square" lIns="0" tIns="0" rIns="0" bIns="0">
            <a:spAutoFit/>
          </a:bodyPr>
          <a:lstStyle/>
          <a:p>
            <a:pPr algn="ctr"/>
            <a:r>
              <a:rPr sz="8000" b="1" i="0">
                <a:solidFill>
                  <a:srgbClr val="1E4C7D"/>
                </a:solidFill>
                <a:latin typeface="Ubuntu"/>
              </a:rPr>
              <a:t>Gracias</a:t>
            </a:r>
          </a:p>
        </p:txBody>
      </p:sp>
      <p:sp>
        <p:nvSpPr>
          <p:cNvPr id="6" name="Rectangle 5"/>
          <p:cNvSpPr/>
          <p:nvPr/>
        </p:nvSpPr>
        <p:spPr>
          <a:xfrm>
            <a:off x="2743200" y="4754880"/>
            <a:ext cx="3657600" cy="914400"/>
          </a:xfrm>
          <a:prstGeom prst="rect">
            <a:avLst/>
          </a:prstGeom>
          <a:solidFill>
            <a:srgbClr val="1E4C7D"/>
          </a:solidFill>
          <a:ln>
            <a:noFill/>
          </a:ln>
          <a:effectLst/>
        </p:spPr>
        <p:txBody>
          <a:bodyPr rtlCol="0" anchor="ctr"/>
          <a:lstStyle/>
          <a:p>
            <a:pPr algn="ctr"/>
            <a:endParaRPr/>
          </a:p>
        </p:txBody>
      </p:sp>
      <p:sp>
        <p:nvSpPr>
          <p:cNvPr id="7" name="TextBox 6"/>
          <p:cNvSpPr txBox="1"/>
          <p:nvPr/>
        </p:nvSpPr>
        <p:spPr>
          <a:xfrm>
            <a:off x="2743200" y="4754880"/>
            <a:ext cx="3657600" cy="914400"/>
          </a:xfrm>
          <a:prstGeom prst="rect">
            <a:avLst/>
          </a:prstGeom>
          <a:noFill/>
        </p:spPr>
        <p:txBody>
          <a:bodyPr wrap="square" lIns="0" tIns="0" rIns="0" bIns="0" anchor="ctr">
            <a:spAutoFit/>
          </a:bodyPr>
          <a:lstStyle/>
          <a:p>
            <a:pPr algn="ctr"/>
            <a:r>
              <a:rPr sz="2800" b="1" i="0">
                <a:solidFill>
                  <a:srgbClr val="FFFFFF"/>
                </a:solidFill>
                <a:latin typeface="Ubuntu"/>
              </a:rPr>
              <a:t>¿Preguntas?</a:t>
            </a:r>
          </a:p>
        </p:txBody>
      </p:sp>
      <p:sp>
        <p:nvSpPr>
          <p:cNvPr id="8" name="TextBox 7"/>
          <p:cNvSpPr txBox="1"/>
          <p:nvPr/>
        </p:nvSpPr>
        <p:spPr>
          <a:xfrm>
            <a:off x="548640" y="5943600"/>
            <a:ext cx="8046720" cy="365760"/>
          </a:xfrm>
          <a:prstGeom prst="rect">
            <a:avLst/>
          </a:prstGeom>
          <a:noFill/>
        </p:spPr>
        <p:txBody>
          <a:bodyPr wrap="square" lIns="0" tIns="0" rIns="0" bIns="0">
            <a:spAutoFit/>
          </a:bodyPr>
          <a:lstStyle/>
          <a:p>
            <a:pPr algn="ctr"/>
            <a:r>
              <a:rPr sz="1200" b="0" i="0">
                <a:solidFill>
                  <a:srgbClr val="555555"/>
                </a:solidFill>
                <a:latin typeface="Ubuntu"/>
              </a:rPr>
              <a:t>[PENDIENTE: correo o contacto del expositor]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4238</Words>
  <Application>Microsoft Macintosh PowerPoint</Application>
  <PresentationFormat>Presentación en pantalla (4:3)</PresentationFormat>
  <Paragraphs>288</Paragraphs>
  <Slides>25</Slides>
  <Notes>7</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25</vt:i4>
      </vt:variant>
    </vt:vector>
  </HeadingPairs>
  <TitlesOfParts>
    <vt:vector size="29" baseType="lpstr">
      <vt:lpstr>Arial</vt:lpstr>
      <vt:lpstr>Calibri</vt:lpstr>
      <vt:lpstr>Ubuntu</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Jorge Juvenal Campos Ferreira</cp:lastModifiedBy>
  <cp:revision>2</cp:revision>
  <dcterms:created xsi:type="dcterms:W3CDTF">2013-01-27T09:14:16Z</dcterms:created>
  <dcterms:modified xsi:type="dcterms:W3CDTF">2026-09-09T12:49:09Z</dcterms:modified>
  <cp:category/>
</cp:coreProperties>
</file>