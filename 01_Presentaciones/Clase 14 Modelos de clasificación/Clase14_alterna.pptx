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3200400"/>
          </a:xfrm>
          <a:prstGeom prst="rect">
            <a:avLst/>
          </a:prstGeom>
          <a:solidFill>
            <a:srgbClr val="DDE5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1E4C7D"/>
                </a:solidFill>
                <a:latin typeface="Ubuntu"/>
              </a:rPr>
              <a:t>14. Modelos de</a:t>
            </a:r>
          </a:p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1E4C7D"/>
                </a:solidFill>
                <a:latin typeface="Ubuntu"/>
              </a:rPr>
              <a:t>clasificación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1E4C7D"/>
                </a:solidFill>
                <a:latin typeface="Ubuntu"/>
              </a:rPr>
              <a:t>Ciencia de datos para la toma de decisiones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Jorge Juvenal Campos Ferreira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juvenal.campos@tec.mx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828800" cy="4572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Hoy vamos del texto crudo a un modelo evaluado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251960" cy="24231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704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1. Del texto a la matriz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08760"/>
            <a:ext cx="40325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Matriz documento-término con cast_dtm() y con recetas de textrecipes. Por qué casi toda la matriz son ceros y cómo reducirla.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097280"/>
            <a:ext cx="4251960" cy="24231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1704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2. Etiquetas con un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508760"/>
            <a:ext cx="40325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Claude clasifica 1,547 comentarios reales con una rúbrica escrita de antemano. Por qué la etiqueta es el techo del modelo.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657600"/>
            <a:ext cx="4251960" cy="24231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73075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3. Modelos supervisados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069080"/>
            <a:ext cx="40325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Partición entrenamiento/prueba, árboles de decisión, bosque aleatorio y regresión logística penalizada, todo con tidymodels.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3657600"/>
            <a:ext cx="4251960" cy="24231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373075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4. Evaluación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4069080"/>
            <a:ext cx="403250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Matriz de confusión, exactitud, precisión, sensibilidad, F1 y curva ROC. Por qué la exactitud engaña y qué palabras usa el modelo.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Ubuntu"/>
              </a:rPr>
              <a:t>La matriz documento-término convierte texto en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8595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Cada fila es un documento (comentario, tweet, párrafo), cada columna es un término y cada celda guarda cuántas veces aparece el término en el documento, o su ponderación tf-idf.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828800"/>
          <a:ext cx="8595360" cy="1325880"/>
        </p:xfrm>
        <a:graphic>
          <a:graphicData uri="http://schemas.openxmlformats.org/drawingml/2006/table">
            <a:tbl>
              <a:tblPr firstRow="1" bandRow="1"/>
              <a:tblGrid>
                <a:gridCol w="2194560"/>
                <a:gridCol w="1280160"/>
                <a:gridCol w="1280160"/>
                <a:gridCol w="1371600"/>
                <a:gridCol w="1280160"/>
                <a:gridCol w="1188720"/>
              </a:tblGrid>
              <a:tr h="33147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Ubuntu"/>
                        </a:rPr>
                        <a:t>Documento \ Término</a:t>
                      </a:r>
                    </a:p>
                  </a:txBody>
                  <a:tcPr marL="73152" marR="73152" marT="36576" marB="36576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Ubuntu"/>
                        </a:rPr>
                        <a:t>impuesto</a:t>
                      </a:r>
                    </a:p>
                  </a:txBody>
                  <a:tcPr marL="73152" marR="73152" marT="36576" marB="36576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Ubuntu"/>
                        </a:rPr>
                        <a:t>pinche</a:t>
                      </a:r>
                    </a:p>
                  </a:txBody>
                  <a:tcPr marL="73152" marR="73152" marT="36576" marB="36576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Ubuntu"/>
                        </a:rPr>
                        <a:t>videojuego</a:t>
                      </a:r>
                    </a:p>
                  </a:txBody>
                  <a:tcPr marL="73152" marR="73152" marT="36576" marB="36576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Ubuntu"/>
                        </a:rPr>
                        <a:t>gobierno</a:t>
                      </a:r>
                    </a:p>
                  </a:txBody>
                  <a:tcPr marL="73152" marR="73152" marT="36576" marB="36576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Ubuntu"/>
                        </a:rPr>
                        <a:t>morena</a:t>
                      </a:r>
                    </a:p>
                  </a:txBody>
                  <a:tcPr marL="73152" marR="73152" marT="36576" marB="36576">
                    <a:solidFill>
                      <a:srgbClr val="1E4C7D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4C7D"/>
                          </a:solidFill>
                          <a:latin typeface="Ubuntu"/>
                        </a:rPr>
                        <a:t>Comentario 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4C7D"/>
                          </a:solidFill>
                          <a:latin typeface="Ubuntu"/>
                        </a:rPr>
                        <a:t>Comentario 2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4C7D"/>
                          </a:solidFill>
                          <a:latin typeface="Ubuntu"/>
                        </a:rPr>
                        <a:t>Comentario 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3337560"/>
            <a:ext cx="4251960" cy="160020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447288"/>
            <a:ext cx="3977640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matriz_dtm &lt;- tokens %&gt;%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count(id, palabra) %&gt;%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cast_dtm(document = id,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         term = palabra,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         value = n,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         weighting = tm::weightTfIdf)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3337560"/>
            <a:ext cx="4251960" cy="16002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34107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tidytext::cast_dtm()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40"/>
            <a:ext cx="403250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document: columna que identifica al documento.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term: columna con las palabras o tokens.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value: frecuencia o ponderación de la celda.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weighting: tf (conteo) o tf-idf.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074920"/>
            <a:ext cx="8595360" cy="1188720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514807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La matriz es el puente: el modelo no lee texto, lee esta tabla.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486400"/>
            <a:ext cx="837590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En tidymodels no se construye a mano: una receta de textrecipes la produce dentro del flujo con step_tokenize(), step_stopwords(), step_tokenfilter() y step_tfidf().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Casi toda la matriz de texto son ceros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21945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7043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4C7D"/>
                </a:solidFill>
                <a:latin typeface="Ubuntu"/>
              </a:rPr>
              <a:t>5,202 palabras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08760"/>
            <a:ext cx="252374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distintas aparecen en los comentarios de entrenamiento después de quitar las palabras vacías (stop words).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743200" cy="21945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8" y="117043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4C7D"/>
                </a:solidFill>
                <a:latin typeface="Ubuntu"/>
              </a:rPr>
              <a:t>~17 palabras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508760"/>
            <a:ext cx="252374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usa el comentario mediano. Cada fila tiene valores en menos del 1 % de sus columnas.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2743200" cy="21945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17043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4C7D"/>
                </a:solidFill>
                <a:latin typeface="Ubuntu"/>
              </a:rPr>
              <a:t>500 columnas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508760"/>
            <a:ext cx="252374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quedan tras exigir que la palabra aparezca al menos 3 veces y conservar las 500 más frecuentes.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74720"/>
            <a:ext cx="4251960" cy="210312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5478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Por qué importa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886200"/>
            <a:ext cx="403250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Guardar millones de ceros desperdicia memoria y tiempo de cómputo. Un bosque con 4,000 columnas y 1,000 filas tarda mucho más y no aprende mejor: las palabras que aparecen una vez no sirven para generalizar.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3474720"/>
            <a:ext cx="4251960" cy="210312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8" y="35478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Cómo reducirla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3886200"/>
            <a:ext cx="403250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tm::removeSparseTerms(dtm, 0.99) elimina los términos ausentes en más del 99 % de los documentos.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textrecipes::step_tokenfilter(min_times, max_tokens) hace lo mismo dentro de la receta y solo con la base de entrenamiento.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715000"/>
            <a:ext cx="8595360" cy="548640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5788152"/>
            <a:ext cx="83759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E4C7D"/>
                </a:solidFill>
                <a:latin typeface="Ubuntu"/>
              </a:rPr>
              <a:t>Cuánto recortar depende del tamaño del corpus y de la computadora; es una decisión del analista, no una regla.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Un LLM etiqueta miles de comentarios en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251960" cy="22860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704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Etiquetado con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08760"/>
            <a:ext cx="4032504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Asignar etiquetas a textos con un modelo de lenguaje de gran escala. En lugar de reglas o de anotadores humanos, se aprovecha la comprensión semántica del modelo para emitir un juicio contextual ("Ofensivo" / "No ofensivo").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097280"/>
            <a:ext cx="4251960" cy="2286000"/>
          </a:xfrm>
          <a:prstGeom prst="rect">
            <a:avLst/>
          </a:prstGeom>
          <a:solidFill>
            <a:srgbClr val="DDE5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1704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Ejemplo real de la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508760"/>
            <a:ext cx="4032504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Rúbrica: "Clasifica el comentario como OFENSIVO o NO_OFENSIVO".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Texto: "Pues era porra en la UNAM".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Respuesta: NO_OFENSIVO.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56616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Flujo técnico de la sesión (Claude + 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977639"/>
            <a:ext cx="1600200" cy="100584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4050791"/>
            <a:ext cx="1380744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C7D"/>
                </a:solidFill>
                <a:latin typeface="Ubuntu"/>
              </a:rPr>
              <a:t>Excel con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C7D"/>
                </a:solidFill>
                <a:latin typeface="Ubuntu"/>
              </a:rPr>
              <a:t>1,547 comentarios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206240"/>
            <a:ext cx="137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4C7D"/>
                </a:solidFill>
                <a:latin typeface="Ubuntu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79" y="3977639"/>
            <a:ext cx="1600200" cy="1005840"/>
          </a:xfrm>
          <a:prstGeom prst="rect">
            <a:avLst/>
          </a:prstGeom>
          <a:solidFill>
            <a:srgbClr val="DDE5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21407" y="4050791"/>
            <a:ext cx="1380744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C7D"/>
                </a:solidFill>
                <a:latin typeface="Ubuntu"/>
              </a:rPr>
              <a:t>8 lotes de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C7D"/>
                </a:solidFill>
                <a:latin typeface="Ubuntu"/>
              </a:rPr>
              <a:t>~200 comentarios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4206240"/>
            <a:ext cx="137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4C7D"/>
                </a:solidFill>
                <a:latin typeface="Ubuntu"/>
              </a:rP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3977639"/>
            <a:ext cx="1600200" cy="100584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7" y="4050791"/>
            <a:ext cx="1380744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C7D"/>
                </a:solidFill>
                <a:latin typeface="Ubuntu"/>
              </a:rPr>
              <a:t>Claude aplica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C7D"/>
                </a:solidFill>
                <a:latin typeface="Ubuntu"/>
              </a:rPr>
              <a:t>la rúbrica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4206240"/>
            <a:ext cx="137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4C7D"/>
                </a:solidFill>
                <a:latin typeface="Ubuntu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399" y="3977639"/>
            <a:ext cx="1600200" cy="1005840"/>
          </a:xfrm>
          <a:prstGeom prst="rect">
            <a:avLst/>
          </a:prstGeom>
          <a:solidFill>
            <a:srgbClr val="DDE5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96127" y="4050791"/>
            <a:ext cx="1380744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C7D"/>
                </a:solidFill>
                <a:latin typeface="Ubuntu"/>
              </a:rPr>
              <a:t>CSV con id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C7D"/>
                </a:solidFill>
                <a:latin typeface="Ubuntu"/>
              </a:rPr>
              <a:t>y etiqueta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599" y="4206240"/>
            <a:ext cx="137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4C7D"/>
                </a:solidFill>
                <a:latin typeface="Ubuntu"/>
              </a:rPr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59" y="3977639"/>
            <a:ext cx="1600200" cy="100584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3487" y="4050791"/>
            <a:ext cx="1380744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C7D"/>
                </a:solidFill>
                <a:latin typeface="Ubuntu"/>
              </a:rPr>
              <a:t>R une etiquetas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C7D"/>
                </a:solidFill>
                <a:latin typeface="Ubuntu"/>
              </a:rPr>
              <a:t>y base (Excel)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166360"/>
            <a:ext cx="8595360" cy="1051560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523951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Un modelo grande y una rúbrica explícita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5577840"/>
            <a:ext cx="83759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criterio se escribe antes de ver los datos y se guarda con el código. Así cualquiera puede repetir el etiquetado con otro modelo (local con Ollama o por API) y comparar.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rúbrica define qué cuenta como ofensivo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233172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07008"/>
            <a:ext cx="8321040" cy="2112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Menlo"/>
              </a:rPr>
              <a:t>rubrica &lt;- str_c(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Menlo"/>
              </a:rPr>
              <a:t>  "Eres un moderador de comentarios de YouTube en español de México. ",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Menlo"/>
              </a:rPr>
              <a:t>  "Clasifica el comentario como OFENSIVO solo si cumple al menos una: ",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Menlo"/>
              </a:rPr>
              <a:t>  "(1) contiene insultos, groserías o apodos despectivos dirigidos a una ",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Menlo"/>
              </a:rPr>
              <a:t>  "persona o grupo (incluye albures y modismos mexicanos); (2) ataca a ",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Menlo"/>
              </a:rPr>
              <a:t>  "alguien por su clase social, género, orientación sexual, origen, edad o ",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Menlo"/>
              </a:rPr>
              <a:t>  "apariencia; (3) desea daño, amenaza o humilla. Criticar con dureza, ",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Menlo"/>
              </a:rPr>
              <a:t>  "burlarse de una idea o estar en desacuerdo con un gobierno, partido o ",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Menlo"/>
              </a:rPr>
              <a:t>  "persona pública SIN insultos ni ataques personales es NO_OFENSIVO. ",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Menlo"/>
              </a:rPr>
              <a:t>  "Comentarios neutros, de apoyo, chistes sin blanco humano o preguntas son ",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Menlo"/>
              </a:rPr>
              <a:t>  "NO_OFENSIVO. Responde únicamente con una palabra: OFENSIVO o NO_OFENSIVO."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FFFFFF"/>
                </a:solidFill>
                <a:latin typeface="Menlo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566160"/>
            <a:ext cx="4251960" cy="21031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36393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Ventajas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977640"/>
            <a:ext cx="403250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Rápido y flexible ante criterios nuevos.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No requiere datos de entrenamiento.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Cambiar el criterio es cambiar el prompt.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Se le puede pedir que explique su decisión.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3566160"/>
            <a:ext cx="4251960" cy="210312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6393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Limitaciones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3977640"/>
            <a:ext cx="403250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Varía entre intentos y entre modelos.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Hay que normalizar la salida (regex).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Hereda el sesgo del modelo y de la rúbrica.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Una rúbrica vaga produce etiquetas vagas.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760720"/>
            <a:ext cx="8595360" cy="502920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5833872"/>
            <a:ext cx="837590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E4C7D"/>
                </a:solidFill>
                <a:latin typeface="Ubuntu"/>
              </a:rPr>
              <a:t>La definición operativa de la rúbrica es la definición operativa del modelo que entrenaremos después.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Ubuntu"/>
              </a:rPr>
              <a:t>Desde R, ellmer manda la rúbrica y cada comentario a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416052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07008"/>
            <a:ext cx="8321040" cy="3941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library(ellmer)                      # un solo paquete para varias API de LLM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chat &lt;- chat_anthropic(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system_prompt = rubrica,           # la rúbrica de la diapositiva anterior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model = "claude-fable-5-1",        # el modelo que etiquetó la base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params = params(temperature = 0,   # respuestas reproducibles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                max_tokens = 10)   # bastan pocos tokens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respuesta &lt;- chat$chat(str_c("Comentario: \"", texto_i, "\""), echo = "none")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# Normalizar la salida: "OFENSIVO.", "no_ofensivo", "No ofensivo" ...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etiqueta &lt;- case_when(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str_detect(str_to_upper(respuesta), "NO[_ ]?OFENSIVO") ~ "No ofensivo",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str_detect(str_to_upper(respuesta), "OFENSIVO")        ~ "Ofensivo",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TRUE ~ NA_character_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# Con un modelo local basta cambiar el constructor: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chat &lt;- chat_ollama(system_prompt = rubrica, model = "gemma4:12b")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394960"/>
            <a:ext cx="4251960" cy="86868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54681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Ubuntu"/>
              </a:rPr>
              <a:t>Cuidado con el orden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5806440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El patrón NO_OFENSIVO se prueba primero; si no, "no ofensivo" caería en "ofensivo".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5394960"/>
            <a:ext cx="4251960" cy="86868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54681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7A3A"/>
                </a:solidFill>
                <a:latin typeface="Ubuntu"/>
              </a:rPr>
              <a:t>La llave nunca va en el código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5806440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ANTHROPIC_API_KEY se guarda en .Renviron; ellmer la lee sola. Un modelo local (Ollama) no necesita llave.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Ubuntu"/>
              </a:rPr>
              <a:t>La proporción de ofensivos va de 29 % a 55 % según el canal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8</a:t>
            </a:r>
          </a:p>
        </p:txBody>
      </p:sp>
      <p:pic>
        <p:nvPicPr>
          <p:cNvPr id="5" name="Picture 4" descr="fig_ofensivos_ca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57" y="1051560"/>
            <a:ext cx="7618085" cy="443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577840"/>
            <a:ext cx="8595360" cy="566928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5650992"/>
            <a:ext cx="837590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4C7D"/>
                </a:solidFill>
                <a:latin typeface="Ubuntu"/>
              </a:rPr>
              <a:t>La misma rúbrica aplicada a públicos distintos da bases distintas. Un modelo entrenado con un canal no generaliza solo a otro.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99632"/>
            <a:ext cx="8595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Ubuntu"/>
              </a:rPr>
              <a:t>Fuente: comentarios de YouTube a videos de El Heraldo de México, SinEmbargo, Revista Etcétera y La Jornada de Oriente (sep.-oct. 2026). Etiquetado con Claude (Fable 5.1). Cálculos propios.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Ubuntu"/>
              </a:rPr>
              <a:t>La base tiene 1,547 comentarios etiquetados, 47 % ofensivos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9</a:t>
            </a:r>
          </a:p>
        </p:txBody>
      </p:sp>
      <p:pic>
        <p:nvPicPr>
          <p:cNvPr id="5" name="Picture 4" descr="fig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53" y="1051560"/>
            <a:ext cx="6622694" cy="443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577840"/>
            <a:ext cx="8595360" cy="566928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5650992"/>
            <a:ext cx="837590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4C7D"/>
                </a:solidFill>
                <a:latin typeface="Ubuntu"/>
              </a:rPr>
              <a:t>La clase mayoritaria es "No ofensivo" (53 %). Ese desbalance va a importar al leer la exactitud.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99632"/>
            <a:ext cx="8595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Ubuntu"/>
              </a:rPr>
              <a:t>Fuente: comentarios de YouTube a videos de El Heraldo de México, SinEmbargo, Revista Etcétera y La Jornada de Oriente (sep.-oct. 2026). Etiquetado con Claude (Fable 5.1). Cálculos propios.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Clasificar es aprendizaje supervisado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1430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7043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Modelado de clasificación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08760"/>
            <a:ext cx="837590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Entrenar un algoritmo para predecir la categoría de documentos nuevos a partir de patrones aprendidos en documentos ya etiquetados. Es una de las aplicaciones más prácticas del análisis de texto.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77440"/>
            <a:ext cx="4251960" cy="26517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4505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Características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788920"/>
            <a:ext cx="4032504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Supervisado: necesita etiquetas.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Aprende la relación palabras -&gt; clase.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Predice la clase de textos que nunca vio.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Se evalúa con datos que no usó para aprender.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Su techo es la calidad de las etiquetas.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2377440"/>
            <a:ext cx="4251960" cy="2651760"/>
          </a:xfrm>
          <a:prstGeom prst="rect">
            <a:avLst/>
          </a:prstGeom>
          <a:solidFill>
            <a:srgbClr val="DDE5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4505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Algunos modelos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788920"/>
            <a:ext cx="4032504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Regresión logística (hoy, como base).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Árboles de decisión y bosques aleatorios (hoy).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XGBoost y otros ensambles.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Máquinas de soporte vectorial (SVM).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000000"/>
                </a:solidFill>
                <a:latin typeface="Ubuntu"/>
              </a:rPr>
              <a:t>Redes neuronales y modelos tipo BERT.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166360"/>
            <a:ext cx="8595360" cy="1097280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523951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Hoy: regresión logística y bosque aleatorio, los dos con el mismo flujo de tidymodels.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5577840"/>
            <a:ext cx="837590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flujo (partir, preparar, entrenar, evaluar) es el mismo para cualquier modelo; cambiar de algoritmo cuesta una línea.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Ubuntu"/>
              </a:rPr>
              <a:t>Primero se aparta la base de prueba, antes de tocar 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644652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20840" y="1143000"/>
            <a:ext cx="214884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6446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Ubuntu"/>
              </a:rPr>
              <a:t>Entrenamiento: 75 % (1,159 comentarios)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Ubuntu"/>
              </a:rPr>
              <a:t>Prueba: 25 % (388)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65960"/>
            <a:ext cx="4251960" cy="17373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0391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Por qué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377440"/>
            <a:ext cx="403250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Un modelo puede memorizar los datos con los que aprendió (sobreajuste). Solo los datos que nunca vio dicen qué tan bien generaliza.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965960"/>
            <a:ext cx="4251960" cy="17373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03911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Cómo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377440"/>
            <a:ext cx="403250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initial_split(prop = 0.75, strata = etiqueta) reparte al azar y conserva la proporción de clases en ambas bases. set.seed() hace el reparto reproducible.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40480"/>
            <a:ext cx="4251960" cy="173736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9136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Error frecuente en texto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251960"/>
            <a:ext cx="403250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Construir la matriz documento-término con todos los comentarios y partir después. El vocabulario de prueba se filtra a la base de entrenamiento: fuga de información.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840480"/>
            <a:ext cx="4251960" cy="173736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7448" y="39136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Lo que hace tidymodels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4251960"/>
            <a:ext cx="403250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La receta se ajusta (prep) solo con entrenamiento. Al predecir la base de prueba, las palabras nuevas simplemente se ignoran.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669280"/>
            <a:ext cx="8595360" cy="86868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779008"/>
            <a:ext cx="8321040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Menlo"/>
              </a:rPr>
              <a:t>set.seed(2026)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Menlo"/>
              </a:rPr>
              <a:t>particion &lt;- initial_split(comentarios, prop = 0.75, strata = etiqueta)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Menlo"/>
              </a:rPr>
              <a:t>entrenamiento &lt;- training(particion)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Menlo"/>
              </a:rPr>
              <a:t>prueba        &lt;- testing(particion)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Ubuntu"/>
              </a:rPr>
              <a:t>Un árbol de decisión hace preguntas sobre palabras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12</a:t>
            </a:r>
          </a:p>
        </p:txBody>
      </p:sp>
      <p:pic>
        <p:nvPicPr>
          <p:cNvPr id="5" name="Picture 4" descr="fig_ar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893" y="1051560"/>
            <a:ext cx="7266214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715000"/>
            <a:ext cx="8595360" cy="566928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5788152"/>
            <a:ext cx="837590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4C7D"/>
                </a:solidFill>
                <a:latin typeface="Ubuntu"/>
              </a:rPr>
              <a:t>Cada pregunta divide los comentarios en dos grupos más puros. Un solo árbol memoriza; muchos árboles distintos generalizan.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Ubuntu"/>
              </a:rPr>
              <a:t>El bosque aleatorio promedia cientos de árboles distintos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22860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7043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Muestras distintas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08760"/>
            <a:ext cx="2523744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Cada árbol se entrena con una muestra con reemplazo de los comentarios (bagging). Los que no entran sirven para estimar el error "fuera de la bolsa" (OOB).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743200" cy="22860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8" y="117043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Palabras distintas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508760"/>
            <a:ext cx="2523744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En cada división el árbol solo puede elegir entre mtry columnas al azar. Así ningún árbol depende de la misma grosería y el bosque es más diverso.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2743200" cy="22860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17043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Votación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508760"/>
            <a:ext cx="2523744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Cada árbol vota una clase; el bosque reporta la proporción de votos como probabilidad. Gana la clase con más votos.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56616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Hiperparámetros que sí conviene conocer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74320" y="3931920"/>
          <a:ext cx="8595360" cy="1600200"/>
        </p:xfrm>
        <a:graphic>
          <a:graphicData uri="http://schemas.openxmlformats.org/drawingml/2006/table">
            <a:tbl>
              <a:tblPr firstRow="1" bandRow="1"/>
              <a:tblGrid>
                <a:gridCol w="1737360"/>
                <a:gridCol w="2743200"/>
                <a:gridCol w="4114800"/>
              </a:tblGrid>
              <a:tr h="40005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Ubuntu"/>
                        </a:rPr>
                        <a:t>Hiperparámetro</a:t>
                      </a:r>
                    </a:p>
                  </a:txBody>
                  <a:tcPr marL="73152" marR="73152" marT="36576" marB="36576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Ubuntu"/>
                        </a:rPr>
                        <a:t>Qué controla</a:t>
                      </a:r>
                    </a:p>
                  </a:txBody>
                  <a:tcPr marL="73152" marR="73152" marT="36576" marB="36576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Ubuntu"/>
                        </a:rPr>
                        <a:t>Valor típico en texto</a:t>
                      </a:r>
                    </a:p>
                  </a:txBody>
                  <a:tcPr marL="73152" marR="73152" marT="36576" marB="36576">
                    <a:solidFill>
                      <a:srgbClr val="1E4C7D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4C7D"/>
                          </a:solidFill>
                          <a:latin typeface="Ubuntu"/>
                        </a:rPr>
                        <a:t>trees (ntree)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Número de árboles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100 para explorar; 300-500 normal; 1,000 para exprimir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4C7D"/>
                          </a:solidFill>
                          <a:latin typeface="Ubuntu"/>
                        </a:rPr>
                        <a:t>mtry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Columnas candidatas por división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raíz del número de columnas; con 500 columnas, ~22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4C7D"/>
                          </a:solidFill>
                          <a:latin typeface="Ubuntu"/>
                        </a:rPr>
                        <a:t>min_n (nodesize)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Comentarios mínimos por hoja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5-10; valores altos simplifican el árbol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74320" y="5669280"/>
            <a:ext cx="8595360" cy="86868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5779008"/>
            <a:ext cx="8321040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Menlo"/>
              </a:rPr>
              <a:t>rand_forest(trees = 500, mtry = 25, min_n = 5) %&gt;%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Menlo"/>
              </a:rPr>
              <a:t>  set_engine("ranger", importance = "impurity") %&gt;%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Menlo"/>
              </a:rPr>
              <a:t>  set_mode("classification")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Ubuntu"/>
              </a:rPr>
              <a:t>La regresión logística penalizada es el modelo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18872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enlo"/>
              </a:rPr>
              <a:t>P(ofensivo) = 1 / (1 + exp(-(b0 + b1*x1 + ... + bk*xk)))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84124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FFFFFF"/>
                </a:solidFill>
                <a:latin typeface="Ubuntu"/>
              </a:rPr>
              <a:t>x_j es el tf-idf de la palabra j en el comentario; b_j &gt; 0 empuja hacia "Ofensivo" y b_j &lt; 0 hacia "No ofensivo".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68880"/>
            <a:ext cx="4251960" cy="210312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5420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Por qué empezar aquí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880360"/>
            <a:ext cx="403250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Ya la conocen de cursos anteriores. Es rápida, estable con pocas observaciones y entrega un coeficiente por palabra que se puede leer. Si un modelo complejo no la supera, algo anda mal con los datos, no con el modelo.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2468880"/>
            <a:ext cx="4251960" cy="210312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5420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Penalización lasso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880360"/>
            <a:ext cx="403250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Con cientos de columnas y pocos cientos de filas, la regresión sin penalizar sobreajusta. La penalización L1 (mixture = 1) fuerza a cero los coeficientes de las palabras que no ayudan: selecciona variables sola.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709160"/>
            <a:ext cx="8595360" cy="86868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818888"/>
            <a:ext cx="8321040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logistic_reg(penalty = 0.01, mixture = 1) %&gt;%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set_engine("glmnet") %&gt;%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set_mode("classification")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715000"/>
            <a:ext cx="8595360" cy="548640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5788152"/>
            <a:ext cx="83759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E4C7D"/>
                </a:solidFill>
                <a:latin typeface="Ubuntu"/>
              </a:rPr>
              <a:t>penalty se puede afinar con validación cruzada (tune); hoy se fija en 0.01 para mantener el flujo simple.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Ubuntu"/>
              </a:rPr>
              <a:t>La receta aprende el vocabulario solo con entrenamiento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3749039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07008"/>
            <a:ext cx="8321040" cy="3529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library(tidymodels)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library(textrecipes)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stopwords_es &lt;- stopwords::stopwords("es", source = "stopwords-iso")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receta &lt;- recipe(etiqueta ~ texto, data = entrenamiento) %&gt;%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step_mutate(texto = str_remove_all(texto, "@@\\S+")) %&gt;%  # menciones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step_mutate(texto = str_remove_all(texto, "\\d+")) %&gt;%    # dígitos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step_tokenize(texto) %&gt;%                                  # palabras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step_stopwords(texto, custom_stopword_source = stopwords_es) %&gt;%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step_tokenfilter(texto, min_times = 3, max_tokens = 500) %&gt;%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step_tfidf(texto)                                         # DTM tf-idf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# Para inspeccionar la matriz que produce: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receta %&gt;% prep() %&gt;% bake(new_data = NULL) %&gt;% dim()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#&gt; [1] 1159 501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983480"/>
            <a:ext cx="2743200" cy="12801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505663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4C7D"/>
                </a:solidFill>
                <a:latin typeface="Ubuntu"/>
              </a:rPr>
              <a:t>step_tokenize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5394960"/>
            <a:ext cx="252374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Parte el texto en palabras. Acepta otros motores (n-gramas, lematización con udpipe).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4983480"/>
            <a:ext cx="2743200" cy="12801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505663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4C7D"/>
                </a:solidFill>
                <a:latin typeface="Ubuntu"/>
              </a:rPr>
              <a:t>step_tokenfilter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5394960"/>
            <a:ext cx="252374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Filtra la dispersión: mínimo de apariciones y máximo de columnas, calculados en entrenamiento.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983480"/>
            <a:ext cx="2743200" cy="12801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505663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4C7D"/>
                </a:solidFill>
                <a:latin typeface="Ubuntu"/>
              </a:rPr>
              <a:t>step_tfidf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5394960"/>
            <a:ext cx="252374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Crea una columna tfidf_texto_palabra por término. Hace lo mismo que cast_dtm(weighting = weightTfIdf).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Ubuntu"/>
              </a:rPr>
              <a:t>Receta + modelo = flujo de trabajo; el mismo para ambos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411480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07008"/>
            <a:ext cx="8321040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# Un flujo de trabajo une la receta con el modelo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flujo_bosque &lt;- workflow() %&gt;%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add_recipe(receta) %&gt;%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add_model(modelo_bosque)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# Entrenar: prep de la receta + ajuste del modelo, en un paso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ajuste_bosque &lt;- fit(flujo_bosque, data = entrenamiento)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# Predecir la base de prueba: augment agrega .pred_class y .pred_Ofensivo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predicciones &lt;- augment(ajuste_bosque, new_data = prueba)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# Evaluar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predicciones %&gt;% conf_mat(truth = etiqueta, estimate = .pred_class)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predicciones %&gt;%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metric_set(accuracy, precision, recall, f_meas)(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    truth = etiqueta, estimate = .pred_class)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enlo"/>
              </a:rPr>
              <a:t>predicciones %&gt;% roc_auc(truth = etiqueta, .pred_Ofensivo)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349240"/>
            <a:ext cx="4251960" cy="9144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54223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4C7D"/>
                </a:solidFill>
                <a:latin typeface="Ubuntu"/>
              </a:rPr>
              <a:t>Cambiar de modelo = cambiar una línea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5760720"/>
            <a:ext cx="4032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add_model(modelo_logistico) reutiliza la misma receta y la misma evaluación.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5349240"/>
            <a:ext cx="4251960" cy="91440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542239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Ubuntu"/>
              </a:rPr>
              <a:t>Clase positiva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5760720"/>
            <a:ext cx="4032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yardstick toma el primer nivel del factor como positivo: por eso etiqueta se define con levels = c("Ofensivo", ...).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Ubuntu"/>
              </a:rPr>
              <a:t>La matriz de confusión separa cuatro tipos de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17</a:t>
            </a:r>
          </a:p>
        </p:txBody>
      </p:sp>
      <p:pic>
        <p:nvPicPr>
          <p:cNvPr id="5" name="Picture 4" descr="fig_confusion_esqu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67" y="1051560"/>
            <a:ext cx="6565265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623560"/>
            <a:ext cx="8595360" cy="566928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5696712"/>
            <a:ext cx="837590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4C7D"/>
                </a:solidFill>
                <a:latin typeface="Ubuntu"/>
              </a:rPr>
              <a:t>Para un moderador, el falso negativo (ofensa que pasa) y el falso positivo (crítica censurada) cuestan distinto. Las métricas miden cada uno.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Ubuntu"/>
              </a:rPr>
              <a:t>Cuatro métricas responden cuatro preguntas distintas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0972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enlo"/>
              </a:rPr>
              <a:t>Exactitud = (VP + VN) /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84124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FFFFFF"/>
                </a:solidFill>
                <a:latin typeface="Ubuntu"/>
              </a:rPr>
              <a:t>¿Qué proporción de todos los comentarios clasificó bien? Engaña cuando una clase domina.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8595360" cy="10972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377440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enlo"/>
              </a:rPr>
              <a:t>Precisión = VP / (VP + FP)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16352"/>
            <a:ext cx="84124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FFFFFF"/>
                </a:solidFill>
                <a:latin typeface="Ubuntu"/>
              </a:rPr>
              <a:t>De los que marcó como ofensivos, ¿cuántos lo eran? Alta precisión = pocas críticas censuradas por error.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74720"/>
            <a:ext cx="8595360" cy="10972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566160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enlo"/>
              </a:rPr>
              <a:t>Sensibilidad = VP / (VP + FN)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05072"/>
            <a:ext cx="84124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FFFFFF"/>
                </a:solidFill>
                <a:latin typeface="Ubuntu"/>
              </a:rPr>
              <a:t>De los ofensivos reales, ¿cuántos detectó? Alta sensibilidad = pocas ofensas que se escapan. También se llama recall.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663440"/>
            <a:ext cx="8595360" cy="10972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enlo"/>
              </a:rPr>
              <a:t>F1 = 2 * Prec * Sens / (Prec + Sens)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193792"/>
            <a:ext cx="84124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FFFFFF"/>
                </a:solidFill>
                <a:latin typeface="Ubuntu"/>
              </a:rPr>
              <a:t>Media armónica de precisión y sensibilidad. Resume ambas en un número cuando no hay una preferida.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897880"/>
            <a:ext cx="8595360" cy="457200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5971032"/>
            <a:ext cx="83759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E4C7D"/>
                </a:solidFill>
                <a:latin typeface="Ubuntu"/>
              </a:rPr>
              <a:t>Siempre reportar al menos exactitud, precisión y sensibilidad de la clase que importa.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Ubuntu"/>
              </a:rPr>
              <a:t>Un modelo que nunca detecta ofensas ya tiene 53 % de exactitud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19</a:t>
            </a:r>
          </a:p>
        </p:txBody>
      </p:sp>
      <p:pic>
        <p:nvPicPr>
          <p:cNvPr id="5" name="Picture 4" descr="fig_exactitud_eng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59424"/>
            <a:ext cx="8595360" cy="40819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440679"/>
            <a:ext cx="8595360" cy="566928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5513831"/>
            <a:ext cx="837590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4C7D"/>
                </a:solidFill>
                <a:latin typeface="Ubuntu"/>
              </a:rPr>
              <a:t>Cualquier modelo debe compararse contra esa referencia de 53 %. Su sensibilidad es 0 %: no sirve para nada aunque su exactitud suene bien.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99632"/>
            <a:ext cx="8595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Ubuntu"/>
              </a:rPr>
              <a:t>Fuente: comentarios de YouTube a videos de El Heraldo de México, SinEmbargo, Revista Etcétera y La Jornada de Oriente (sep.-oct. 2026). Etiquetado con Claude (Fable 5.1). Cálculos propios.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Ubuntu"/>
              </a:rPr>
              <a:t>El bosque acierta 67 % y detecta 54 % de los ofensivos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20</a:t>
            </a:r>
          </a:p>
        </p:txBody>
      </p:sp>
      <p:pic>
        <p:nvPicPr>
          <p:cNvPr id="5" name="Picture 4" descr="fig_confusion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065" y="1051560"/>
            <a:ext cx="6973870" cy="443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577840"/>
            <a:ext cx="8595360" cy="566928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5650992"/>
            <a:ext cx="837590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4C7D"/>
                </a:solidFill>
                <a:latin typeface="Ubuntu"/>
              </a:rPr>
              <a:t>Precisión de 70 %: cuando el bosque marca un comentario como ofensivo, acierta 70 de cada 100.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99632"/>
            <a:ext cx="8595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Ubuntu"/>
              </a:rPr>
              <a:t>Fuente: comentarios de YouTube a videos de El Heraldo de México, SinEmbargo, Revista Etcétera y La Jornada de Oriente (sep.-oct. 2026). Etiquetado con Claude (Fable 5.1). Cálculos propios.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Ubuntu"/>
              </a:rPr>
              <a:t>Bosque aleatorio obtiene el mejor F1; ambos superan la referencia de 53 %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21</a:t>
            </a:r>
          </a:p>
        </p:txBody>
      </p:sp>
      <p:pic>
        <p:nvPicPr>
          <p:cNvPr id="5" name="Picture 4" descr="fig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26" y="1051560"/>
            <a:ext cx="7408747" cy="443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577840"/>
            <a:ext cx="8595360" cy="566928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5650992"/>
            <a:ext cx="837590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4C7D"/>
                </a:solidFill>
                <a:latin typeface="Ubuntu"/>
              </a:rPr>
              <a:t>Logística: exactitud 65 %, sensibilidad 47 %. Bosque: exactitud 67 %, sensibilidad 54 %. La ganancia sobre la referencia es el valor real del modelo.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99632"/>
            <a:ext cx="8595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Ubuntu"/>
              </a:rPr>
              <a:t>Fuente: comentarios de YouTube a videos de El Heraldo de México, SinEmbargo, Revista Etcétera y La Jornada de Oriente (sep.-oct. 2026). Etiquetado con Claude (Fable 5.1). Cálculos propios.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Ubuntu"/>
              </a:rPr>
              <a:t>La curva ROC muestra el intercambio entre detectar y equivocarse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22</a:t>
            </a:r>
          </a:p>
        </p:txBody>
      </p:sp>
      <p:pic>
        <p:nvPicPr>
          <p:cNvPr id="5" name="Picture 4" descr="fig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861" y="1051560"/>
            <a:ext cx="4598278" cy="443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577840"/>
            <a:ext cx="8595360" cy="566928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5650992"/>
            <a:ext cx="837590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4C7D"/>
                </a:solidFill>
                <a:latin typeface="Ubuntu"/>
              </a:rPr>
              <a:t>AUC de 0.71 (bosque) y 0.69 (logística). Mover el umbral de 0.5 cambia sensibilidad por falsos positivos sin reentrenar.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99632"/>
            <a:ext cx="8595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Ubuntu"/>
              </a:rPr>
              <a:t>Fuente: comentarios de YouTube a videos de El Heraldo de México, SinEmbargo, Revista Etcétera y La Jornada de Oriente (sep.-oct. 2026). Etiquetado con Claude (Fable 5.1). Cálculos propios.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Ubuntu"/>
              </a:rPr>
              <a:t>Las palabras importantes son groserías y apodos políticos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23</a:t>
            </a:r>
          </a:p>
        </p:txBody>
      </p:sp>
      <p:pic>
        <p:nvPicPr>
          <p:cNvPr id="5" name="Picture 4" descr="fig_import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942" y="1051560"/>
            <a:ext cx="5694115" cy="443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577840"/>
            <a:ext cx="8595360" cy="566928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5650992"/>
            <a:ext cx="837590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4C7D"/>
                </a:solidFill>
                <a:latin typeface="Ubuntu"/>
              </a:rPr>
              <a:t>Encabezan la lista: lela, loca, cascabel, par, tellez, marihuana. El modelo aprendió el vocabulario del insulto, pero también el del tema: eso es señal de sesgo.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99632"/>
            <a:ext cx="8595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Ubuntu"/>
              </a:rPr>
              <a:t>Fuente: comentarios de YouTube a videos de El Heraldo de México, SinEmbargo, Revista Etcétera y La Jornada de Oriente (sep.-oct. 2026). Etiquetado con Claude (Fable 5.1). Cálculos propios.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Ubuntu"/>
              </a:rPr>
              <a:t>Los coeficientes de la logística muestran hacia dónde empuja cada palabra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24</a:t>
            </a:r>
          </a:p>
        </p:txBody>
      </p:sp>
      <p:pic>
        <p:nvPicPr>
          <p:cNvPr id="5" name="Picture 4" descr="fig_coefici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051560"/>
            <a:ext cx="6172200" cy="443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577840"/>
            <a:ext cx="8595360" cy="566928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5650992"/>
            <a:ext cx="837590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4C7D"/>
                </a:solidFill>
                <a:latin typeface="Ubuntu"/>
              </a:rPr>
              <a:t>A diferencia del bosque, el signo dice la dirección: rojo sube la probabilidad de ofensa, verde la baja. La lasso dejó en cero el resto.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99632"/>
            <a:ext cx="8595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Ubuntu"/>
              </a:rPr>
              <a:t>Fuente: comentarios de YouTube a videos de El Heraldo de México, SinEmbargo, Revista Etcétera y La Jornada de Oriente (sep.-oct. 2026). Etiquetado con Claude (Fable 5.1). Cálculos propios.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Los errores del bosque enseñan sus límites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Ubuntu"/>
              </a:rPr>
              <a:t>Comentarios de la base de prueba en los que el bosque se equivocó con más confianza: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8595360" cy="1024128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3619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Ubuntu"/>
              </a:rPr>
              <a:t>Real: Ofensivo  |  Modelo: No ofensivo (P(ofensivo) = 0.06)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74520"/>
            <a:ext cx="8375904" cy="521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0000"/>
                </a:solidFill>
                <a:latin typeface="Ubuntu"/>
              </a:rPr>
              <a:t>"Estúpida esta que esta hablando, le dio la crisis por las burradas de su gobierno, burradas de sus militantes, burradas de los excesos de dinero, y lastima eres inculta, estudia preguntale a un doctor, parque que tu burra apren..."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78608"/>
            <a:ext cx="8595360" cy="1024128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651760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Ubuntu"/>
              </a:rPr>
              <a:t>Real: Ofensivo  |  Modelo: No ofensivo (P(ofensivo) = 0.07)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990088"/>
            <a:ext cx="8375904" cy="521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0000"/>
                </a:solidFill>
                <a:latin typeface="Ubuntu"/>
              </a:rPr>
              <a:t>"Y a Fox cuando lo señalaran? A la chupitos y a Calde-ron 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94176"/>
            <a:ext cx="8595360" cy="1024128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767328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Ubuntu"/>
              </a:rPr>
              <a:t>Real: Ofensivo  |  Modelo: No ofensivo (P(ofensivo) = 0.10)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105656"/>
            <a:ext cx="8375904" cy="521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0000"/>
                </a:solidFill>
                <a:latin typeface="Ubuntu"/>
              </a:rPr>
              <a:t>"Y la otra también es la Sapa que no tiene para fregar alos verdaderos guerreros así es usted con los ojos de sapo vidriosos y lafivinosos"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809744"/>
            <a:ext cx="8595360" cy="1024128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882896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Real: No ofensivo  |  Modelo: Ofensivo (P(ofensivo) = 0.89)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5221224"/>
            <a:ext cx="8375904" cy="521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0000"/>
                </a:solidFill>
                <a:latin typeface="Ubuntu"/>
              </a:rPr>
              <a:t>"Que los parrilleros le paguen beca de 100% y titulacion en el Tec de Monterrey ,campus Monterrey a estos jovenes, unos estudiamos donde podemos, otros prefieren hacer videos para denostar a quien ningun daño a hecho.❤"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943600"/>
            <a:ext cx="8595360" cy="411480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83759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E4C7D"/>
                </a:solidFill>
                <a:latin typeface="Ubuntu"/>
              </a:rPr>
              <a:t>Ironía, ofensas sin groserías y etiquetas discutibles: ahí falla la bolsa de palabras.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LLM y el modelo supervisado se complementan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8595360" cy="4023360"/>
        </p:xfrm>
        <a:graphic>
          <a:graphicData uri="http://schemas.openxmlformats.org/drawingml/2006/table">
            <a:tbl>
              <a:tblPr firstRow="1" bandRow="1"/>
              <a:tblGrid>
                <a:gridCol w="2011680"/>
                <a:gridCol w="3291840"/>
                <a:gridCol w="3291840"/>
              </a:tblGrid>
              <a:tr h="4470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Ubuntu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Ubuntu"/>
                        </a:rPr>
                        <a:t>Etiquetado con LLM</a:t>
                      </a:r>
                    </a:p>
                  </a:txBody>
                  <a:tcPr marL="73152" marR="73152" marT="36576" marB="36576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Ubuntu"/>
                        </a:rPr>
                        <a:t>Modelo supervisado</a:t>
                      </a:r>
                    </a:p>
                  </a:txBody>
                  <a:tcPr marL="73152" marR="73152" marT="36576" marB="36576">
                    <a:solidFill>
                      <a:srgbClr val="1E4C7D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4C7D"/>
                          </a:solidFill>
                          <a:latin typeface="Ubuntu"/>
                        </a:rPr>
                        <a:t>Datos etiquetados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No necesita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Cientos o miles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4C7D"/>
                          </a:solidFill>
                          <a:latin typeface="Ubuntu"/>
                        </a:rPr>
                        <a:t>Velocidad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Segundos por texto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Miles de textos por segundo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4C7D"/>
                          </a:solidFill>
                          <a:latin typeface="Ubuntu"/>
                        </a:rPr>
                        <a:t>Costo por texto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Cómputo (GPU) o API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Casi cero una vez entrenado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4C7D"/>
                          </a:solidFill>
                          <a:latin typeface="Ubuntu"/>
                        </a:rPr>
                        <a:t>Reproducibilidad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Varía entre modelos e intentos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Determinista con set.seed()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4C7D"/>
                          </a:solidFill>
                          <a:latin typeface="Ubuntu"/>
                        </a:rPr>
                        <a:t>Interpretabilidad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Puede explicar en lenguaje natural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Coeficientes e importancia de palabras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4C7D"/>
                          </a:solidFill>
                          <a:latin typeface="Ubuntu"/>
                        </a:rPr>
                        <a:t>Cambiar el criterio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Reescribir el prompt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Reetiquetar y reentrenar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4C7D"/>
                          </a:solidFill>
                          <a:latin typeface="Ubuntu"/>
                        </a:rPr>
                        <a:t>Ironía y contexto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Mejor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Débil (bolsa de palabras)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4C7D"/>
                          </a:solidFill>
                          <a:latin typeface="Ubuntu"/>
                        </a:rPr>
                        <a:t>Dependencias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Servidor o API disponible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Ubuntu"/>
                        </a:rPr>
                        <a:t>Solo R y el modelo guardado</a:t>
                      </a:r>
                    </a:p>
                  </a:txBody>
                  <a:tcPr marL="73152" marR="73152" marT="36576" marB="36576">
                    <a:solidFill>
                      <a:srgbClr val="DDE5ED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5303520"/>
            <a:ext cx="8595360" cy="960120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537667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El flujo real en la industria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5715000"/>
            <a:ext cx="83759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LLM etiqueta una muestra (o la etiquetan personas); con ella se entrena un modelo barato y rápido que clasifica millones de textos; el LLM revisa solo los casos dudosos.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Ubuntu"/>
              </a:rPr>
              <a:t>El modelo mejora con mejores etiquetas, no solo con más árboles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224028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7043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1. Mejores etiquetas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08760"/>
            <a:ext cx="252374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Revisar a mano una muestra, pedir una segunda opinión a otro LLM o afinar la rúbrica. Es la palanca más grande: el modelo no supera el ruido de sus etiquetas.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743200" cy="224028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8" y="117043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2. Más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508760"/>
            <a:ext cx="252374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Comentarios de más videos y temas. Con 1,000 filas los intervalos de las métricas son anchos.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2743200" cy="224028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17043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3. Mejores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508760"/>
            <a:ext cx="252374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Diccionario de groserías como columna extra, bigramas, lematización con udpipe, conteo de mayúsculas o signos de exclamación.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74720"/>
            <a:ext cx="2743200" cy="224028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54787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4. Afinar hiperparámetros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886200"/>
            <a:ext cx="252374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tune_grid() con validación cruzada para penalty, mtry y min_n. Nunca afinar sobre la base de prueba.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474720"/>
            <a:ext cx="2743200" cy="224028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354787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5. Otro modelo o ensamble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3886200"/>
            <a:ext cx="252374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XGBoost, SVM o un modelo tipo BERT en español. Cambiar add_model() y comparar con las mismas métricas.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474720"/>
            <a:ext cx="2743200" cy="224028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354787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6. Mover el umbral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3886200"/>
            <a:ext cx="252374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00000"/>
                </a:solidFill>
                <a:latin typeface="Ubuntu"/>
              </a:rPr>
              <a:t>Si importa más no dejar pasar ofensas, bajar el umbral de 0.5 sube la sensibilidad a costa de la precisión.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897880"/>
            <a:ext cx="8595360" cy="457200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5971032"/>
            <a:ext cx="83759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E4C7D"/>
                </a:solidFill>
                <a:latin typeface="Ubuntu"/>
              </a:rPr>
              <a:t>Orden sugerido: etiquetas, datos, variables; los hiperparámetros al final.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Ubuntu"/>
              </a:rPr>
              <a:t>Un clasificador hereda los sesgos de quien etiqueta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251960" cy="224028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704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Lo que aprendió el bosque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08760"/>
            <a:ext cx="403250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Entre las palabras más importantes aparecen nombres y apodos políticos. El modelo asocia el tema con la ofensa, no solo el insulto. Un comentario crítico sin groserías puede quedar marcado.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097280"/>
            <a:ext cx="4251960" cy="224028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17043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Ubuntu"/>
              </a:rPr>
              <a:t>Español coloquial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508760"/>
            <a:ext cx="403250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"Wey", "pinche" o "neta" aparecen en comentarios amistosos. Un modelo entrenado con etiquetas estrictas penaliza registros informales y a quienes los usan.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74720"/>
            <a:ext cx="4251960" cy="210312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5478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Preguntas antes de usarlo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886200"/>
            <a:ext cx="403250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¿Quién definió "ofensivo" y con qué criterio?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¿Qué error cuesta más: censurar o dejar pasar?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¿Se evaluó por tema, por grupo o solo en promedio?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¿Hay revisión humana para los casos dudosos?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3474720"/>
            <a:ext cx="4251960" cy="21031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3547872"/>
            <a:ext cx="4032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Buenas prácticas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886200"/>
            <a:ext cx="403250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Documentar el prompt o la guía de anotación.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Reportar precisión y sensibilidad por subgrupo.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Mantener a una persona en el circuito de decisión.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Reentrenar cuando cambie el tema o el lenguaje.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715000"/>
            <a:ext cx="8595360" cy="548640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5788152"/>
            <a:ext cx="83759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4C7D"/>
                </a:solidFill>
                <a:latin typeface="Ubuntu"/>
              </a:rPr>
              <a:t>El modelo describe las etiquetas; no define qué es ofensivo.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29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5166360"/>
          </a:xfrm>
          <a:prstGeom prst="rect">
            <a:avLst/>
          </a:prstGeom>
          <a:solidFill>
            <a:srgbClr val="F0F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7043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4C7D"/>
                </a:solidFill>
                <a:latin typeface="Ubuntu"/>
              </a:rPr>
              <a:t>Cinco ideas para llevarse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08760"/>
            <a:ext cx="8375904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1. La matriz documento-término es el puente entre texto y modelo; es dispersa y hay que recortarla con criterio.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2. Un LLM etiqueta rápido con una rúbrica explícita, pero la etiqueta es el techo del modelo: hay que auditarla.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3. La base de prueba se aparta antes de construir el vocabulario; tidymodels lo garantiza con recetas y flujos de trabajo.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4. La exactitud engaña: la referencia era 53 %. Se reportan precisión, sensibilidad y F1 de la clase que importa.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5. Las palabras importantes revelan qué aprendió el modelo, incluidos sus sesgos. Mejorar etiquetas rinde más que afinar hiperparámetros.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8595360" cy="64008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56539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Clase 14 · Modelos de clasificación ·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32688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70432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4C7D"/>
                </a:solidFill>
                <a:latin typeface="Ubuntu"/>
              </a:rPr>
              <a:t>Hvitfeldt, E. y Silge, J. (2021). Supervised Machine Learning for Text Analysis in R. CRC Press.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08760"/>
            <a:ext cx="837590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Libro gratuito en línea: smltar.com. Capítulos 5 a 7 cubren exactamente el flujo de hoy.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21408"/>
            <a:ext cx="8595360" cy="932688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194560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4C7D"/>
                </a:solidFill>
                <a:latin typeface="Ubuntu"/>
              </a:rPr>
              <a:t>Silge, J. y Robinson, D. (2017). Text Mining with R: A Tidy Approach. O'Reilly.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532888"/>
            <a:ext cx="837590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tidytextmining.com. Capítulo 5: cast_dtm() y matrices dispersas.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145536"/>
            <a:ext cx="8595360" cy="932688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218688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4C7D"/>
                </a:solidFill>
                <a:latin typeface="Ubuntu"/>
              </a:rPr>
              <a:t>Kuhn, M. y Silge, J. (2022). Tidy Modeling with R. O'Reilly.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557016"/>
            <a:ext cx="837590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tmwr.org. Recetas, flujos de trabajo, yardstick y tune.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69664"/>
            <a:ext cx="8595360" cy="932688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4242816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4C7D"/>
                </a:solidFill>
                <a:latin typeface="Ubuntu"/>
              </a:rPr>
              <a:t>Documentación de textrecipes y ellmer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581144"/>
            <a:ext cx="837590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textrecipes.tidymodels.org; ellmer.tidyverse.org (chat_anthropic, chat_ollama).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193792"/>
            <a:ext cx="8595360" cy="932688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5266944"/>
            <a:ext cx="8375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4C7D"/>
                </a:solidFill>
                <a:latin typeface="Ubuntu"/>
              </a:rPr>
              <a:t>Código y datos de la sesión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5605272"/>
            <a:ext cx="837590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02_Codigo/Sesion_14_Clasificacion: 01_etiquetado_claude.R, 02_modelo_tidymodels.R y la carpeta 01_datos.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3200400"/>
          </a:xfrm>
          <a:prstGeom prst="rect">
            <a:avLst/>
          </a:prstGeom>
          <a:solidFill>
            <a:srgbClr val="DDE5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1" i="0">
                <a:solidFill>
                  <a:srgbClr val="1E4C7D"/>
                </a:solidFill>
                <a:latin typeface="Ubuntu"/>
              </a:rPr>
              <a:t>Gracias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937760"/>
            <a:ext cx="3657600" cy="914400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93776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Ubuntu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