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79" r:id="rId30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40180"/>
            <a:ext cx="9144000" cy="3076956"/>
          </a:xfrm>
          <a:prstGeom prst="rect">
            <a:avLst/>
          </a:prstGeom>
          <a:solidFill>
            <a:srgbClr val="DEE5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t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"/>
            <a:ext cx="3300984" cy="867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580284"/>
            <a:ext cx="8010144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0" b="1">
                <a:solidFill>
                  <a:srgbClr val="D1423F"/>
                </a:solidFill>
                <a:latin typeface="Ubuntu"/>
              </a:rPr>
              <a:t>11. Web scraping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29024"/>
            <a:ext cx="8229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C2644"/>
                </a:solidFill>
                <a:latin typeface="Ubuntu"/>
              </a:rPr>
              <a:t>Ciencia de Datos II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4497" y="4864608"/>
            <a:ext cx="52120" cy="1709928"/>
          </a:xfrm>
          <a:prstGeom prst="rect">
            <a:avLst/>
          </a:prstGeom>
          <a:solidFill>
            <a:srgbClr val="D6D5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22008" y="4890846"/>
            <a:ext cx="21031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C2644"/>
                </a:solidFill>
                <a:latin typeface="Ubuntu"/>
              </a:rPr>
              <a:t>Jorge</a:t>
            </a:r>
          </a:p>
          <a:p>
            <a:pPr algn="l"/>
            <a:r>
              <a:rPr sz="1700" b="1">
                <a:solidFill>
                  <a:srgbClr val="0C2644"/>
                </a:solidFill>
                <a:latin typeface="Ubuntu"/>
              </a:rPr>
              <a:t>Juvenal</a:t>
            </a:r>
          </a:p>
          <a:p>
            <a:pPr algn="l"/>
            <a:r>
              <a:rPr sz="1700" b="1">
                <a:solidFill>
                  <a:srgbClr val="0C2644"/>
                </a:solidFill>
                <a:latin typeface="Ubuntu"/>
              </a:rPr>
              <a:t>Campos Ferreira</a:t>
            </a:r>
          </a:p>
        </p:txBody>
      </p:sp>
      <p:pic>
        <p:nvPicPr>
          <p:cNvPr id="8" name="Picture 7" descr="icono_sob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872" y="6025896"/>
            <a:ext cx="118872" cy="73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41464" y="5967869"/>
            <a:ext cx="1920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C2644"/>
                </a:solidFill>
                <a:latin typeface="Ubuntu"/>
              </a:rPr>
              <a:t>juvenal.campos@tec.mx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797296"/>
            <a:ext cx="58521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Ubuntu"/>
              </a:rPr>
              <a:t>Cuando el dato vive en una página y nadie lo publicó en CSV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Ubuntu"/>
              </a:rPr>
              <a:t>2 de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8225027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79507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Hoy aprendemos a leer la web con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4251960" cy="19202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6276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1. HTML básico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65960"/>
            <a:ext cx="4032504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Etiquetas, atributos y selectores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CSS: el mapa de toda página.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554480"/>
            <a:ext cx="4251960" cy="19202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6276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2. rvest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965960"/>
            <a:ext cx="4032504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read_html(), html_elements(),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html_text2() y html_table().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94760"/>
            <a:ext cx="4251960" cy="19202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8679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3. Ética y legalidad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206240"/>
            <a:ext cx="4032504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robots.txt, términos de uso y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tasas de solicitud con Sys.sleep().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3794760"/>
            <a:ext cx="4251960" cy="19202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38679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4. La era de la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4206240"/>
            <a:ext cx="4032504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Agentes que navegan, bloqueos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anti-bot y licencias de contenido.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97880"/>
            <a:ext cx="8595360" cy="54864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5971032"/>
            <a:ext cx="83759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A7A3A"/>
                </a:solidFill>
                <a:latin typeface="Ubuntu"/>
              </a:rPr>
              <a:t>Además: el equipo expositor presenta 'scraping en la era de la IA'.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905256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Venimos de las fuentes ordenadas: datos abiertos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8595360" cy="1325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62763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El patrón data-raw/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65960"/>
            <a:ext cx="837590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La descarga es parte del análisis: script que baja el archivo, README con URL y fecha, limpieza aparte.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035808"/>
            <a:ext cx="8595360" cy="1325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108960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download.file() y read_csv()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447288"/>
            <a:ext cx="837590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Cuando hay URL directa a un CSV, dos funciones resuelven la ingesta completa.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517136"/>
            <a:ext cx="8595360" cy="1325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4590288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¿Y si no hay CSV?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928616"/>
            <a:ext cx="837590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Muchos datos valiosos solo existen como páginas web. Hoy aprendemos a extraerlos con respeto y con código.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905256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El scraping es el plan C: antes van datos y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8595360" cy="804671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627632"/>
            <a:ext cx="8375904" cy="24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Plan A: datos abiertos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65960"/>
            <a:ext cx="837590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Si existe el CSV oficial, se descarga y listo (clase 10). Máxima confiabilidad, mínimo esfuerzo.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14600"/>
            <a:ext cx="8595360" cy="804671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587752"/>
            <a:ext cx="8375904" cy="24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Plan B: API oficial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926080"/>
            <a:ext cx="837590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Si el sitio ofrece una API, es la vía diseñada para máquinas: estable y documentada (clase 12).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74720"/>
            <a:ext cx="8595360" cy="804672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547871"/>
            <a:ext cx="8375904" cy="24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Plan C: scraping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886199"/>
            <a:ext cx="837590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Solo cuando el dato existe únicamente como página web. Más frágil: si el sitio cambia su HTML, el script se rompe.</a:t>
            </a:r>
          </a:p>
        </p:txBody>
      </p:sp>
      <p:pic>
        <p:nvPicPr>
          <p:cNvPr id="15" name="Picture 14" descr="clase11_la_web_cobra_pea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6" y="4425696"/>
            <a:ext cx="2441448" cy="16276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6032" y="6108192"/>
            <a:ext cx="86319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  <a:latin typeface="Ubuntu"/>
              </a:rPr>
              <a:t>Imagen generada con 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905256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Toda página web es un árbol de etiquetas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pic>
        <p:nvPicPr>
          <p:cNvPr id="6" name="Picture 5" descr="arbol_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7498079" cy="436426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806440"/>
            <a:ext cx="8595360" cy="6400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5897880"/>
            <a:ext cx="83759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Para verlo en vivo: clic derecho en cualquier página, 'Inspeccionar'. Ese árbol es lo que scrapearemos.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8787384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51306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Etiquetas, atributos y clases: los ganchos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8595360" cy="16002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Anatomía de un elemento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74520"/>
            <a:ext cx="837590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&lt;a class="nota" href="https://ejemplo.mx"&gt;Leer más&lt;/a&gt;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a = etiqueta | class y href = atributos | Leer más = texto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291840"/>
            <a:ext cx="4251960" cy="26517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3649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Etiquetas frecuentes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703320"/>
            <a:ext cx="4032504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h1...h6: títulos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p: párrafos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a: enlaces (href)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table, tr, td: tablas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div, span: contenedores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img: imágenes (src)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291840"/>
            <a:ext cx="4251960" cy="265176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33649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Clases e identificadores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703320"/>
            <a:ext cx="4032504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class agrupa elementos del mismo tipo visual (muchos por página).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id identifica un elemento único.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Son los ganchos favoritos del scraping.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905256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Los selectores CSS apuntan al dato que queremos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8595360" cy="10972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Por etiqueta:  "table"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74520"/>
            <a:ext cx="83759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Todas las tablas de la página. Así se extraen tablas de Wikipedia.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79192"/>
            <a:ext cx="8595360" cy="10972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752344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Por clase:  ".archive-item-date"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090672"/>
            <a:ext cx="83759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Todos los elementos con esa clase; el punto inicial es obligatorio. El caso típico: fechas o títulos de una lista de artículos.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895344"/>
            <a:ext cx="8595360" cy="10972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968496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Por id:  "#contenido"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306824"/>
            <a:ext cx="83759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El elemento único con ese identificador; se antecede con el símbolo de gato.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111496"/>
            <a:ext cx="8595360" cy="109728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5184648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Combinados:  "div.nota a"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5522976"/>
            <a:ext cx="83759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Los enlaces que viven dentro de un div con clase nota: se leen de izquierda a derecha, de padre a hijo.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008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Ubuntu"/>
              </a:rPr>
              <a:t>El selector .archive-item-date proviene del ejercicio del curso anterior (atiempo.tv).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8974836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005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rvest: el paquete de scraping del tidyverse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42519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Qué 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74520"/>
            <a:ext cx="4032504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Paquete de R inspirado en beautifulsoup (Python), diseñado para encadenarse con %&gt;%.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Se instala una vez: install.packages("rvest").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463040"/>
            <a:ext cx="4251960" cy="237744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5361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Sus cuatro verbos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874520"/>
            <a:ext cx="4032504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read_html(): descarga el árbol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html_elements(): selecciona ramas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html_text2(): extrae el texto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html_table(): extrae tablas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8595360" cy="17373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418795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La lógica de siempre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526280"/>
            <a:ext cx="837590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Igual que con dplyr: pocas funciones que se combinan. Aprender rvest es aprender a escribir buenos selectores; el resto es el tidyverse que ya dominan.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905256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El flujo rvest: leer una vez, seleccionar, extraer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pic>
        <p:nvPicPr>
          <p:cNvPr id="6" name="Picture 5" descr="flujo_rv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0"/>
            <a:ext cx="8503920" cy="34101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074920"/>
            <a:ext cx="8595360" cy="11887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5166360"/>
            <a:ext cx="8375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read_html() se llama UNA vez y el resultado se guarda en un objeto. Probar selectores sobre ese objeto no vuelve a molestar al sitio.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905256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read_html() trae la página; html_elements() filtra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8595360" cy="21945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Descargar y seleccionar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74520"/>
            <a:ext cx="837590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library(rvest)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pagina &lt;- read_html("https://es.wikipedia.org/wiki/Nayarit")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titulos &lt;- pagina %&gt;%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  html_elements("h2")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931920"/>
            <a:ext cx="4251960" cy="20116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4C7D"/>
                </a:solidFill>
                <a:latin typeface="Ubuntu"/>
              </a:rPr>
              <a:t>html_elements() acepta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343400"/>
            <a:ext cx="403250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Selectores CSS (etiqueta, .clase, #id) y también XPath para casos rebuscados. En singular, html_element() trae solo el primero.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931920"/>
            <a:ext cx="4251960" cy="201168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7A3A"/>
                </a:solidFill>
                <a:latin typeface="Ubuntu"/>
              </a:rPr>
              <a:t>El resultado aún no es tabla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4343400"/>
            <a:ext cx="403250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Devuelve nodos del árbol. Para volverlos datos usables faltan los extractores de la siguiente diapositiva.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905256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html_text2() y html_attr() extraen texto y enlaces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8595360" cy="21945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Extraer contenido y atributos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74520"/>
            <a:ext cx="837590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titulos %&gt;% html_text2()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# "Historia" "Geografía" "Economía" ...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pagina %&gt;%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  html_elements("a") %&gt;%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  html_attr("href")   # los enlaces de la página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931920"/>
            <a:ext cx="4251960" cy="20116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4C7D"/>
                </a:solidFill>
                <a:latin typeface="Ubuntu"/>
              </a:rPr>
              <a:t>¿Por qué text2 y no text?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343400"/>
            <a:ext cx="403250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html_text2() limpia espacios y saltos de línea como los ve el navegador; html_text() entrega el texto crudo. Casi siempre conviene text2.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931920"/>
            <a:ext cx="4251960" cy="201168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7A3A"/>
                </a:solidFill>
                <a:latin typeface="Ubuntu"/>
              </a:rPr>
              <a:t>html_attr() para metadatos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4343400"/>
            <a:ext cx="403250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Los enlaces (href) y las imágenes (src) viven en atributos, no en el texto. Así se scrapean listas de artículos con su URL.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905256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html_table() convierte tablas HTML en tibbles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8595360" cy="23774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El camino corto para tablas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74520"/>
            <a:ext cx="8375904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tablas &lt;- read_html(url_wiki) %&gt;%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  html_elements("table") %&gt;%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  html_table()   # lista de tibbles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poblacion &lt;- tablas[[2]] %&gt;%    # la que nos interesa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  janitor::clean_names()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14800"/>
            <a:ext cx="8595360" cy="17373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418795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Idea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526280"/>
            <a:ext cx="837590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Si el dato ya está en una tabla HTML, html_table() hace todo el trabajo estructural: solo queda elegir la tabla correcta de la lista y limpiar nombres y tipos.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8974836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005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robots.txt es una convención, no un candado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4251960" cy="26517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Qué 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74520"/>
            <a:ext cx="4032504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Archivo público en la raíz del sitio (ejemplo.mx/robots.txt) donde el dueño declara qué rutas pueden visitar los bots y cuáles no.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Se revisa ANTES de scrapear; leerlo toma un minuto.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463040"/>
            <a:ext cx="4251960" cy="265176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5361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Qué NO 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874520"/>
            <a:ext cx="4032504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No es un mecanismo técnico ni una ley: es una convención voluntaria.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 2025 Cloudflare documentó que Perplexity accedía con rastreadores encubiertos a sitios que lo prohibían; perdió su estatus de bot verificado.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343400"/>
            <a:ext cx="8595360" cy="15544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441655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Nuestra regla en el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754880"/>
            <a:ext cx="837590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Si robots.txt o los términos de uso dicen que no, es no. La reputación (y la calificación) no se juegan por una tabla.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Ubuntu"/>
              </a:rPr>
              <a:t>Fuente: Cloudflare Blog, 4 de agosto de 2025 (consultado el 1 de agosto de 2026).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6537959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6263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El semáforo ético del scraping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pic>
        <p:nvPicPr>
          <p:cNvPr id="6" name="Picture 5" descr="semaforo_e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7680960" cy="42209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623560"/>
            <a:ext cx="8595360" cy="6858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5715000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Ante la duda: buscar la fuente alternativa o pedir permiso al sitio. Casi siempre contestan.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905256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Scrapear despacio y con identificación honesta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8595360" cy="210312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Pausas entre solicitudes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74520"/>
            <a:ext cx="837590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urls_paginas %&gt;%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  lapply(function(u) {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    Sys.sleep(2)          # dos segundos de cortesía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    read_html(u)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  })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840480"/>
            <a:ext cx="4251960" cy="21031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9136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4C7D"/>
                </a:solidFill>
                <a:latin typeface="Ubuntu"/>
              </a:rPr>
              <a:t>Por qué importa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251960"/>
            <a:ext cx="403250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Cientos de solicitudes por segundo pueden tirar un sitio chico: eso ya no es recolección, es daño. Las pausas y los horarios valle son la diferencia.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840480"/>
            <a:ext cx="4251960" cy="210312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39136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7A3A"/>
                </a:solidFill>
                <a:latin typeface="Ubuntu"/>
              </a:rPr>
              <a:t>Identificarse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4251960"/>
            <a:ext cx="403250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Un agente de usuario honesto con correo de contacto, no disfrazarse de navegador. Lección del caso hiQ-LinkedIn: lo público no es delito, pero el contrato del sitio sí obliga.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Ubuntu"/>
              </a:rPr>
              <a:t>Caso hiQ Labs v. LinkedIn (2019-2022): el acceso público no viola la CFAA; los términos de uso sí obligan.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905256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Los bots ya generan más tráfico que los humanos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pic>
        <p:nvPicPr>
          <p:cNvPr id="6" name="Picture 5" descr="rastreo_refere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7315200" cy="36127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349240"/>
            <a:ext cx="8595360" cy="9601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5440680"/>
            <a:ext cx="837590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 junio de 2026 los bots generaron 57.5% del tráfico HTML (los humanos, 42.5%). El trato implícito de la web (te rastreo y te mando visitas) se rompió: los bots de IA leen miles de páginas y regresan casi nada.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Ubuntu"/>
              </a:rPr>
              <a:t>Fuente: compilación de Digital Applied sobre Cloudflare Radar (consultada el 1 de agosto de 2026).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905256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La web responde: bloqueo por defecto y peajes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8595360" cy="13716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62763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Bloqueo por defecto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65960"/>
            <a:ext cx="83759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Desde julio de 2025 Cloudflare bloquea a los rastreadores de IA salvo permiso explícito: el modelo pasó de opt-out a opt-in, con el respaldo de más de 50 medios y plataformas.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081528"/>
            <a:ext cx="8595360" cy="13716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154680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Pago por rastreo (pay per crawl)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493008"/>
            <a:ext cx="83759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sitio cobra por solicitud usando el código HTTP 402 (Payment Required); el bot declara cuánto está dispuesto a pagar. En beta desde 2025.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608576"/>
            <a:ext cx="8595360" cy="13716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4681728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Qué significa para ustedes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020056"/>
            <a:ext cx="83759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scraping casual de sitios grandes será cada vez más difícil: más razón para preferir datos abiertos y APIs, y para scrapear solo donde son bienvenidos.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Ubuntu"/>
              </a:rPr>
              <a:t>Fuente: comunicados y blog técnico de Cloudflare, julio de 2025 (consultados el 1 de agosto de 2026).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905256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Entrenar con contenido ajeno ya se litiga y licencia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8595360" cy="13716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62763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NYT contra OpenAI y Microsoft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65960"/>
            <a:ext cx="83759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Demanda activa desde 2023 por entrenar con millones de artículos; en 2026 sigue en etapa de pruebas, sin fallo de fondo.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081528"/>
            <a:ext cx="8595360" cy="13716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154680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Acuerdo Anthropic - autores (2026)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493008"/>
            <a:ext cx="83759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1,500 millones de dólares por haber usado libros de bibliotecas piratas: el mayor acuerdo de derechos de autor en EE. UU. Entrenar con obras compradas sí fue declarado uso legítimo.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608576"/>
            <a:ext cx="8595360" cy="13716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4681728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La vía del contrato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020056"/>
            <a:ext cx="83759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AP, The Guardian, Washington Post y decenas más ya licencian su contenido a laboratorios de IA: el dato con valor se vende, no se regala.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Ubuntu"/>
              </a:rPr>
              <a:t>Fuentes: Authors Guild (20 de julio de 2026); Wikipedia (NYT v. OpenAI); Digiday 2025.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905256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El equipo expositor: scraping en la era de la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10 minutos + preguntas.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8595360" cy="20116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81051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Tema de hoy: web scraping en la nueva realidad de la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148840"/>
            <a:ext cx="837590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El equipo expositor trabaja con el documento base del curso (carpeta 13: agentes que navegan, bloqueos anti-bot, licenciamiento) y al menos una fuente propia. El resto del grupo: una pregunta por equipo.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931920"/>
            <a:ext cx="8595360" cy="14630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00507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Guía para escuchar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343400"/>
            <a:ext cx="837590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Mientras exponen, respondan en su cuaderno: si un agente de IA navega por ti, ¿quién es responsable de respetar robots.txt? ¿Cambia algo si el sitio cobra por rastreo?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905256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Ejercicio: scrapear una tabla real de Wikipedia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En parejas, 25 minutos; requiere laptop con R y rvest instalado.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71907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Instrucciones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57400"/>
            <a:ext cx="8375904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1. Elijan un artículo de Wikipedia en español con una tabla que les interese (población por estado, medallero, elecciones...).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2. Revisen es.wikipedia.org/robots.txt: ¿scrapear artículos está permitido?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3. Con read_html() + html_elements("table") + html_table(), extraigan la lista de tablas y localicen la suya.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4. Límpienla: clean_names(), tipos correctos con mutate() y un count() o summarise() que diga algo.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5. Documenten en comentarios: URL, fecha de scrapeo y número de tabla.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572000"/>
            <a:ext cx="8595360" cy="12801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64515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Entregable (fin de la clase)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983480"/>
            <a:ext cx="837590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El script .R con el flujo completo y una captura del tibble final. Se sube al hilo de Canvas de la clase 11.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5975603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570128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Conclusiones de la clase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8595360" cy="44805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62763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Lo que se llevan 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65960"/>
            <a:ext cx="8375904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1. Toda página es un árbol de etiquetas; los selectores CSS son la dirección de cada dato.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2. rvest resuelve el flujo completo: read_html() para leer, html_elements() para seleccionar, html_text2() y html_table() para extraer.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3. El scraping es el plan C: primero datos abiertos, luego APIs, al final HTML.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4. robots.txt y los términos de uso se respetan; se scrapea despacio (Sys.sleep) y con identificación honesta.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5. La era de la IA endureció la web: bloqueos por defecto, pago por rastreo y litigios millonarios. Scrapear bien es también saber cuándo no scrapear.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74320"/>
            <a:ext cx="56007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53263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Recursos para profundizar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8595360" cy="42062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645920"/>
            <a:ext cx="837590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Documentación de rvest: rvest.tidyverse.org (incluye el tutorial 'SelectorGadget' para descubrir selectores sin leer HTML).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Wickham, H., Çetinkaya-Rundel, M. y Grolemund, G.: R for Data Science (2a ed.), capítulo de web scraping (r4ds.hadley.nz).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Documento del curso (Canvas): 'Web scraping en la nueva realidad de la IA', con las 15 fuentes verificadas de esta clase.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Para explorar HTML en vivo: el inspector del navegador (clic derecho, 'Inspeccionar') y validator.w3.org.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Próxima clase: APIs con httr2, RAG y MCP; recuerden que el mini-proyecto 1 se entrega el 9 de septiembre.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004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 i="0">
                <a:solidFill>
                  <a:srgbClr val="1E4C7D"/>
                </a:solidFill>
                <a:latin typeface="Ubuntu"/>
              </a:rPr>
              <a:t>Gracias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937760"/>
            <a:ext cx="3657600" cy="9144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493776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Ubuntu"/>
              </a:rPr>
              <a:t>¿Preguntas?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05256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Las fuentes oficiales ya están publicadas, sin formato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El Estado mexicano publica miles de páginas de texto al mes. Casi nada de eso viene en tabla.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72768"/>
            <a:ext cx="4251960" cy="17373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645920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Diario de los Debates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84248"/>
            <a:ext cx="403250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Cada intervención en tribuna de ambas cámaras. Se publica por sesión, en HTML y en PDF, con un formato que cambia según la legislatura.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572768"/>
            <a:ext cx="4251960" cy="17373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645920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Versiones estenográficas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984248"/>
            <a:ext cx="403250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La transcripción literal de las conferencias de Presidencia y de las comparecencias. Es texto corrido: no hay campos, solo quién habla y qué dijo.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38144"/>
            <a:ext cx="4251960" cy="17373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511296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Organismos autónomos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849624"/>
            <a:ext cx="403250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Acuerdos del INE, resoluciones del INAI, minutas del Banco de México. HTML con tablas irregulares y anexos en PDF.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3438144"/>
            <a:ext cx="4251960" cy="17373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3511296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Poder judicial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849624"/>
            <a:ext cx="403250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Sentencias y comunicados de la Suprema Corte. Buena parte del PDF viene escaneado, así que antes de raspar hay que reconocer el texto.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431536"/>
            <a:ext cx="8595360" cy="749808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5522976"/>
            <a:ext cx="8375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Ninguna de estas fuentes ofrece una API. Para el análisis político, el raspado no es un atajo: casi siempre es la única puerta.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CD II - Clase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